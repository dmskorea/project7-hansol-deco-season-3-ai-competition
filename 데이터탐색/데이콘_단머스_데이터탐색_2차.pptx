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25"/>
  </p:notesMasterIdLst>
  <p:handoutMasterIdLst>
    <p:handoutMasterId r:id="rId26"/>
  </p:handoutMasterIdLst>
  <p:sldIdLst>
    <p:sldId id="301" r:id="rId7"/>
    <p:sldId id="379" r:id="rId8"/>
    <p:sldId id="337" r:id="rId9"/>
    <p:sldId id="374" r:id="rId10"/>
    <p:sldId id="375" r:id="rId11"/>
    <p:sldId id="377" r:id="rId12"/>
    <p:sldId id="376" r:id="rId13"/>
    <p:sldId id="378" r:id="rId14"/>
    <p:sldId id="384" r:id="rId15"/>
    <p:sldId id="380" r:id="rId16"/>
    <p:sldId id="385" r:id="rId17"/>
    <p:sldId id="372" r:id="rId18"/>
    <p:sldId id="381" r:id="rId19"/>
    <p:sldId id="366" r:id="rId20"/>
    <p:sldId id="368" r:id="rId21"/>
    <p:sldId id="369" r:id="rId22"/>
    <p:sldId id="370" r:id="rId23"/>
    <p:sldId id="382" r:id="rId24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1026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172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70" y="102"/>
      </p:cViewPr>
      <p:guideLst>
        <p:guide orient="horz" pos="2115"/>
        <p:guide orient="horz" pos="73"/>
        <p:guide orient="horz" pos="3974"/>
        <p:guide orient="horz" pos="1026"/>
        <p:guide orient="horz" pos="346"/>
        <p:guide orient="horz" pos="1162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탐색</a:t>
            </a:r>
            <a:r>
              <a:rPr lang="en-US" altLang="ko-KR" dirty="0" smtClean="0"/>
              <a:t>2</a:t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ko-KR" altLang="en-US" dirty="0" smtClean="0"/>
              <a:t>오차 분석</a:t>
            </a:r>
            <a:r>
              <a:rPr lang="en-US" altLang="ko-KR" dirty="0" smtClean="0"/>
              <a:t>)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2025.02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016896" y="2165945"/>
            <a:ext cx="5040560" cy="2768551"/>
          </a:xfrm>
        </p:spPr>
        <p:txBody>
          <a:bodyPr/>
          <a:lstStyle/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예측모델 성능 </a:t>
            </a:r>
            <a:r>
              <a:rPr lang="ko-KR" altLang="en-US" sz="1600" dirty="0"/>
              <a:t>진단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err="1"/>
              <a:t>케이스별</a:t>
            </a:r>
            <a:r>
              <a:rPr lang="ko-KR" altLang="en-US" sz="1600" dirty="0"/>
              <a:t> 유사도 점수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err="1" smtClean="0"/>
              <a:t>정답지의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길이가 점수 영향도 </a:t>
            </a:r>
            <a:r>
              <a:rPr lang="ko-KR" altLang="en-US" sz="1600" dirty="0" smtClean="0"/>
              <a:t>테스트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err="1"/>
              <a:t>맺은말</a:t>
            </a:r>
            <a:r>
              <a:rPr lang="en-US" altLang="ko-KR" sz="1600" dirty="0"/>
              <a:t>/</a:t>
            </a:r>
            <a:r>
              <a:rPr lang="ko-KR" altLang="en-US" sz="1600" dirty="0"/>
              <a:t>어투 영향도 테스트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관련 없는 </a:t>
            </a:r>
            <a:r>
              <a:rPr lang="ko-KR" altLang="en-US" sz="1600" dirty="0"/>
              <a:t>단어가 들어가는 경우 </a:t>
            </a:r>
            <a:r>
              <a:rPr lang="ko-KR" altLang="en-US" sz="1600" dirty="0" smtClean="0"/>
              <a:t>영향도 </a:t>
            </a:r>
            <a:r>
              <a:rPr lang="ko-KR" altLang="en-US" sz="1600" dirty="0"/>
              <a:t>테스트</a:t>
            </a:r>
            <a:r>
              <a:rPr lang="ko-KR" altLang="en-US" sz="1600" dirty="0" smtClean="0"/>
              <a:t>  </a:t>
            </a: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사고원인</a:t>
            </a:r>
            <a:r>
              <a:rPr lang="en-US" altLang="ko-KR" sz="1600" dirty="0"/>
              <a:t>(</a:t>
            </a:r>
            <a:r>
              <a:rPr lang="ko-KR" altLang="en-US" sz="1600" dirty="0"/>
              <a:t>보정</a:t>
            </a:r>
            <a:r>
              <a:rPr lang="en-US" altLang="ko-KR" sz="1600" dirty="0"/>
              <a:t>)</a:t>
            </a:r>
            <a:r>
              <a:rPr lang="ko-KR" altLang="en-US" sz="1600" dirty="0"/>
              <a:t>별 가장 높은 점수의 재발방지대책 스크립트 찾기 </a:t>
            </a: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예측모델</a:t>
            </a:r>
            <a:r>
              <a:rPr lang="en-US" altLang="ko-KR" dirty="0" smtClean="0"/>
              <a:t>(</a:t>
            </a:r>
            <a:r>
              <a:rPr lang="ko-KR" altLang="en-US" dirty="0" smtClean="0"/>
              <a:t>평균점수</a:t>
            </a:r>
            <a:r>
              <a:rPr lang="en-US" altLang="ko-KR" dirty="0" smtClean="0"/>
              <a:t>0.448)</a:t>
            </a:r>
            <a:r>
              <a:rPr lang="ko-KR" altLang="en-US" dirty="0" smtClean="0"/>
              <a:t> 성능 진단 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안전교육 실시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점검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 방지 대책 마련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이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일반적인 답변 반복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몇몇 케이스에서 이동통로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이중 결속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보호구 착용 등의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특수한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를 언급하고 있지만 대부분 오답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특별한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돌풍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절단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미흡 등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 나오면 어떻게 대답하라라는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지시사항이 필요해 보임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b="0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919258"/>
            <a:ext cx="7245382" cy="4389354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/>
        </p:nvSpPr>
        <p:spPr>
          <a:xfrm>
            <a:off x="6177136" y="2924944"/>
            <a:ext cx="2952328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점수가 낮기 때문에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성능 개선 여지 높음 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케이스별</a:t>
            </a:r>
            <a:r>
              <a:rPr lang="ko-KR" altLang="en-US" dirty="0" smtClean="0"/>
              <a:t> 유사도 점수 분석 </a:t>
            </a:r>
            <a:r>
              <a:rPr lang="en-US" altLang="ko-KR" dirty="0" smtClean="0"/>
              <a:t>(1/)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유사도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36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점은 두 문장이 의미상 서로 완전히 다른 의미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 전혀 하지 못한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FF0000"/>
                </a:solidFill>
              </a:rPr>
              <a:t>고속절단기</a:t>
            </a:r>
            <a:r>
              <a:rPr lang="ko-KR" altLang="en-US" sz="1200" dirty="0">
                <a:solidFill>
                  <a:schemeClr val="tx1"/>
                </a:solidFill>
              </a:rPr>
              <a:t> 날의 회전이 완전히 멈춘 후 </a:t>
            </a:r>
            <a:r>
              <a:rPr lang="ko-KR" altLang="en-US" sz="1200" dirty="0">
                <a:solidFill>
                  <a:srgbClr val="FF0000"/>
                </a:solidFill>
              </a:rPr>
              <a:t>목재</a:t>
            </a:r>
            <a:r>
              <a:rPr lang="ko-KR" altLang="en-US" sz="1200" dirty="0">
                <a:solidFill>
                  <a:schemeClr val="tx1"/>
                </a:solidFill>
              </a:rPr>
              <a:t>를 제거할 수 있도록 하는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이동통로</a:t>
            </a:r>
            <a:r>
              <a:rPr lang="ko-KR" altLang="en-US" sz="1200" dirty="0">
                <a:solidFill>
                  <a:schemeClr val="tx1"/>
                </a:solidFill>
              </a:rPr>
              <a:t> 확보 관리와 작업 전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 및 정기적 근로자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시행을 통한 재발 방지 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465168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457056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endCxn id="10" idx="4"/>
          </p:cNvCxnSpPr>
          <p:nvPr/>
        </p:nvCxnSpPr>
        <p:spPr>
          <a:xfrm rot="5400000" flipH="1" flipV="1">
            <a:off x="5601072" y="2924944"/>
            <a:ext cx="1440160" cy="10081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36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46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(2/)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너무 많은 정보를 추가로 제공해도 마이너스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철저와 작업중 위험요인 파악 및 제거를 통한 재발 방지 대책 및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232635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stCxn id="12" idx="0"/>
            <a:endCxn id="10" idx="4"/>
          </p:cNvCxnSpPr>
          <p:nvPr/>
        </p:nvCxnSpPr>
        <p:spPr>
          <a:xfrm rot="5400000" flipH="1" flipV="1">
            <a:off x="2828621" y="2385027"/>
            <a:ext cx="1440160" cy="208794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2144688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53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17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(3/)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dirty="0" smtClean="0">
                <a:solidFill>
                  <a:srgbClr val="7030A0"/>
                </a:solidFill>
              </a:rPr>
              <a:t>필수 단어만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예측값에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포함되어 있어도 고득점 가능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작업자 근로자 </a:t>
            </a:r>
            <a:r>
              <a:rPr lang="ko-KR" altLang="en-US" sz="1200" dirty="0" smtClean="0">
                <a:solidFill>
                  <a:srgbClr val="FF0000"/>
                </a:solidFill>
              </a:rPr>
              <a:t>이동통로</a:t>
            </a:r>
            <a:r>
              <a:rPr lang="ko-KR" altLang="en-US" sz="1200" dirty="0" smtClean="0">
                <a:solidFill>
                  <a:schemeClr val="tx1"/>
                </a:solidFill>
              </a:rPr>
              <a:t> 에서 </a:t>
            </a:r>
            <a:r>
              <a:rPr lang="ko-KR" altLang="en-US" sz="1200" dirty="0" err="1">
                <a:solidFill>
                  <a:schemeClr val="tx1"/>
                </a:solidFill>
              </a:rPr>
              <a:t>이동방법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교육</a:t>
            </a:r>
            <a:r>
              <a:rPr lang="ko-KR" altLang="en-US" sz="1200" dirty="0">
                <a:solidFill>
                  <a:schemeClr val="tx1"/>
                </a:solidFill>
              </a:rPr>
              <a:t>과 </a:t>
            </a:r>
            <a:r>
              <a:rPr lang="ko-KR" altLang="en-US" sz="1200" dirty="0">
                <a:solidFill>
                  <a:schemeClr val="accent4"/>
                </a:solidFill>
              </a:rPr>
              <a:t>안전</a:t>
            </a:r>
            <a:r>
              <a:rPr lang="ko-KR" altLang="en-US" sz="1200" dirty="0">
                <a:solidFill>
                  <a:schemeClr val="tx1"/>
                </a:solidFill>
              </a:rPr>
              <a:t>관리 철저 지시를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 마련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작업자 </a:t>
            </a:r>
            <a:r>
              <a:rPr lang="ko-KR" altLang="en-US" sz="1200" dirty="0">
                <a:solidFill>
                  <a:schemeClr val="accent4"/>
                </a:solidFill>
              </a:rPr>
              <a:t>안전교육 </a:t>
            </a:r>
            <a:r>
              <a:rPr lang="ko-KR" altLang="en-US" sz="1200" dirty="0">
                <a:solidFill>
                  <a:schemeClr val="tx1"/>
                </a:solidFill>
              </a:rPr>
              <a:t>강화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안전수칙 준수 특별안전교육 실시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작업지휘자</a:t>
            </a:r>
            <a:r>
              <a:rPr lang="ko-KR" altLang="en-US" sz="1200" dirty="0">
                <a:solidFill>
                  <a:schemeClr val="tx1"/>
                </a:solidFill>
              </a:rPr>
              <a:t> 관리감독 철저에 대한</a:t>
            </a:r>
            <a:r>
              <a:rPr lang="ko-KR" altLang="en-US" sz="1200" dirty="0">
                <a:solidFill>
                  <a:schemeClr val="accent4"/>
                </a:solidFill>
              </a:rPr>
              <a:t> 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대책과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77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이등변 삼각형 3"/>
          <p:cNvSpPr/>
          <p:nvPr/>
        </p:nvSpPr>
        <p:spPr>
          <a:xfrm>
            <a:off x="4056952" y="1852280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>
            <a:off x="1394395" y="3504736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구부러진 연결선 14"/>
          <p:cNvCxnSpPr>
            <a:stCxn id="16" idx="5"/>
            <a:endCxn id="2" idx="2"/>
          </p:cNvCxnSpPr>
          <p:nvPr/>
        </p:nvCxnSpPr>
        <p:spPr>
          <a:xfrm flipV="1">
            <a:off x="2282455" y="2852936"/>
            <a:ext cx="2490525" cy="11521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8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(4/)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일반적인 케이스의 재발방지대책 스크립트는 유사도 점수가 높음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412940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74315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83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121352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529064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145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정답지의</a:t>
            </a:r>
            <a:r>
              <a:rPr lang="ko-KR" altLang="en-US" dirty="0"/>
              <a:t> 길이가 점수 영향도 테스트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err="1"/>
              <a:t>핵심단어는</a:t>
            </a:r>
            <a:r>
              <a:rPr lang="ko-KR" altLang="en-US" b="0" dirty="0"/>
              <a:t> 모두 들어가 있는데 </a:t>
            </a:r>
            <a:r>
              <a:rPr lang="ko-KR" altLang="en-US" b="0" dirty="0" err="1"/>
              <a:t>문장길이에</a:t>
            </a:r>
            <a:r>
              <a:rPr lang="ko-KR" altLang="en-US" b="0" dirty="0"/>
              <a:t> 따라서 </a:t>
            </a:r>
            <a:r>
              <a:rPr lang="ko-KR" altLang="en-US" b="0" dirty="0" smtClean="0"/>
              <a:t>점수가 </a:t>
            </a:r>
            <a:r>
              <a:rPr lang="ko-KR" altLang="en-US" b="0" dirty="0" smtClean="0"/>
              <a:t>달라짐을 확인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26515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0512" y="22716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 (74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60512" y="3672773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0512" y="3292888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60512" y="467809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0512" y="4298209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5734942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철저한 현장 안전 조치와 실효성 있는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시행하여 사고를 예방하고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en-US" altLang="ko-KR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재발방지를 </a:t>
            </a:r>
            <a:r>
              <a:rPr lang="ko-KR" altLang="en-US" sz="1200" dirty="0">
                <a:solidFill>
                  <a:schemeClr val="tx1"/>
                </a:solidFill>
              </a:rPr>
              <a:t>위한 지속적인 관리 체계를 구축한다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0512" y="5337756"/>
            <a:ext cx="1838965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 (100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193360" y="2615842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83</a:t>
            </a:r>
            <a:r>
              <a:rPr lang="ko-KR" altLang="en-US" dirty="0">
                <a:solidFill>
                  <a:schemeClr val="tx1"/>
                </a:solidFill>
              </a:rPr>
              <a:t>점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8193360" y="365733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193360" y="468860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193360" y="5719715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76.84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05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맺은말</a:t>
            </a:r>
            <a:r>
              <a:rPr lang="en-US" altLang="ko-KR" dirty="0"/>
              <a:t>/</a:t>
            </a:r>
            <a:r>
              <a:rPr lang="ko-KR" altLang="en-US" dirty="0"/>
              <a:t>어투 영향도 테스트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</a:t>
            </a:r>
            <a:r>
              <a:rPr lang="ko-KR" altLang="en-US" b="0" dirty="0" smtClean="0">
                <a:solidFill>
                  <a:srgbClr val="FF0000"/>
                </a:solidFill>
              </a:rPr>
              <a:t>마이너스 영향 있음 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재발방지합니다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</a:t>
            </a:r>
            <a:r>
              <a:rPr lang="ko-KR" altLang="en-US" sz="1200" dirty="0" err="1">
                <a:solidFill>
                  <a:schemeClr val="accent4"/>
                </a:solidFill>
              </a:rPr>
              <a:t>합니다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92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6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없는 단어가 들어가는 경우 </a:t>
            </a:r>
            <a:r>
              <a:rPr lang="ko-KR" altLang="en-US" dirty="0" smtClean="0"/>
              <a:t>영향도 테스트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err="1" smtClean="0"/>
              <a:t>관련없는</a:t>
            </a:r>
            <a:r>
              <a:rPr lang="ko-KR" altLang="en-US" b="0" dirty="0" smtClean="0"/>
              <a:t> 단어가 들어가면 점수에 </a:t>
            </a:r>
            <a:r>
              <a:rPr lang="ko-KR" altLang="en-US" b="0" dirty="0" smtClean="0">
                <a:solidFill>
                  <a:srgbClr val="FF0000"/>
                </a:solidFill>
              </a:rPr>
              <a:t>마이너스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돌풍으로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 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작업자 미숙으로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71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81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64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42863"/>
          </a:xfrm>
        </p:spPr>
        <p:txBody>
          <a:bodyPr/>
          <a:lstStyle/>
          <a:p>
            <a:r>
              <a:rPr lang="ko-KR" altLang="en-US" dirty="0" smtClean="0"/>
              <a:t>종합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72480" y="1124744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사고원인으로만 예측 불가능한 케이스 존재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72480" y="2708920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TRAIN, TEST </a:t>
            </a:r>
            <a:r>
              <a:rPr lang="ko-KR" altLang="en-US" dirty="0" smtClean="0">
                <a:solidFill>
                  <a:schemeClr val="tx1"/>
                </a:solidFill>
              </a:rPr>
              <a:t>데이터 분포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카테고리 변수 빈도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</a:rPr>
              <a:t> 다름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2480" y="3501008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TEST</a:t>
            </a:r>
            <a:r>
              <a:rPr lang="ko-KR" altLang="en-US" dirty="0" smtClean="0">
                <a:solidFill>
                  <a:schemeClr val="tx1"/>
                </a:solidFill>
              </a:rPr>
              <a:t>는 랜덤 </a:t>
            </a:r>
            <a:r>
              <a:rPr lang="ko-KR" altLang="en-US" dirty="0" err="1" smtClean="0">
                <a:solidFill>
                  <a:schemeClr val="tx1"/>
                </a:solidFill>
              </a:rPr>
              <a:t>층화</a:t>
            </a:r>
            <a:r>
              <a:rPr lang="ko-KR" altLang="en-US" dirty="0" smtClean="0">
                <a:solidFill>
                  <a:schemeClr val="tx1"/>
                </a:solidFill>
              </a:rPr>
              <a:t> 샘플링으로 추출된 </a:t>
            </a:r>
            <a:r>
              <a:rPr lang="ko-KR" altLang="en-US" dirty="0" err="1" smtClean="0">
                <a:solidFill>
                  <a:schemeClr val="tx1"/>
                </a:solidFill>
              </a:rPr>
              <a:t>데이터셋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72480" y="429309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답변 길이 점수에 영향도 있음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72480" y="508009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습니다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합니다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</a:rPr>
              <a:t>로 </a:t>
            </a:r>
            <a:r>
              <a:rPr lang="ko-KR" altLang="en-US" dirty="0" err="1" smtClean="0">
                <a:solidFill>
                  <a:schemeClr val="tx1"/>
                </a:solidFill>
              </a:rPr>
              <a:t>맺은말은</a:t>
            </a:r>
            <a:r>
              <a:rPr lang="ko-KR" altLang="en-US" dirty="0" smtClean="0">
                <a:solidFill>
                  <a:schemeClr val="tx1"/>
                </a:solidFill>
              </a:rPr>
              <a:t> 점수에 마이너스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272480" y="190665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데이터가 이상해서 예측이 불가능한 케이스도 존재 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최빈값으로</a:t>
            </a:r>
            <a:r>
              <a:rPr lang="ko-KR" altLang="en-US" dirty="0" smtClean="0">
                <a:solidFill>
                  <a:schemeClr val="tx1"/>
                </a:solidFill>
                <a:sym typeface="Wingdings" panose="05000000000000000000" pitchFamily="2" charset="2"/>
              </a:rPr>
              <a:t> 대체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3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3152800" y="3356992"/>
            <a:ext cx="374441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40893" y="2628201"/>
            <a:ext cx="336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탐색</a:t>
            </a:r>
            <a:r>
              <a:rPr lang="en-US" altLang="ko-KR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3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자료</a:t>
            </a:r>
            <a:endParaRPr lang="ko-KR" altLang="en-US" sz="3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2805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(1/5)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재발방지대책에 수립되면서 과거 사고유형은 </a:t>
            </a:r>
            <a:r>
              <a:rPr lang="ko-KR" altLang="en-US" dirty="0" smtClean="0">
                <a:solidFill>
                  <a:srgbClr val="7030A0"/>
                </a:solidFill>
              </a:rPr>
              <a:t>시간이 지나면서 감소하는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경향을 보일 수 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또는 과거에는 발생 빈도가 낮았던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사고유형이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rgbClr val="7030A0"/>
                </a:solidFill>
              </a:rPr>
              <a:t>최근에 새롭게 증가할 </a:t>
            </a:r>
            <a:r>
              <a:rPr lang="ko-KR" altLang="en-US" dirty="0">
                <a:solidFill>
                  <a:srgbClr val="7030A0"/>
                </a:solidFill>
              </a:rPr>
              <a:t>수</a:t>
            </a:r>
            <a:r>
              <a:rPr lang="ko-KR" altLang="en-US" dirty="0" smtClean="0">
                <a:solidFill>
                  <a:srgbClr val="7030A0"/>
                </a:solidFill>
              </a:rPr>
              <a:t>도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ym typeface="Wingdings" panose="05000000000000000000" pitchFamily="2" charset="2"/>
              </a:rPr>
              <a:t>본 데이터탐색을 통해</a:t>
            </a:r>
            <a:r>
              <a:rPr lang="en-US" altLang="ko-KR" b="0" dirty="0" smtClean="0">
                <a:sym typeface="Wingdings" panose="05000000000000000000" pitchFamily="2" charset="2"/>
              </a:rPr>
              <a:t> </a:t>
            </a:r>
            <a:r>
              <a:rPr lang="ko-KR" altLang="en-US" b="0" dirty="0" smtClean="0"/>
              <a:t>사고유형별 </a:t>
            </a:r>
            <a:r>
              <a:rPr lang="ko-KR" altLang="en-US" b="0" dirty="0" err="1" smtClean="0"/>
              <a:t>시계열</a:t>
            </a:r>
            <a:r>
              <a:rPr lang="ko-KR" altLang="en-US" b="0" dirty="0" smtClean="0"/>
              <a:t> 분석을 통해서 </a:t>
            </a:r>
            <a:r>
              <a:rPr lang="ko-KR" altLang="en-US" dirty="0" smtClean="0">
                <a:solidFill>
                  <a:srgbClr val="7030A0"/>
                </a:solidFill>
              </a:rPr>
              <a:t>최신 사고유형 </a:t>
            </a:r>
            <a:r>
              <a:rPr lang="ko-KR" altLang="en-US" dirty="0" err="1" smtClean="0">
                <a:solidFill>
                  <a:srgbClr val="7030A0"/>
                </a:solidFill>
              </a:rPr>
              <a:t>트랜드</a:t>
            </a:r>
            <a:r>
              <a:rPr lang="ko-KR" altLang="en-US" b="0" dirty="0" err="1" smtClean="0"/>
              <a:t>를</a:t>
            </a:r>
            <a:r>
              <a:rPr lang="ko-KR" altLang="en-US" b="0" dirty="0" smtClean="0"/>
              <a:t> 파악합니다</a:t>
            </a:r>
            <a:r>
              <a:rPr lang="en-US" altLang="ko-KR" b="0" dirty="0" smtClean="0"/>
              <a:t>.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유형별 건수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940330" y="1950414"/>
              <a:ext cx="4481310" cy="42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72000" rtlCol="0" anchor="t"/>
            <a:lstStyle/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유형 중 가장 발생빈도가 높은 사고유형은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b="1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200" b="1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 [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  <a:r>
                <a:rPr lang="en-US" altLang="ko-KR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미끄러져서 넘어지는 유형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기타로 넘어지는 유형을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분리해서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데이터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관리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중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넘어짐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미끄러짐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유형을 모두 합치면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발생빈도가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가장 많은 </a:t>
              </a:r>
              <a:r>
                <a:rPr lang="ko-KR" altLang="en-US" sz="1200" b="1" spc="-50" dirty="0" err="1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인적사고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유형이 됨  </a:t>
              </a: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2_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05" y="2341282"/>
            <a:ext cx="4242808" cy="397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28059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7666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19050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94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(2/5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사고유형은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2019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과거에는 사고 발생빈도가 </a:t>
            </a:r>
            <a:r>
              <a:rPr lang="ko-KR" altLang="en-US" dirty="0" smtClean="0">
                <a:solidFill>
                  <a:srgbClr val="7030A0"/>
                </a:solidFill>
              </a:rPr>
              <a:t>월 </a:t>
            </a:r>
            <a:r>
              <a:rPr lang="en-US" altLang="ko-KR" dirty="0" smtClean="0">
                <a:solidFill>
                  <a:srgbClr val="7030A0"/>
                </a:solidFill>
              </a:rPr>
              <a:t>100</a:t>
            </a:r>
            <a:r>
              <a:rPr lang="ko-KR" altLang="en-US" dirty="0" smtClean="0">
                <a:solidFill>
                  <a:srgbClr val="7030A0"/>
                </a:solidFill>
              </a:rPr>
              <a:t>건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정도 발생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전체 사고유형 중 </a:t>
            </a:r>
            <a:r>
              <a:rPr lang="ko-KR" altLang="en-US" dirty="0" smtClean="0">
                <a:solidFill>
                  <a:srgbClr val="7030A0"/>
                </a:solidFill>
              </a:rPr>
              <a:t>순위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번째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08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월을 이후로는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사고빈도가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건인 </a:t>
            </a:r>
            <a:r>
              <a:rPr lang="ko-KR" altLang="en-US" dirty="0" smtClean="0">
                <a:solidFill>
                  <a:srgbClr val="7030A0"/>
                </a:solidFill>
              </a:rPr>
              <a:t>기존 </a:t>
            </a:r>
            <a:r>
              <a:rPr lang="en-US" altLang="ko-KR" dirty="0" smtClean="0">
                <a:solidFill>
                  <a:srgbClr val="7030A0"/>
                </a:solidFill>
              </a:rPr>
              <a:t>’19</a:t>
            </a:r>
            <a:r>
              <a:rPr lang="ko-KR" altLang="en-US" dirty="0" smtClean="0">
                <a:solidFill>
                  <a:srgbClr val="7030A0"/>
                </a:solidFill>
              </a:rPr>
              <a:t>년 </a:t>
            </a:r>
            <a:r>
              <a:rPr lang="en-US" altLang="ko-KR" dirty="0" smtClean="0">
                <a:solidFill>
                  <a:srgbClr val="7030A0"/>
                </a:solidFill>
              </a:rPr>
              <a:t>7</a:t>
            </a:r>
            <a:r>
              <a:rPr lang="ko-KR" altLang="en-US" dirty="0" smtClean="0">
                <a:solidFill>
                  <a:srgbClr val="7030A0"/>
                </a:solidFill>
              </a:rPr>
              <a:t>월 대비 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배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이상 증가하였음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최근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월에는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건으로 </a:t>
            </a:r>
            <a:r>
              <a:rPr lang="ko-KR" altLang="en-US" dirty="0" smtClean="0">
                <a:solidFill>
                  <a:srgbClr val="7030A0"/>
                </a:solidFill>
              </a:rPr>
              <a:t>월 최고 건수를 갱신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함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4_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2379864"/>
            <a:ext cx="8674729" cy="38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연결선 7"/>
          <p:cNvCxnSpPr/>
          <p:nvPr/>
        </p:nvCxnSpPr>
        <p:spPr>
          <a:xfrm>
            <a:off x="2360712" y="2636912"/>
            <a:ext cx="0" cy="30243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5313040" y="2564904"/>
            <a:ext cx="576064" cy="432048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360712" y="2852936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‘20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9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이후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1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전 대비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3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배 증가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41190" y="2996952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</a:t>
            </a:r>
            <a:r>
              <a:rPr lang="ko-KR" altLang="en-US" sz="1200" b="1" dirty="0" err="1" smtClean="0">
                <a:solidFill>
                  <a:srgbClr val="7030A0"/>
                </a:solidFill>
                <a:latin typeface="+mn-ea"/>
                <a:ea typeface="+mn-ea"/>
              </a:rPr>
              <a:t>최고건수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 갱신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360712" y="3429000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5889104" y="2852936"/>
            <a:ext cx="216024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47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(3/5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물체에 걸림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</a:t>
            </a:r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다른 패턴 보임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2" y="2396237"/>
            <a:ext cx="8546174" cy="391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/>
          <p:cNvCxnSpPr/>
          <p:nvPr/>
        </p:nvCxnSpPr>
        <p:spPr>
          <a:xfrm>
            <a:off x="2295037" y="2850749"/>
            <a:ext cx="648072" cy="1656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6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(4/5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기타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와 다른 패턴 보임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동일한 패턴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88" y="2344122"/>
            <a:ext cx="9001000" cy="39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784648" y="3140968"/>
            <a:ext cx="2880320" cy="13681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568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(5/5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패턴 변화 없이 꾸준하게 사고 발생 중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끼임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3074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15" y="2324230"/>
            <a:ext cx="8732565" cy="401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640632" y="3212976"/>
            <a:ext cx="3672408" cy="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481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카테고리 변수 중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TRAIN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에만 있는 속성값이 존재 </a:t>
            </a:r>
            <a:endParaRPr lang="en-US" altLang="ko-KR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78" y="1412776"/>
            <a:ext cx="905487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90347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19776</TotalTime>
  <Words>955</Words>
  <Application>Microsoft Office PowerPoint</Application>
  <PresentationFormat>A4 용지(210x297mm)</PresentationFormat>
  <Paragraphs>146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18</vt:i4>
      </vt:variant>
    </vt:vector>
  </HeadingPairs>
  <TitlesOfParts>
    <vt:vector size="34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탐색2 (오차 분석)</vt:lpstr>
      <vt:lpstr>목차</vt:lpstr>
      <vt:lpstr>예측모델(평균점수0.448) 성능 진단  </vt:lpstr>
      <vt:lpstr>케이스별 유사도 점수 분석 (1/)</vt:lpstr>
      <vt:lpstr>케이스별 유사도 점수 분석 (2/)</vt:lpstr>
      <vt:lpstr>케이스별 유사도 점수 분석 (3/)</vt:lpstr>
      <vt:lpstr>케이스별 유사도 점수 분석 (4/)</vt:lpstr>
      <vt:lpstr>정답지의 길이가 점수 영향도 테스트</vt:lpstr>
      <vt:lpstr>맺은말/어투 영향도 테스트 </vt:lpstr>
      <vt:lpstr>관련 없는 단어가 들어가는 경우 영향도 테스트 </vt:lpstr>
      <vt:lpstr>종합</vt:lpstr>
      <vt:lpstr>PowerPoint 프레젠테이션</vt:lpstr>
      <vt:lpstr>데이터 탐색 및 인사이트 도출 (1/5)</vt:lpstr>
      <vt:lpstr>데이터 탐색 및 인사이트 도출 (2/5)</vt:lpstr>
      <vt:lpstr>데이터 탐색 및 인사이트 도출 (3/5)</vt:lpstr>
      <vt:lpstr>데이터 탐색 및 인사이트 도출 (4/5)</vt:lpstr>
      <vt:lpstr>데이터 탐색 및 인사이트 도출 (5/5)</vt:lpstr>
      <vt:lpstr>데이터 탐색 및 인사이트 도출 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910</cp:revision>
  <dcterms:created xsi:type="dcterms:W3CDTF">2007-08-16T05:20:03Z</dcterms:created>
  <dcterms:modified xsi:type="dcterms:W3CDTF">2025-03-03T07:03:35Z</dcterms:modified>
</cp:coreProperties>
</file>