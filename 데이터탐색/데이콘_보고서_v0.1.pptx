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40"/>
  </p:notesMasterIdLst>
  <p:handoutMasterIdLst>
    <p:handoutMasterId r:id="rId41"/>
  </p:handoutMasterIdLst>
  <p:sldIdLst>
    <p:sldId id="301" r:id="rId7"/>
    <p:sldId id="300" r:id="rId8"/>
    <p:sldId id="302" r:id="rId9"/>
    <p:sldId id="314" r:id="rId10"/>
    <p:sldId id="362" r:id="rId11"/>
    <p:sldId id="380" r:id="rId12"/>
    <p:sldId id="374" r:id="rId13"/>
    <p:sldId id="375" r:id="rId14"/>
    <p:sldId id="376" r:id="rId15"/>
    <p:sldId id="377" r:id="rId16"/>
    <p:sldId id="378" r:id="rId17"/>
    <p:sldId id="379" r:id="rId18"/>
    <p:sldId id="345" r:id="rId19"/>
    <p:sldId id="382" r:id="rId20"/>
    <p:sldId id="396" r:id="rId21"/>
    <p:sldId id="394" r:id="rId22"/>
    <p:sldId id="398" r:id="rId23"/>
    <p:sldId id="381" r:id="rId24"/>
    <p:sldId id="383" r:id="rId25"/>
    <p:sldId id="384" r:id="rId26"/>
    <p:sldId id="385" r:id="rId27"/>
    <p:sldId id="386" r:id="rId28"/>
    <p:sldId id="387" r:id="rId29"/>
    <p:sldId id="390" r:id="rId30"/>
    <p:sldId id="389" r:id="rId31"/>
    <p:sldId id="397" r:id="rId32"/>
    <p:sldId id="393" r:id="rId33"/>
    <p:sldId id="392" r:id="rId34"/>
    <p:sldId id="372" r:id="rId35"/>
    <p:sldId id="395" r:id="rId36"/>
    <p:sldId id="364" r:id="rId37"/>
    <p:sldId id="363" r:id="rId38"/>
    <p:sldId id="365" r:id="rId39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1026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172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CDACE6"/>
    <a:srgbClr val="FF7C80"/>
    <a:srgbClr val="FF0066"/>
    <a:srgbClr val="FF5050"/>
    <a:srgbClr val="FFCCCC"/>
    <a:srgbClr val="FFFFFF"/>
    <a:srgbClr val="FF9999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2064" y="102"/>
      </p:cViewPr>
      <p:guideLst>
        <p:guide orient="horz" pos="2115"/>
        <p:guide orient="horz" pos="73"/>
        <p:guide orient="horz" pos="3974"/>
        <p:guide orient="horz" pos="1026"/>
        <p:guide orient="horz" pos="346"/>
        <p:guide orient="horz" pos="1162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41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Sheet1!$D$8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Sheet1!$C$9:$C$13</c:f>
              <c:numCache>
                <c:formatCode>General</c:formatCode>
                <c:ptCount val="5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</c:numCache>
            </c:numRef>
          </c:cat>
          <c:val>
            <c:numRef>
              <c:f>Sheet1!$D$9:$D$13</c:f>
              <c:numCache>
                <c:formatCode>General</c:formatCode>
                <c:ptCount val="5"/>
                <c:pt idx="0">
                  <c:v>200</c:v>
                </c:pt>
                <c:pt idx="1">
                  <c:v>400</c:v>
                </c:pt>
                <c:pt idx="2">
                  <c:v>500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E8-4F50-93CC-9901A0ADF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80747728"/>
        <c:axId val="2080751472"/>
      </c:barChart>
      <c:lineChart>
        <c:grouping val="standard"/>
        <c:varyColors val="0"/>
        <c:ser>
          <c:idx val="1"/>
          <c:order val="1"/>
          <c:tx>
            <c:strRef>
              <c:f>Sheet1!$E$8</c:f>
              <c:strCache>
                <c:ptCount val="1"/>
                <c:pt idx="0">
                  <c:v>DTI 40% 이하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Sheet1!$E$9:$E$13</c:f>
              <c:numCache>
                <c:formatCode>General</c:formatCode>
                <c:ptCount val="5"/>
                <c:pt idx="0">
                  <c:v>40</c:v>
                </c:pt>
                <c:pt idx="1">
                  <c:v>39</c:v>
                </c:pt>
                <c:pt idx="2">
                  <c:v>49</c:v>
                </c:pt>
                <c:pt idx="3">
                  <c:v>35</c:v>
                </c:pt>
                <c:pt idx="4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E8-4F50-93CC-9901A0ADF8CF}"/>
            </c:ext>
          </c:extLst>
        </c:ser>
        <c:ser>
          <c:idx val="2"/>
          <c:order val="2"/>
          <c:tx>
            <c:strRef>
              <c:f>Sheet1!$F$8</c:f>
              <c:strCache>
                <c:ptCount val="1"/>
                <c:pt idx="0">
                  <c:v>DTI 40% 초과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3"/>
                </a:solidFill>
              </a:ln>
              <a:effectLst/>
            </c:spPr>
          </c:marker>
          <c:val>
            <c:numRef>
              <c:f>Sheet1!$F$9:$F$13</c:f>
              <c:numCache>
                <c:formatCode>General</c:formatCode>
                <c:ptCount val="5"/>
                <c:pt idx="0">
                  <c:v>68</c:v>
                </c:pt>
                <c:pt idx="1">
                  <c:v>64</c:v>
                </c:pt>
                <c:pt idx="2">
                  <c:v>70</c:v>
                </c:pt>
                <c:pt idx="3">
                  <c:v>76</c:v>
                </c:pt>
                <c:pt idx="4">
                  <c:v>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E8-4F50-93CC-9901A0ADF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2490192"/>
        <c:axId val="2077838816"/>
      </c:lineChart>
      <c:catAx>
        <c:axId val="2080747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80751472"/>
        <c:crosses val="autoZero"/>
        <c:auto val="1"/>
        <c:lblAlgn val="ctr"/>
        <c:lblOffset val="100"/>
        <c:noMultiLvlLbl val="0"/>
      </c:catAx>
      <c:valAx>
        <c:axId val="2080751472"/>
        <c:scaling>
          <c:orientation val="minMax"/>
          <c:max val="1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80747728"/>
        <c:crosses val="autoZero"/>
        <c:crossBetween val="between"/>
      </c:valAx>
      <c:valAx>
        <c:axId val="207783881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82490192"/>
        <c:crosses val="max"/>
        <c:crossBetween val="between"/>
      </c:valAx>
      <c:catAx>
        <c:axId val="2082490192"/>
        <c:scaling>
          <c:orientation val="minMax"/>
        </c:scaling>
        <c:delete val="1"/>
        <c:axPos val="b"/>
        <c:majorTickMark val="out"/>
        <c:minorTickMark val="none"/>
        <c:tickLblPos val="nextTo"/>
        <c:crossAx val="20778388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288704" y="2574032"/>
            <a:ext cx="6207212" cy="1143000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건설공사 사고 예방 및 대응책 생성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/>
            </a:r>
            <a:b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한솔데코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시즌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 AI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경진대회</a:t>
            </a:r>
            <a:endParaRPr lang="ko-KR" altLang="en-US" sz="2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2025.03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016896" y="2222511"/>
            <a:ext cx="2797561" cy="34239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AutoNum type="romanUcPeriod"/>
            </a:pPr>
            <a:r>
              <a:rPr lang="ko-KR" altLang="en-US" sz="1600" dirty="0"/>
              <a:t>배경 및 현황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분석 대상 및 목적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데이터 개요 및 전처리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데이터 탐색</a:t>
            </a:r>
            <a:r>
              <a:rPr lang="en-US" altLang="ko-KR" sz="1600" dirty="0"/>
              <a:t>1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인사이트</a:t>
            </a:r>
            <a:r>
              <a:rPr lang="ko-KR" altLang="en-US" sz="1600" dirty="0"/>
              <a:t> 도출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</a:t>
            </a:r>
            <a:r>
              <a:rPr lang="ko-KR" altLang="en-US" sz="1600" dirty="0"/>
              <a:t>설계 </a:t>
            </a:r>
            <a:endParaRPr lang="en-US" altLang="ko-KR" sz="1600" dirty="0"/>
          </a:p>
          <a:p>
            <a:pPr marL="400050" indent="-400050">
              <a:buFont typeface="+mj-lt"/>
              <a:buAutoNum type="romanUcPeriod"/>
            </a:pPr>
            <a:r>
              <a:rPr lang="ko-KR" altLang="en-US" sz="1600" dirty="0"/>
              <a:t>데이터 탐색</a:t>
            </a:r>
            <a:r>
              <a:rPr lang="en-US" altLang="ko-KR" sz="1600" dirty="0"/>
              <a:t>2 (</a:t>
            </a:r>
            <a:r>
              <a:rPr lang="ko-KR" altLang="en-US" sz="1600" dirty="0"/>
              <a:t>오차 분석</a:t>
            </a:r>
            <a:r>
              <a:rPr lang="en-US" altLang="ko-KR" sz="1600" dirty="0"/>
              <a:t>)</a:t>
            </a:r>
          </a:p>
          <a:p>
            <a:pPr marL="400050" indent="-400050">
              <a:buAutoNum type="romanUcPeriod"/>
            </a:pPr>
            <a:r>
              <a:rPr lang="ko-KR" altLang="en-US" sz="1600" dirty="0"/>
              <a:t>모델 정교화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결론 및 시사점 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배경 및 현황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경진대회 소개로 대체 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1224136"/>
          </a:xfrm>
        </p:spPr>
        <p:txBody>
          <a:bodyPr/>
          <a:lstStyle/>
          <a:p>
            <a:r>
              <a:rPr lang="ko-KR" altLang="en-US" dirty="0" err="1"/>
              <a:t>대회명</a:t>
            </a:r>
            <a:r>
              <a:rPr lang="ko-KR" altLang="en-US" b="0" dirty="0"/>
              <a:t> </a:t>
            </a:r>
            <a:r>
              <a:rPr lang="en-US" altLang="ko-KR" b="0" dirty="0"/>
              <a:t>: </a:t>
            </a:r>
            <a:r>
              <a:rPr lang="ko-KR" altLang="en-US" b="0" dirty="0"/>
              <a:t>건설공사 사고 예방 및 대응책 생성 </a:t>
            </a:r>
            <a:r>
              <a:rPr lang="en-US" altLang="ko-KR" b="0" dirty="0"/>
              <a:t>&lt;</a:t>
            </a:r>
            <a:r>
              <a:rPr lang="ko-KR" altLang="en-US" dirty="0" err="1">
                <a:solidFill>
                  <a:srgbClr val="7030A0"/>
                </a:solidFill>
              </a:rPr>
              <a:t>한솔데코</a:t>
            </a:r>
            <a:r>
              <a:rPr lang="ko-KR" altLang="en-US" dirty="0">
                <a:solidFill>
                  <a:srgbClr val="7030A0"/>
                </a:solidFill>
              </a:rPr>
              <a:t> 시즌</a:t>
            </a:r>
            <a:r>
              <a:rPr lang="en-US" altLang="ko-KR" dirty="0">
                <a:solidFill>
                  <a:srgbClr val="7030A0"/>
                </a:solidFill>
              </a:rPr>
              <a:t>3 AI </a:t>
            </a:r>
            <a:r>
              <a:rPr lang="ko-KR" altLang="en-US" dirty="0">
                <a:solidFill>
                  <a:srgbClr val="7030A0"/>
                </a:solidFill>
              </a:rPr>
              <a:t>경진대회</a:t>
            </a:r>
            <a:r>
              <a:rPr lang="en-US" altLang="ko-KR" b="0" dirty="0"/>
              <a:t>&gt;</a:t>
            </a:r>
            <a:br>
              <a:rPr lang="en-US" altLang="ko-KR" b="0" dirty="0"/>
            </a:br>
            <a:endParaRPr lang="en-US" altLang="ko-KR" b="0" dirty="0"/>
          </a:p>
          <a:p>
            <a:r>
              <a:rPr lang="ko-KR" altLang="en-US" b="0" dirty="0" smtClean="0"/>
              <a:t>시즌</a:t>
            </a:r>
            <a:r>
              <a:rPr lang="en-US" altLang="ko-KR" b="0" dirty="0"/>
              <a:t>3 </a:t>
            </a:r>
            <a:r>
              <a:rPr lang="ko-KR" altLang="en-US" b="0" dirty="0"/>
              <a:t>경진대회에서는 건설공사 사고 상황 데이터를 기반으로 사고 원인을 분석하고</a:t>
            </a:r>
            <a:r>
              <a:rPr lang="en-US" altLang="ko-KR" b="0" dirty="0"/>
              <a:t>, </a:t>
            </a:r>
            <a:r>
              <a:rPr lang="ko-KR" altLang="en-US" dirty="0">
                <a:solidFill>
                  <a:srgbClr val="7030A0"/>
                </a:solidFill>
              </a:rPr>
              <a:t>재발방지 대책 및 향후 조치 계획을 자동으로 생성하는 </a:t>
            </a:r>
            <a:r>
              <a:rPr lang="en-US" altLang="ko-KR" dirty="0">
                <a:solidFill>
                  <a:srgbClr val="7030A0"/>
                </a:solidFill>
              </a:rPr>
              <a:t>AI </a:t>
            </a:r>
            <a:r>
              <a:rPr lang="ko-KR" altLang="en-US" dirty="0">
                <a:solidFill>
                  <a:srgbClr val="7030A0"/>
                </a:solidFill>
              </a:rPr>
              <a:t>모델을 개발하는 것이 목표입니다</a:t>
            </a:r>
            <a:r>
              <a:rPr lang="en-US" altLang="ko-KR" b="0" dirty="0"/>
              <a:t>. </a:t>
            </a:r>
            <a:endParaRPr lang="en-US" altLang="ko-KR" spc="-100" dirty="0" smtClean="0"/>
          </a:p>
        </p:txBody>
      </p:sp>
      <p:grpSp>
        <p:nvGrpSpPr>
          <p:cNvPr id="9" name="그룹 8"/>
          <p:cNvGrpSpPr/>
          <p:nvPr/>
        </p:nvGrpSpPr>
        <p:grpSpPr>
          <a:xfrm>
            <a:off x="329580" y="1988840"/>
            <a:ext cx="9087916" cy="1735381"/>
            <a:chOff x="329580" y="2413699"/>
            <a:chExt cx="9087916" cy="1735381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580" y="2413699"/>
              <a:ext cx="9087916" cy="1735381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16496" y="2550229"/>
              <a:ext cx="50081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건설공사 사고 예방 및 대응책 생성 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sz="1400" dirty="0" err="1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한솔데코</a:t>
              </a:r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시즌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 AI</a:t>
              </a:r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경진대회</a:t>
              </a:r>
              <a:endPara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16496" y="2980937"/>
              <a:ext cx="3241593" cy="1024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NLP | </a:t>
              </a:r>
              <a:r>
                <a:rPr lang="ko-KR" altLang="en-US" sz="1400" dirty="0" err="1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생성형</a:t>
              </a:r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AI | LLM 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상금 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1,000</a:t>
              </a:r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만원</a:t>
              </a:r>
              <a:endParaRPr lang="en-US" altLang="ko-KR" sz="1400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2025.02.17 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~ 2025.03.24 09:59 </a:t>
              </a:r>
              <a:endPara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78" y="273596"/>
            <a:ext cx="1085850" cy="41910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29580" y="4948356"/>
            <a:ext cx="9087916" cy="13609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/>
              <a:t># </a:t>
            </a:r>
            <a:r>
              <a:rPr lang="ko-KR" altLang="en-US" sz="1200" dirty="0" smtClean="0"/>
              <a:t>경진대회 참여 사유 소개</a:t>
            </a:r>
            <a:endParaRPr lang="en-US" altLang="ko-KR" sz="12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 smtClean="0"/>
              <a:t>○○○ 기술을 배우기 위해서 참여를 했다</a:t>
            </a:r>
            <a:r>
              <a:rPr lang="en-US" altLang="ko-KR" sz="12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 smtClean="0"/>
              <a:t>실제 기업 데이터를 간접적으로 분석할 수 있는 기회를 얻기 위해 </a:t>
            </a:r>
            <a:r>
              <a:rPr lang="en-US" altLang="ko-KR" sz="1200" dirty="0" smtClean="0"/>
              <a:t>…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 smtClean="0"/>
              <a:t>팀으로 참여했다면 </a:t>
            </a:r>
            <a:r>
              <a:rPr lang="ko-KR" altLang="en-US" sz="1200" dirty="0" err="1" smtClean="0"/>
              <a:t>팀운원들과</a:t>
            </a:r>
            <a:r>
              <a:rPr lang="ko-KR" altLang="en-US" sz="1200" dirty="0" smtClean="0"/>
              <a:t> 협업하며 </a:t>
            </a:r>
            <a:r>
              <a:rPr lang="ko-KR" altLang="en-US" sz="1200" dirty="0" err="1" smtClean="0"/>
              <a:t>적용해노는</a:t>
            </a:r>
            <a:r>
              <a:rPr lang="ko-KR" altLang="en-US" sz="1200" dirty="0" smtClean="0"/>
              <a:t> 실전 감각을 익히기 위해 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 </a:t>
            </a:r>
            <a:endParaRPr lang="ko-KR" altLang="en-US" sz="1200" dirty="0"/>
          </a:p>
        </p:txBody>
      </p:sp>
      <p:sp>
        <p:nvSpPr>
          <p:cNvPr id="3" name="직사각형 2"/>
          <p:cNvSpPr/>
          <p:nvPr/>
        </p:nvSpPr>
        <p:spPr>
          <a:xfrm>
            <a:off x="1595604" y="4414314"/>
            <a:ext cx="45624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>
                <a:latin typeface="+mn-ea"/>
                <a:ea typeface="+mn-ea"/>
              </a:rPr>
              <a:t>https</a:t>
            </a:r>
            <a:r>
              <a:rPr lang="ko-KR" altLang="en-US" sz="1200" dirty="0">
                <a:latin typeface="+mn-ea"/>
                <a:ea typeface="+mn-ea"/>
              </a:rPr>
              <a:t>://www.kaggle.com/code/jacobgreen4477/eda-v0-0-3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4848534" y="209342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생성형</a:t>
            </a:r>
            <a:r>
              <a:rPr lang="en-US" altLang="ko-KR" dirty="0" smtClean="0"/>
              <a:t>AI</a:t>
            </a:r>
            <a:endParaRPr lang="ko-KR" altLang="en-US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6158042" y="209342"/>
            <a:ext cx="883190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LLM</a:t>
            </a:r>
            <a:endParaRPr lang="ko-KR" alt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329580" y="3871493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대회 </a:t>
            </a:r>
            <a:r>
              <a:rPr lang="en-US" altLang="ko-KR" dirty="0" smtClean="0"/>
              <a:t>URL</a:t>
            </a:r>
            <a:endParaRPr lang="ko-KR" altLang="en-US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329580" y="4365104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분석 코드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078" y="359321"/>
            <a:ext cx="990600" cy="24765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1593989" y="3923746"/>
            <a:ext cx="4953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https://dacon.io/competitions/official/236455/overview/description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수집 </a:t>
            </a:r>
            <a:r>
              <a:rPr lang="en-US" altLang="ko-KR" dirty="0" smtClean="0"/>
              <a:t>(</a:t>
            </a:r>
            <a:r>
              <a:rPr lang="ko-KR" altLang="en-US" dirty="0" smtClean="0"/>
              <a:t>활용 데이터 소개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6" name="원통형 73">
            <a:extLst>
              <a:ext uri="{FF2B5EF4-FFF2-40B4-BE49-F238E27FC236}">
                <a16:creationId xmlns:a16="http://schemas.microsoft.com/office/drawing/2014/main" id="{8C48B351-E23B-4826-8B75-0CDE974763FA}"/>
              </a:ext>
            </a:extLst>
          </p:cNvPr>
          <p:cNvSpPr/>
          <p:nvPr/>
        </p:nvSpPr>
        <p:spPr>
          <a:xfrm>
            <a:off x="416496" y="2204864"/>
            <a:ext cx="900000" cy="684000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050" dirty="0" smtClean="0"/>
              <a:t>train</a:t>
            </a:r>
            <a:endParaRPr lang="en-US" altLang="ko-KR" sz="1050" dirty="0"/>
          </a:p>
        </p:txBody>
      </p:sp>
      <p:sp>
        <p:nvSpPr>
          <p:cNvPr id="4" name="직사각형 3"/>
          <p:cNvSpPr/>
          <p:nvPr/>
        </p:nvSpPr>
        <p:spPr>
          <a:xfrm>
            <a:off x="335360" y="3068960"/>
            <a:ext cx="18813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샘플별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고유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발생일시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사고인지 시간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날씨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습도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공사종류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연면적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정보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인적사고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물적사고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공종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사고객체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작업프로세스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사고원인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재발방지대책 및 향후조치계획</a:t>
            </a:r>
          </a:p>
        </p:txBody>
      </p:sp>
      <p:sp>
        <p:nvSpPr>
          <p:cNvPr id="7" name="원통형 73">
            <a:extLst>
              <a:ext uri="{FF2B5EF4-FFF2-40B4-BE49-F238E27FC236}">
                <a16:creationId xmlns:a16="http://schemas.microsoft.com/office/drawing/2014/main" id="{8C48B351-E23B-4826-8B75-0CDE974763FA}"/>
              </a:ext>
            </a:extLst>
          </p:cNvPr>
          <p:cNvSpPr/>
          <p:nvPr/>
        </p:nvSpPr>
        <p:spPr>
          <a:xfrm>
            <a:off x="2648744" y="2204864"/>
            <a:ext cx="900000" cy="684000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1050" dirty="0" smtClean="0"/>
              <a:t>test</a:t>
            </a:r>
            <a:endParaRPr lang="en-US" altLang="ko-KR" sz="1050" dirty="0"/>
          </a:p>
        </p:txBody>
      </p:sp>
      <p:sp>
        <p:nvSpPr>
          <p:cNvPr id="8" name="직사각형 7"/>
          <p:cNvSpPr/>
          <p:nvPr/>
        </p:nvSpPr>
        <p:spPr>
          <a:xfrm>
            <a:off x="2608076" y="3068960"/>
            <a:ext cx="188133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샘플별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고유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발생일시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사고인지 시간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날씨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습도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공사종류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연면적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층 정보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인적사고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물적사고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공종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사고객체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작업프로세스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사고원인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원통형 73">
            <a:extLst>
              <a:ext uri="{FF2B5EF4-FFF2-40B4-BE49-F238E27FC236}">
                <a16:creationId xmlns:a16="http://schemas.microsoft.com/office/drawing/2014/main" id="{8C48B351-E23B-4826-8B75-0CDE974763FA}"/>
              </a:ext>
            </a:extLst>
          </p:cNvPr>
          <p:cNvSpPr/>
          <p:nvPr/>
        </p:nvSpPr>
        <p:spPr>
          <a:xfrm>
            <a:off x="4881092" y="2204864"/>
            <a:ext cx="900000" cy="684000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1050" dirty="0" smtClean="0"/>
              <a:t>건설안점지침</a:t>
            </a:r>
            <a:endParaRPr lang="en-US" altLang="ko-KR" sz="1050" dirty="0"/>
          </a:p>
        </p:txBody>
      </p:sp>
      <p:sp>
        <p:nvSpPr>
          <p:cNvPr id="10" name="직사각형 9"/>
          <p:cNvSpPr/>
          <p:nvPr/>
        </p:nvSpPr>
        <p:spPr>
          <a:xfrm>
            <a:off x="4820090" y="3068960"/>
            <a:ext cx="18813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건설안전지침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PDF</a:t>
            </a:r>
          </a:p>
        </p:txBody>
      </p:sp>
      <p:sp>
        <p:nvSpPr>
          <p:cNvPr id="11" name="원통형 73">
            <a:extLst>
              <a:ext uri="{FF2B5EF4-FFF2-40B4-BE49-F238E27FC236}">
                <a16:creationId xmlns:a16="http://schemas.microsoft.com/office/drawing/2014/main" id="{8C48B351-E23B-4826-8B75-0CDE974763FA}"/>
              </a:ext>
            </a:extLst>
          </p:cNvPr>
          <p:cNvSpPr/>
          <p:nvPr/>
        </p:nvSpPr>
        <p:spPr>
          <a:xfrm>
            <a:off x="4881092" y="4309558"/>
            <a:ext cx="900000" cy="684000"/>
          </a:xfrm>
          <a:prstGeom prst="can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800" dirty="0"/>
              <a:t>s</a:t>
            </a:r>
            <a:r>
              <a:rPr lang="en-US" altLang="ko-KR" sz="800" dirty="0" smtClean="0"/>
              <a:t>ubmission.csv</a:t>
            </a:r>
            <a:endParaRPr lang="en-US" altLang="ko-KR" sz="800" dirty="0"/>
          </a:p>
        </p:txBody>
      </p:sp>
      <p:sp>
        <p:nvSpPr>
          <p:cNvPr id="12" name="직사각형 11"/>
          <p:cNvSpPr/>
          <p:nvPr/>
        </p:nvSpPr>
        <p:spPr>
          <a:xfrm>
            <a:off x="4820090" y="5157192"/>
            <a:ext cx="48854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ID :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샘플별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고유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재발방지대책 및 향후조치계획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생성된 답변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vec_0, vec_1 ... vec_767 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생성된 답변을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768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Embedding Vector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표현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학습데이터로는 </a:t>
            </a:r>
            <a:r>
              <a:rPr lang="ko-KR" altLang="en-US" dirty="0" err="1" smtClean="0">
                <a:solidFill>
                  <a:srgbClr val="7030A0"/>
                </a:solidFill>
              </a:rPr>
              <a:t>정형데이터</a:t>
            </a:r>
            <a:r>
              <a:rPr lang="en-US" altLang="ko-KR" dirty="0" smtClean="0">
                <a:solidFill>
                  <a:srgbClr val="7030A0"/>
                </a:solidFill>
              </a:rPr>
              <a:t>(18</a:t>
            </a:r>
            <a:r>
              <a:rPr lang="ko-KR" altLang="en-US" dirty="0" smtClean="0">
                <a:solidFill>
                  <a:srgbClr val="7030A0"/>
                </a:solidFill>
              </a:rPr>
              <a:t>개</a:t>
            </a:r>
            <a:r>
              <a:rPr lang="en-US" altLang="ko-KR" dirty="0" smtClean="0">
                <a:solidFill>
                  <a:srgbClr val="7030A0"/>
                </a:solidFill>
              </a:rPr>
              <a:t>)</a:t>
            </a:r>
            <a:r>
              <a:rPr lang="ko-KR" altLang="en-US" dirty="0" smtClean="0">
                <a:solidFill>
                  <a:srgbClr val="7030A0"/>
                </a:solidFill>
              </a:rPr>
              <a:t>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와 </a:t>
            </a:r>
            <a:r>
              <a:rPr lang="ko-KR" altLang="en-US" dirty="0" smtClean="0">
                <a:solidFill>
                  <a:srgbClr val="7030A0"/>
                </a:solidFill>
              </a:rPr>
              <a:t>건설안점지침</a:t>
            </a:r>
            <a:r>
              <a:rPr lang="en-US" altLang="ko-KR" dirty="0" smtClean="0">
                <a:solidFill>
                  <a:srgbClr val="7030A0"/>
                </a:solidFill>
              </a:rPr>
              <a:t>(PDF) </a:t>
            </a:r>
            <a:r>
              <a:rPr lang="ko-KR" altLang="en-US" dirty="0" smtClean="0">
                <a:solidFill>
                  <a:srgbClr val="7030A0"/>
                </a:solidFill>
              </a:rPr>
              <a:t>비정형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존재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예측대상은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dirty="0" smtClean="0">
                <a:solidFill>
                  <a:srgbClr val="7030A0"/>
                </a:solidFill>
              </a:rPr>
              <a:t>[</a:t>
            </a:r>
            <a:r>
              <a:rPr lang="ko-KR" altLang="en-US" dirty="0" smtClean="0">
                <a:solidFill>
                  <a:srgbClr val="7030A0"/>
                </a:solidFill>
              </a:rPr>
              <a:t>재발방지대책</a:t>
            </a:r>
            <a:r>
              <a:rPr lang="en-US" altLang="ko-KR" dirty="0" smtClean="0">
                <a:solidFill>
                  <a:srgbClr val="7030A0"/>
                </a:solidFill>
              </a:rPr>
              <a:t>]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으로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train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데이터에만 존재하고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test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데이터에는 누락 됨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최종 제출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(submission)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은 재발방지대책을 예측하여 </a:t>
            </a:r>
            <a:r>
              <a:rPr lang="en-US" altLang="ko-KR" dirty="0" smtClean="0">
                <a:solidFill>
                  <a:srgbClr val="7030A0"/>
                </a:solidFill>
              </a:rPr>
              <a:t>767 vector</a:t>
            </a:r>
            <a:r>
              <a:rPr lang="ko-KR" altLang="en-US" dirty="0" smtClean="0">
                <a:solidFill>
                  <a:srgbClr val="7030A0"/>
                </a:solidFill>
              </a:rPr>
              <a:t>로 </a:t>
            </a:r>
            <a:r>
              <a:rPr lang="ko-KR" altLang="en-US" dirty="0" err="1" smtClean="0">
                <a:solidFill>
                  <a:srgbClr val="7030A0"/>
                </a:solidFill>
              </a:rPr>
              <a:t>임베딩</a:t>
            </a:r>
            <a:r>
              <a:rPr lang="ko-KR" altLang="en-US" dirty="0" smtClean="0">
                <a:solidFill>
                  <a:srgbClr val="7030A0"/>
                </a:solidFill>
              </a:rPr>
              <a:t> 변환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후 제출 </a:t>
            </a:r>
            <a:endParaRPr lang="en-US" altLang="ko-KR" b="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1903597" y="5972878"/>
            <a:ext cx="626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7030A0"/>
                </a:solidFill>
                <a:latin typeface="+mn-ea"/>
                <a:ea typeface="+mn-ea"/>
              </a:rPr>
              <a:t>Target</a:t>
            </a:r>
            <a:endParaRPr lang="ko-KR" altLang="en-US" sz="12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6" name="직선 화살표 연결선 15"/>
          <p:cNvCxnSpPr>
            <a:stCxn id="14" idx="1"/>
          </p:cNvCxnSpPr>
          <p:nvPr/>
        </p:nvCxnSpPr>
        <p:spPr>
          <a:xfrm flipH="1" flipV="1">
            <a:off x="1784648" y="5931282"/>
            <a:ext cx="118949" cy="180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</a:t>
            </a:r>
            <a:r>
              <a:rPr lang="ko-KR" altLang="en-US" dirty="0" smtClean="0"/>
              <a:t>경진대회 평가 방식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560512" y="2132856"/>
            <a:ext cx="4248472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rgbClr val="FF0000"/>
                </a:solidFill>
              </a:rPr>
              <a:t>고속절단기</a:t>
            </a:r>
            <a:r>
              <a:rPr lang="ko-KR" altLang="en-US" sz="1200" dirty="0">
                <a:solidFill>
                  <a:schemeClr val="tx1"/>
                </a:solidFill>
              </a:rPr>
              <a:t> 날의 회전이 완전히 멈춘 후 </a:t>
            </a:r>
            <a:r>
              <a:rPr lang="ko-KR" altLang="en-US" sz="1200" dirty="0">
                <a:solidFill>
                  <a:srgbClr val="FF0000"/>
                </a:solidFill>
              </a:rPr>
              <a:t>목재</a:t>
            </a:r>
            <a:r>
              <a:rPr lang="ko-KR" altLang="en-US" sz="1200" dirty="0">
                <a:solidFill>
                  <a:schemeClr val="tx1"/>
                </a:solidFill>
              </a:rPr>
              <a:t>를 제거할 수 있도록 하는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60512" y="4005064"/>
            <a:ext cx="4248472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이동통로</a:t>
            </a:r>
            <a:r>
              <a:rPr lang="ko-KR" altLang="en-US" sz="1200" dirty="0">
                <a:solidFill>
                  <a:schemeClr val="tx1"/>
                </a:solidFill>
              </a:rPr>
              <a:t> 확보 관리와 작업 전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철저 및 정기적 근로자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시행을 통한 재발 방지 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169024" y="2132856"/>
            <a:ext cx="936104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4"/>
                </a:solidFill>
              </a:rPr>
              <a:t>654466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6249144" y="2132856"/>
            <a:ext cx="936104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</a:rPr>
              <a:t>765765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323656" y="2132856"/>
            <a:ext cx="936104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…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8414555" y="2132856"/>
            <a:ext cx="936104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4"/>
                </a:solidFill>
              </a:rPr>
              <a:t>1</a:t>
            </a:r>
            <a:r>
              <a:rPr lang="en-US" altLang="ko-KR" sz="1200" dirty="0" smtClean="0">
                <a:solidFill>
                  <a:schemeClr val="accent4"/>
                </a:solidFill>
              </a:rPr>
              <a:t>6656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169024" y="4005064"/>
            <a:ext cx="936104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</a:rPr>
              <a:t>56456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6249144" y="4005064"/>
            <a:ext cx="936104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accent4"/>
                </a:solidFill>
              </a:rPr>
              <a:t>654466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7323656" y="4005064"/>
            <a:ext cx="936104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…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8414555" y="4005064"/>
            <a:ext cx="936104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4"/>
                </a:solidFill>
              </a:rPr>
              <a:t>16656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cxnSp>
        <p:nvCxnSpPr>
          <p:cNvPr id="20" name="직선 화살표 연결선 19"/>
          <p:cNvCxnSpPr>
            <a:stCxn id="4" idx="3"/>
            <a:endCxn id="12" idx="1"/>
          </p:cNvCxnSpPr>
          <p:nvPr/>
        </p:nvCxnSpPr>
        <p:spPr>
          <a:xfrm>
            <a:off x="4808984" y="249289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6" idx="3"/>
            <a:endCxn id="16" idx="1"/>
          </p:cNvCxnSpPr>
          <p:nvPr/>
        </p:nvCxnSpPr>
        <p:spPr>
          <a:xfrm>
            <a:off x="4808984" y="436510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808984" y="1287701"/>
            <a:ext cx="47087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7F9F7F"/>
                </a:solidFill>
                <a:latin typeface="+mn-ea"/>
                <a:ea typeface="+mn-ea"/>
              </a:rPr>
              <a:t>생성된 답변 내용을 </a:t>
            </a:r>
            <a:r>
              <a:rPr lang="en-US" altLang="ko-KR" sz="1600" dirty="0">
                <a:solidFill>
                  <a:srgbClr val="7F9F7F"/>
                </a:solidFill>
                <a:latin typeface="+mn-ea"/>
                <a:ea typeface="+mn-ea"/>
              </a:rPr>
              <a:t>768 Embedding Vector</a:t>
            </a:r>
            <a:r>
              <a:rPr lang="ko-KR" altLang="en-US" sz="1600" dirty="0">
                <a:solidFill>
                  <a:srgbClr val="7F9F7F"/>
                </a:solidFill>
                <a:latin typeface="+mn-ea"/>
                <a:ea typeface="+mn-ea"/>
              </a:rPr>
              <a:t>로 변환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4996780" y="1916832"/>
            <a:ext cx="4420716" cy="2952328"/>
          </a:xfrm>
          <a:prstGeom prst="roundRect">
            <a:avLst>
              <a:gd name="adj" fmla="val 393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>
            <a:stCxn id="12" idx="2"/>
            <a:endCxn id="17" idx="0"/>
          </p:cNvCxnSpPr>
          <p:nvPr/>
        </p:nvCxnSpPr>
        <p:spPr>
          <a:xfrm>
            <a:off x="5637076" y="2852936"/>
            <a:ext cx="1080120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>
            <a:stCxn id="15" idx="2"/>
            <a:endCxn id="19" idx="0"/>
          </p:cNvCxnSpPr>
          <p:nvPr/>
        </p:nvCxnSpPr>
        <p:spPr>
          <a:xfrm>
            <a:off x="8882607" y="2852936"/>
            <a:ext cx="0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6406810" y="3143513"/>
            <a:ext cx="1786549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코사인 유사도 </a:t>
            </a:r>
            <a:r>
              <a:rPr lang="en-US" altLang="ko-KR" sz="1400" dirty="0" smtClean="0">
                <a:solidFill>
                  <a:schemeClr val="tx1"/>
                </a:solidFill>
              </a:rPr>
              <a:t>36</a:t>
            </a:r>
            <a:r>
              <a:rPr lang="ko-KR" altLang="en-US" sz="1400" dirty="0" smtClean="0">
                <a:solidFill>
                  <a:schemeClr val="tx1"/>
                </a:solidFill>
              </a:rPr>
              <a:t>점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465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016896" y="3284984"/>
            <a:ext cx="3312368" cy="34239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AutoNum type="romanUcPeriod"/>
            </a:pPr>
            <a:r>
              <a:rPr lang="ko-KR" altLang="en-US" sz="1600" dirty="0" smtClean="0"/>
              <a:t>배경 및 현황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분석 대상 및 목적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데이터 개요 및 전처리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/>
              <a:t>데이터 </a:t>
            </a:r>
            <a:r>
              <a:rPr lang="ko-KR" altLang="en-US" sz="1600" dirty="0" smtClean="0"/>
              <a:t>탐색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인사이트</a:t>
            </a:r>
            <a:r>
              <a:rPr lang="ko-KR" altLang="en-US" sz="1600" dirty="0" smtClean="0"/>
              <a:t> 도출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설계 </a:t>
            </a:r>
            <a:endParaRPr lang="en-US" altLang="ko-KR" sz="1600" dirty="0" smtClean="0"/>
          </a:p>
          <a:p>
            <a:pPr marL="400050" indent="-400050">
              <a:buFont typeface="+mj-lt"/>
              <a:buAutoNum type="romanUcPeriod"/>
            </a:pPr>
            <a:r>
              <a:rPr lang="ko-KR" altLang="en-US" sz="1600" dirty="0"/>
              <a:t>데이터 탐색</a:t>
            </a:r>
            <a:r>
              <a:rPr lang="en-US" altLang="ko-KR" sz="1600" dirty="0"/>
              <a:t>2 (</a:t>
            </a:r>
            <a:r>
              <a:rPr lang="ko-KR" altLang="en-US" sz="1600" dirty="0"/>
              <a:t>오차 분석</a:t>
            </a:r>
            <a:r>
              <a:rPr lang="en-US" altLang="ko-KR" sz="1600" dirty="0" smtClean="0"/>
              <a:t>)</a:t>
            </a:r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정교화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결론 </a:t>
            </a:r>
            <a:r>
              <a:rPr lang="ko-KR" altLang="en-US" sz="1600" dirty="0"/>
              <a:t>및 시사점</a:t>
            </a:r>
            <a:r>
              <a:rPr lang="ko-KR" altLang="en-US" sz="1600" dirty="0" smtClean="0"/>
              <a:t> 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○○○</a:t>
            </a:r>
            <a:r>
              <a:rPr lang="en-US" altLang="ko-KR" dirty="0" smtClean="0"/>
              <a:t> </a:t>
            </a:r>
            <a:r>
              <a:rPr lang="ko-KR" altLang="en-US" dirty="0"/>
              <a:t>경진대회 참여 후기</a:t>
            </a:r>
          </a:p>
        </p:txBody>
      </p:sp>
    </p:spTree>
    <p:extLst>
      <p:ext uri="{BB962C8B-B14F-4D97-AF65-F5344CB8AC3E}">
        <p14:creationId xmlns:p14="http://schemas.microsoft.com/office/powerpoint/2010/main" val="301992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(1/5)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재발방지대책에 수립되면서 과거 사고유형은 </a:t>
            </a:r>
            <a:r>
              <a:rPr lang="ko-KR" altLang="en-US" dirty="0" smtClean="0">
                <a:solidFill>
                  <a:srgbClr val="7030A0"/>
                </a:solidFill>
              </a:rPr>
              <a:t>시간이 지나면서 감소하는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경향을 보일 수 있습니다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또는 과거에는 발생 빈도가 낮았던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사고유형이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rgbClr val="7030A0"/>
                </a:solidFill>
              </a:rPr>
              <a:t>최근에 새롭게 증가할 </a:t>
            </a:r>
            <a:r>
              <a:rPr lang="ko-KR" altLang="en-US" dirty="0">
                <a:solidFill>
                  <a:srgbClr val="7030A0"/>
                </a:solidFill>
              </a:rPr>
              <a:t>수</a:t>
            </a:r>
            <a:r>
              <a:rPr lang="ko-KR" altLang="en-US" dirty="0" smtClean="0">
                <a:solidFill>
                  <a:srgbClr val="7030A0"/>
                </a:solidFill>
              </a:rPr>
              <a:t>도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있습니다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r>
              <a:rPr lang="ko-KR" altLang="en-US" b="0" dirty="0" smtClean="0">
                <a:sym typeface="Wingdings" panose="05000000000000000000" pitchFamily="2" charset="2"/>
              </a:rPr>
              <a:t>본 데이터탐색을 통해</a:t>
            </a:r>
            <a:r>
              <a:rPr lang="en-US" altLang="ko-KR" b="0" dirty="0" smtClean="0">
                <a:sym typeface="Wingdings" panose="05000000000000000000" pitchFamily="2" charset="2"/>
              </a:rPr>
              <a:t> </a:t>
            </a:r>
            <a:r>
              <a:rPr lang="ko-KR" altLang="en-US" b="0" dirty="0" smtClean="0"/>
              <a:t>사고유형별 </a:t>
            </a:r>
            <a:r>
              <a:rPr lang="ko-KR" altLang="en-US" b="0" dirty="0" err="1" smtClean="0"/>
              <a:t>시계열</a:t>
            </a:r>
            <a:r>
              <a:rPr lang="ko-KR" altLang="en-US" b="0" dirty="0" smtClean="0"/>
              <a:t> 분석을 통해서 </a:t>
            </a:r>
            <a:r>
              <a:rPr lang="ko-KR" altLang="en-US" dirty="0" smtClean="0">
                <a:solidFill>
                  <a:srgbClr val="7030A0"/>
                </a:solidFill>
              </a:rPr>
              <a:t>최신 사고유형 </a:t>
            </a:r>
            <a:r>
              <a:rPr lang="ko-KR" altLang="en-US" dirty="0" err="1" smtClean="0">
                <a:solidFill>
                  <a:srgbClr val="7030A0"/>
                </a:solidFill>
              </a:rPr>
              <a:t>트랜드</a:t>
            </a:r>
            <a:r>
              <a:rPr lang="ko-KR" altLang="en-US" b="0" dirty="0" err="1" smtClean="0"/>
              <a:t>를</a:t>
            </a:r>
            <a:r>
              <a:rPr lang="ko-KR" altLang="en-US" b="0" dirty="0" smtClean="0"/>
              <a:t> 파악합니다</a:t>
            </a:r>
            <a:r>
              <a:rPr lang="en-US" altLang="ko-KR" b="0" dirty="0" smtClean="0"/>
              <a:t>.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인적사고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유형별 건수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4940330" y="1950414"/>
              <a:ext cx="4481310" cy="42868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72000" rtlCol="0" anchor="t"/>
            <a:lstStyle/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인적사고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유형 중 가장 발생빈도가 높은 사고유형은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r>
                <a:rPr lang="en-US" altLang="ko-KR" sz="1200" b="1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200" b="1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 [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  <a:r>
                <a:rPr lang="en-US" altLang="ko-KR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미끄러져서 넘어지는 유형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물체에 걸림</a:t>
              </a: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기타로 넘어지는 유형을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r>
                <a:rPr lang="en-US" altLang="ko-KR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 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분리해서 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데이터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관리 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중 </a:t>
              </a: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 marL="176213" indent="-176213">
                <a:spcBef>
                  <a:spcPts val="500"/>
                </a:spcBef>
                <a:buClr>
                  <a:srgbClr val="C00000"/>
                </a:buClr>
                <a:buFont typeface="맑은 고딕" pitchFamily="50" charset="-127"/>
                <a:buChar char="⇒"/>
              </a:pP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넘어짐 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미끄러짐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], 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물체에 걸림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], [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기타</a:t>
              </a:r>
              <a:r>
                <a:rPr lang="en-US" altLang="ko-KR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]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유형을 모두 합치면 </a:t>
              </a:r>
              <a:r>
                <a:rPr lang="ko-KR" altLang="en-US" sz="1200" spc="-5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   </a:t>
              </a:r>
              <a:r>
                <a:rPr lang="ko-KR" altLang="en-US" sz="1200" b="1" spc="-50" dirty="0" smtClean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발생빈도가 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가장 많은 </a:t>
              </a:r>
              <a:r>
                <a:rPr lang="ko-KR" altLang="en-US" sz="1200" b="1" spc="-50" dirty="0" err="1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인적사고</a:t>
              </a:r>
              <a:r>
                <a:rPr lang="ko-KR" altLang="en-US" sz="1200" b="1" spc="-50" dirty="0">
                  <a:solidFill>
                    <a:srgbClr val="7030A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200" spc="-5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유형이 됨  </a:t>
              </a: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spcBef>
                  <a:spcPts val="500"/>
                </a:spcBef>
                <a:buClr>
                  <a:srgbClr val="C00000"/>
                </a:buClr>
              </a:pPr>
              <a:endPara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026" name="Picture 2" descr="https://www.kaggleusercontent.com/kf/224074685/eyJhbGciOiJkaXIiLCJlbmMiOiJBMTI4Q0JDLUhTMjU2In0..mQUVHzi1Hs-Qfp7QaFn6tw.q9ZFeiU105EdpyImd0M4Kr-EWBoNFUMiC9q9M54OytpbzNC-K0pARuajLJIn76ZjDHKHLTh1kslVa3Hnx5sTvHCONTX_6-cod8lidPiX2k9PrHJUVxXcz4sexdMPtVJgAc88eCEwiY6kCI3usrie0St8VqgIuv57N22K82JqdUK6hv43KTMynJ8oC8KFYnZImvUvuQG4tdyNnG5I3RzlOE6uB3ZakrmHl5qa0xB4BdKQOpWZJxZkYCyWjX2V1yjkrV3q2-4kEc5SXr3e6YbRhQSS1TOHTb0QoaOvO3cBTPMeN4wPw1e1HjqfLyltMrDViLZHYhXHCiHm5CMB2SVGo8MYOULdfJw782tcR_Wo7HsSVh5oqsj0eUSEx0O_ZAo6CfyWQ7rIiZi4RA3ik3EWQ8n8GvtTxrOUH6sEbILroD3x_UvsOK3EYVNaKdSPQ2HvsICXClbwYeVJUFU-DAoVeuZj77DpFugFeyh7I9wyV_RHjf5SSEXRHFSr2V5kkzrtLVzO3kRZtnyhTNFwhpNb8UCmHwRg1tEVnimGzvCS1O8mYjjZVeRdYzF3Ht_Ksgmy51x3C8HM_jbdnGFc3m4uasHcvvizFixNh3J50hlZJNzIE2s26-3XHgcDHnSxPNnu.MPsL3yqMlfAroCOCAsLLGg/__results___files/__results___62_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05" y="2341282"/>
            <a:ext cx="4242808" cy="397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280592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7666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190502" y="4869160"/>
            <a:ext cx="144016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(2/5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사고유형은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2019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과거에는 사고 발생빈도가 </a:t>
            </a:r>
            <a:r>
              <a:rPr lang="ko-KR" altLang="en-US" dirty="0" smtClean="0">
                <a:solidFill>
                  <a:srgbClr val="7030A0"/>
                </a:solidFill>
              </a:rPr>
              <a:t>월 </a:t>
            </a:r>
            <a:r>
              <a:rPr lang="en-US" altLang="ko-KR" dirty="0" smtClean="0">
                <a:solidFill>
                  <a:srgbClr val="7030A0"/>
                </a:solidFill>
              </a:rPr>
              <a:t>100</a:t>
            </a:r>
            <a:r>
              <a:rPr lang="ko-KR" altLang="en-US" dirty="0" smtClean="0">
                <a:solidFill>
                  <a:srgbClr val="7030A0"/>
                </a:solidFill>
              </a:rPr>
              <a:t>건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정도 발생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전체 사고유형 중 </a:t>
            </a:r>
            <a:r>
              <a:rPr lang="ko-KR" altLang="en-US" dirty="0" smtClean="0">
                <a:solidFill>
                  <a:srgbClr val="7030A0"/>
                </a:solidFill>
              </a:rPr>
              <a:t>순위</a:t>
            </a:r>
            <a:r>
              <a:rPr lang="en-US" altLang="ko-KR" dirty="0" smtClean="0">
                <a:solidFill>
                  <a:srgbClr val="7030A0"/>
                </a:solidFill>
              </a:rPr>
              <a:t>3</a:t>
            </a:r>
            <a:r>
              <a:rPr lang="ko-KR" altLang="en-US" dirty="0" smtClean="0">
                <a:solidFill>
                  <a:srgbClr val="7030A0"/>
                </a:solidFill>
              </a:rPr>
              <a:t>번째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08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월을 이후로는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사고빈도가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건인 </a:t>
            </a:r>
            <a:r>
              <a:rPr lang="ko-KR" altLang="en-US" dirty="0" smtClean="0">
                <a:solidFill>
                  <a:srgbClr val="7030A0"/>
                </a:solidFill>
              </a:rPr>
              <a:t>기존 </a:t>
            </a:r>
            <a:r>
              <a:rPr lang="en-US" altLang="ko-KR" dirty="0" smtClean="0">
                <a:solidFill>
                  <a:srgbClr val="7030A0"/>
                </a:solidFill>
              </a:rPr>
              <a:t>’19</a:t>
            </a:r>
            <a:r>
              <a:rPr lang="ko-KR" altLang="en-US" dirty="0" smtClean="0">
                <a:solidFill>
                  <a:srgbClr val="7030A0"/>
                </a:solidFill>
              </a:rPr>
              <a:t>년 </a:t>
            </a:r>
            <a:r>
              <a:rPr lang="en-US" altLang="ko-KR" dirty="0" smtClean="0">
                <a:solidFill>
                  <a:srgbClr val="7030A0"/>
                </a:solidFill>
              </a:rPr>
              <a:t>7</a:t>
            </a:r>
            <a:r>
              <a:rPr lang="ko-KR" altLang="en-US" dirty="0" smtClean="0">
                <a:solidFill>
                  <a:srgbClr val="7030A0"/>
                </a:solidFill>
              </a:rPr>
              <a:t>월 대비 </a:t>
            </a:r>
            <a:r>
              <a:rPr lang="en-US" altLang="ko-KR" dirty="0" smtClean="0">
                <a:solidFill>
                  <a:srgbClr val="7030A0"/>
                </a:solidFill>
              </a:rPr>
              <a:t>3</a:t>
            </a:r>
            <a:r>
              <a:rPr lang="ko-KR" altLang="en-US" dirty="0" smtClean="0">
                <a:solidFill>
                  <a:srgbClr val="7030A0"/>
                </a:solidFill>
              </a:rPr>
              <a:t>배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이상 증가하였음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최근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2023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12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월에는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700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건으로 </a:t>
            </a:r>
            <a:r>
              <a:rPr lang="ko-KR" altLang="en-US" dirty="0" smtClean="0">
                <a:solidFill>
                  <a:srgbClr val="7030A0"/>
                </a:solidFill>
              </a:rPr>
              <a:t>월 최고 건수를 갱신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함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ko-KR" b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미끄러짐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050" name="Picture 2" descr="https://www.kaggleusercontent.com/kf/224074685/eyJhbGciOiJkaXIiLCJlbmMiOiJBMTI4Q0JDLUhTMjU2In0..mQUVHzi1Hs-Qfp7QaFn6tw.q9ZFeiU105EdpyImd0M4Kr-EWBoNFUMiC9q9M54OytpbzNC-K0pARuajLJIn76ZjDHKHLTh1kslVa3Hnx5sTvHCONTX_6-cod8lidPiX2k9PrHJUVxXcz4sexdMPtVJgAc88eCEwiY6kCI3usrie0St8VqgIuv57N22K82JqdUK6hv43KTMynJ8oC8KFYnZImvUvuQG4tdyNnG5I3RzlOE6uB3ZakrmHl5qa0xB4BdKQOpWZJxZkYCyWjX2V1yjkrV3q2-4kEc5SXr3e6YbRhQSS1TOHTb0QoaOvO3cBTPMeN4wPw1e1HjqfLyltMrDViLZHYhXHCiHm5CMB2SVGo8MYOULdfJw782tcR_Wo7HsSVh5oqsj0eUSEx0O_ZAo6CfyWQ7rIiZi4RA3ik3EWQ8n8GvtTxrOUH6sEbILroD3x_UvsOK3EYVNaKdSPQ2HvsICXClbwYeVJUFU-DAoVeuZj77DpFugFeyh7I9wyV_RHjf5SSEXRHFSr2V5kkzrtLVzO3kRZtnyhTNFwhpNb8UCmHwRg1tEVnimGzvCS1O8mYjjZVeRdYzF3Ht_Ksgmy51x3C8HM_jbdnGFc3m4uasHcvvizFixNh3J50hlZJNzIE2s26-3XHgcDHnSxPNnu.MPsL3yqMlfAroCOCAsLLGg/__results___files/__results___64_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2379864"/>
            <a:ext cx="8674729" cy="38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연결선 7"/>
          <p:cNvCxnSpPr/>
          <p:nvPr/>
        </p:nvCxnSpPr>
        <p:spPr>
          <a:xfrm>
            <a:off x="2360712" y="2636912"/>
            <a:ext cx="0" cy="30243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5313040" y="2564904"/>
            <a:ext cx="576064" cy="432048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360712" y="2852936"/>
            <a:ext cx="1553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‘20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년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9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월 이후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1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년 전 대비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3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배 증가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41190" y="2996952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월 </a:t>
            </a:r>
            <a:r>
              <a:rPr lang="ko-KR" altLang="en-US" sz="1200" b="1" dirty="0" err="1" smtClean="0">
                <a:solidFill>
                  <a:srgbClr val="7030A0"/>
                </a:solidFill>
                <a:latin typeface="+mn-ea"/>
                <a:ea typeface="+mn-ea"/>
              </a:rPr>
              <a:t>최고건수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 갱신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2360712" y="3429000"/>
            <a:ext cx="5760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 flipV="1">
            <a:off x="5889104" y="2852936"/>
            <a:ext cx="216024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8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(3/5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물체에 걸림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과 </a:t>
            </a:r>
            <a:r>
              <a:rPr lang="ko-KR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다른 패턴 보임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  <a:r>
                <a:rPr lang="en-US" altLang="ko-KR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 </a:t>
              </a:r>
              <a:endParaRPr lang="ko-KR" altLang="en-US" sz="1600" b="1" spc="-1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026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12" y="2396237"/>
            <a:ext cx="8546174" cy="391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화살표 연결선 9"/>
          <p:cNvCxnSpPr/>
          <p:nvPr/>
        </p:nvCxnSpPr>
        <p:spPr>
          <a:xfrm>
            <a:off x="2295037" y="2850749"/>
            <a:ext cx="648072" cy="16561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321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(4/5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기타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와 다른 패턴 보임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넘어짐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미끄러림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과 동일한 패턴 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넘어짐</a:t>
              </a: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걸림</a:t>
              </a: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사고유형</a:t>
              </a: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050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88" y="2344122"/>
            <a:ext cx="9001000" cy="396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화살표 연결선 12"/>
          <p:cNvCxnSpPr/>
          <p:nvPr/>
        </p:nvCxnSpPr>
        <p:spPr>
          <a:xfrm flipV="1">
            <a:off x="1784648" y="3140968"/>
            <a:ext cx="2880320" cy="13681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26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  <a:r>
              <a:rPr lang="en-US" altLang="ko-KR" dirty="0" smtClean="0"/>
              <a:t>(5/5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패턴 변화 없이 꾸준하게 사고 발생 중 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486" y="1807726"/>
            <a:ext cx="9287886" cy="4643874"/>
            <a:chOff x="344486" y="1171352"/>
            <a:chExt cx="9287886" cy="5280248"/>
          </a:xfrm>
        </p:grpSpPr>
        <p:sp>
          <p:nvSpPr>
            <p:cNvPr id="7" name="한쪽 모서리가 둥근 사각형 6"/>
            <p:cNvSpPr/>
            <p:nvPr/>
          </p:nvSpPr>
          <p:spPr>
            <a:xfrm>
              <a:off x="344486" y="1171352"/>
              <a:ext cx="4549174" cy="432048"/>
            </a:xfrm>
            <a:prstGeom prst="round1Rect">
              <a:avLst/>
            </a:prstGeom>
            <a:solidFill>
              <a:schemeClr val="bg1">
                <a:lumMod val="50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물체에 맞음</a:t>
              </a:r>
            </a:p>
          </p:txBody>
        </p:sp>
        <p:sp>
          <p:nvSpPr>
            <p:cNvPr id="9" name="한쪽 모서리가 둥근 사각형 8"/>
            <p:cNvSpPr/>
            <p:nvPr/>
          </p:nvSpPr>
          <p:spPr>
            <a:xfrm>
              <a:off x="4940330" y="1209452"/>
              <a:ext cx="4549174" cy="432048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tIns="0" anchor="ctr"/>
            <a:lstStyle/>
            <a:p>
              <a:pPr algn="ctr"/>
              <a:r>
                <a:rPr lang="ko-KR" altLang="en-US" sz="1600" b="1" spc="-15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끼임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4487" y="1603400"/>
              <a:ext cx="9287885" cy="4848200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endParaRPr lang="ko-KR" altLang="en-US" sz="1600" b="1" spc="-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3074" name="Picture 2" descr="https://www.kaggleusercontent.com/kf/224074685/eyJhbGciOiJkaXIiLCJlbmMiOiJBMTI4Q0JDLUhTMjU2In0..9gONLpq4VIQJXhUqFgfFiQ.pAkZpvauqF6aw3yHLUuIAzBdeEUGmD6EVV1_7b5f-LvZHEqs4HupYdW0myZLkaJBUKulpl98Yn46KqfCADq8zPgcNZcqWYSMsEcvTpnejNZcbLkW04_xtZFWHc1bOsQr6nZ7fPpDA83BC-83n0S5-lQ4uL2-uB_SvS1KhPr__tCR4XGH4ouk1FaHN4kpAOegICD9IDjggUZDKJVJhM5u5FC6VU0r0SJiDxaSS9MaTyS_Kn6FCYPDxNTb98zTETAE2iFO9Ak_1uz-RtfJ2r2nV4GdQn15EL0adJ1-NzdehhU57kgbSyLx-sOVGUoWZc3UrIltnCvATISXDXztwC1ngJ8krNjF9GL6aTZ7WZnbjqMJgoosk-A2gFCzfyYRF-q27s6hLVyLfDejklL3AhnTHAGTNeqoVZzki1xwVaRhIXA31DK5E1FaVl3ba-ExWungvejDu4q7e-XUoSQ5s2uxMEHvs182gtDBr3sl9y2V0xzg80y2Ohk6xXEXpkudt_A_lNpVPDVNUSQlzPdiNIXqHFNUd_nvISdiFrsLh9r-joopgqRvhTHo6mV85aSANzCY9pyJT2jfAhlGPGxfiHF6rRcppdaNboZdFyfdgETpcAkzn62druithdmu9Wr08LZN.d9jgUBaa05fE_J9zR7ljDA/__results___files/__results___64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15" y="2324230"/>
            <a:ext cx="8732565" cy="401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화살표 연결선 12"/>
          <p:cNvCxnSpPr/>
          <p:nvPr/>
        </p:nvCxnSpPr>
        <p:spPr>
          <a:xfrm flipV="1">
            <a:off x="1640632" y="3212976"/>
            <a:ext cx="3672408" cy="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20618" y="5085184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데이터와 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데이터의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넘어짐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미끄러짐</a:t>
            </a:r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발생빈도 분포가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상이함 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6753200" y="5301208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98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 및 </a:t>
            </a:r>
            <a:r>
              <a:rPr lang="ko-KR" altLang="en-US" dirty="0" err="1"/>
              <a:t>인사이트</a:t>
            </a:r>
            <a:r>
              <a:rPr lang="ko-KR" altLang="en-US" dirty="0"/>
              <a:t> 도출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카테고리 변수 중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TRAIN</a:t>
            </a:r>
            <a:r>
              <a:rPr lang="ko-KR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또는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TEST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만 있는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항목값이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존재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발견 </a:t>
            </a:r>
            <a:endParaRPr lang="en-US" altLang="ko-KR" b="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78" y="1412776"/>
            <a:ext cx="9054874" cy="4824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41232" y="3724578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TEST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데이터셋에만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존재하는 </a:t>
            </a:r>
            <a:r>
              <a:rPr lang="ko-KR" altLang="en-US" sz="1200" b="1" dirty="0" err="1" smtClean="0">
                <a:solidFill>
                  <a:srgbClr val="7030A0"/>
                </a:solidFill>
                <a:latin typeface="+mn-ea"/>
                <a:ea typeface="+mn-ea"/>
              </a:rPr>
              <a:t>항목값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24808" y="3363379"/>
            <a:ext cx="1577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rgbClr val="7030A0"/>
                </a:solidFill>
                <a:latin typeface="+mn-ea"/>
                <a:ea typeface="+mn-ea"/>
              </a:rPr>
              <a:t>TRAIN </a:t>
            </a:r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데이터셋에만 </a:t>
            </a:r>
            <a:endParaRPr lang="en-US" altLang="ko-KR" sz="1200" b="1" dirty="0" smtClean="0">
              <a:solidFill>
                <a:srgbClr val="7030A0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1200" b="1" dirty="0" smtClean="0">
                <a:solidFill>
                  <a:srgbClr val="7030A0"/>
                </a:solidFill>
                <a:latin typeface="+mn-ea"/>
                <a:ea typeface="+mn-ea"/>
              </a:rPr>
              <a:t>존재하는 </a:t>
            </a:r>
            <a:r>
              <a:rPr lang="ko-KR" altLang="en-US" sz="1200" b="1" dirty="0" err="1" smtClean="0">
                <a:solidFill>
                  <a:srgbClr val="7030A0"/>
                </a:solidFill>
                <a:latin typeface="+mn-ea"/>
                <a:ea typeface="+mn-ea"/>
              </a:rPr>
              <a:t>항목값</a:t>
            </a:r>
            <a:endParaRPr lang="ko-KR" altLang="en-US" sz="1200" b="1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" name="왼쪽 중괄호 1"/>
          <p:cNvSpPr/>
          <p:nvPr/>
        </p:nvSpPr>
        <p:spPr>
          <a:xfrm rot="5400000">
            <a:off x="6398754" y="3406191"/>
            <a:ext cx="360040" cy="1933028"/>
          </a:xfrm>
          <a:prstGeom prst="leftBrace">
            <a:avLst>
              <a:gd name="adj1" fmla="val 2988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4016896" y="3825044"/>
            <a:ext cx="576064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9" idx="2"/>
          </p:cNvCxnSpPr>
          <p:nvPr/>
        </p:nvCxnSpPr>
        <p:spPr>
          <a:xfrm flipH="1">
            <a:off x="3376464" y="3825044"/>
            <a:ext cx="63718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750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인사이트를</a:t>
            </a:r>
            <a:r>
              <a:rPr lang="ko-KR" altLang="en-US" dirty="0" smtClean="0"/>
              <a:t> 활용한 추가 </a:t>
            </a:r>
            <a:r>
              <a:rPr lang="ko-KR" altLang="en-US" dirty="0" err="1" smtClean="0"/>
              <a:t>파생변수</a:t>
            </a:r>
            <a:r>
              <a:rPr lang="ko-KR" altLang="en-US" dirty="0" smtClean="0"/>
              <a:t> 생성 계획 수립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96D8CE-DAFF-415D-8D34-D87C211B3B69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259772" y="5775649"/>
            <a:ext cx="9403904" cy="480408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blurRad="38100" dist="25400" dir="5400000" algn="t" rotWithShape="0">
              <a:prstClr val="black">
                <a:alpha val="5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</a:t>
            </a:r>
            <a:r>
              <a:rPr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개의 후보 </a:t>
            </a:r>
            <a:r>
              <a:rPr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파생변수</a:t>
            </a:r>
            <a:r>
              <a:rPr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생성</a:t>
            </a:r>
            <a:endParaRPr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왼쪽 화살표 58"/>
          <p:cNvSpPr/>
          <p:nvPr/>
        </p:nvSpPr>
        <p:spPr>
          <a:xfrm rot="16200000">
            <a:off x="4732282" y="2312012"/>
            <a:ext cx="518430" cy="6557714"/>
          </a:xfrm>
          <a:prstGeom prst="leftArrow">
            <a:avLst>
              <a:gd name="adj1" fmla="val 67361"/>
              <a:gd name="adj2" fmla="val 383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왼쪽 화살표 19"/>
          <p:cNvSpPr/>
          <p:nvPr/>
        </p:nvSpPr>
        <p:spPr>
          <a:xfrm rot="16200000">
            <a:off x="4722704" y="2281567"/>
            <a:ext cx="518430" cy="6557714"/>
          </a:xfrm>
          <a:prstGeom prst="leftArrow">
            <a:avLst>
              <a:gd name="adj1" fmla="val 67361"/>
              <a:gd name="adj2" fmla="val 38345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50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31000"/>
                </a:schemeClr>
              </a:gs>
              <a:gs pos="100000">
                <a:schemeClr val="bg1">
                  <a:lumMod val="85000"/>
                  <a:shade val="100000"/>
                  <a:satMod val="115000"/>
                  <a:alpha val="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408711" y="1268760"/>
            <a:ext cx="4499494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r>
              <a:rPr lang="en-US" altLang="ko-KR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사고유형별 상이한 발생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트랜드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발견 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997797" y="1268760"/>
            <a:ext cx="4499494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r>
              <a:rPr lang="en-US" altLang="ko-KR" sz="1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카테고리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항목값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상이</a:t>
            </a:r>
            <a:endParaRPr lang="ko-KR" altLang="en-US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408711" y="1616877"/>
            <a:ext cx="4499494" cy="176017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93663" indent="-93663" latinLnBrk="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급격하게 발생빈도가 증가하고 있는 사고유형</a:t>
            </a:r>
            <a:r>
              <a:rPr lang="ko-KR" altLang="en-US" sz="1200" spc="-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넘어짐 </a:t>
            </a:r>
            <a:r>
              <a:rPr lang="en-US" altLang="ko-KR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미끄러짐</a:t>
            </a:r>
            <a:r>
              <a:rPr lang="en-US" altLang="ko-KR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93663" indent="-93663" latinLnBrk="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과거에는 발생했지만 현재에는 발생빈도가 낮은 사고유형 </a:t>
            </a:r>
            <a:r>
              <a:rPr lang="en-US" altLang="ko-KR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넘어짐 </a:t>
            </a:r>
            <a:r>
              <a:rPr lang="en-US" altLang="ko-KR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기타</a:t>
            </a:r>
            <a:r>
              <a:rPr lang="en-US" altLang="ko-KR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spc="-1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3663" indent="-93663" latinLnBrk="0">
              <a:spcBef>
                <a:spcPts val="600"/>
              </a:spcBef>
              <a:buFont typeface="Arial" pitchFamily="34" charset="0"/>
              <a:buChar char="•"/>
            </a:pPr>
            <a:r>
              <a:rPr lang="ko-KR" altLang="en-US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과거와 현재에 꾸준하게 사고가 발생하는 사고유형 </a:t>
            </a:r>
            <a:r>
              <a:rPr lang="en-US" altLang="ko-KR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spc="-1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물체에 맞음</a:t>
            </a:r>
            <a:endParaRPr lang="en-US" altLang="ko-KR" sz="1200" spc="-1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3663" indent="-93663" latinLnBrk="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200" spc="-1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4997797" y="1616877"/>
            <a:ext cx="4499494" cy="176017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카테고리 변수 중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TRAIN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또는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TEST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만 있는 </a:t>
            </a:r>
            <a:r>
              <a:rPr lang="ko-KR" altLang="en-US" sz="12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항목값이</a:t>
            </a:r>
            <a:r>
              <a:rPr lang="ko-KR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존재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발견 </a:t>
            </a:r>
            <a:endParaRPr lang="en-US" altLang="ko-KR" sz="1200" dirty="0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404486" y="3428554"/>
            <a:ext cx="2962480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r>
              <a:rPr lang="en-US" altLang="ko-KR" sz="1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인사이트</a:t>
            </a:r>
            <a:r>
              <a:rPr lang="en-US" altLang="ko-KR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472296" y="3428554"/>
            <a:ext cx="2962480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r>
              <a:rPr lang="en-US" altLang="ko-KR" sz="1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인사이트</a:t>
            </a:r>
            <a:r>
              <a:rPr lang="en-US" altLang="ko-KR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545201" y="3428554"/>
            <a:ext cx="2962480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r>
              <a:rPr lang="en-US" altLang="ko-KR" sz="1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인사이트</a:t>
            </a:r>
            <a:r>
              <a:rPr lang="en-US" altLang="ko-KR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404486" y="3772828"/>
            <a:ext cx="2962480" cy="14563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latinLnBrk="0">
              <a:spcBef>
                <a:spcPts val="600"/>
              </a:spcBef>
            </a:pPr>
            <a:endParaRPr lang="en-US" altLang="ko-KR" sz="1200" b="1" spc="-1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3472296" y="3772828"/>
            <a:ext cx="2962480" cy="14563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endParaRPr lang="ko-KR" altLang="en-US" sz="14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6545201" y="3772828"/>
            <a:ext cx="2962480" cy="14563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93663" lvl="0" indent="-93663" latinLnBrk="0">
              <a:spcBef>
                <a:spcPts val="600"/>
              </a:spcBef>
              <a:buFont typeface="Arial" pitchFamily="34" charset="0"/>
              <a:buChar char="•"/>
            </a:pPr>
            <a:endParaRPr lang="ko-KR" altLang="en-US" sz="12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내용 개체 틀 50"/>
          <p:cNvSpPr>
            <a:spLocks noGrp="1"/>
          </p:cNvSpPr>
          <p:nvPr>
            <p:ph idx="1"/>
          </p:nvPr>
        </p:nvSpPr>
        <p:spPr>
          <a:xfrm>
            <a:off x="272480" y="764704"/>
            <a:ext cx="9433048" cy="473611"/>
          </a:xfrm>
        </p:spPr>
        <p:txBody>
          <a:bodyPr/>
          <a:lstStyle/>
          <a:p>
            <a:r>
              <a:rPr lang="ko-KR" altLang="en-US" b="0" dirty="0" smtClean="0"/>
              <a:t>총 </a:t>
            </a:r>
            <a:r>
              <a:rPr lang="en-US" altLang="ko-KR" b="0" dirty="0" smtClean="0"/>
              <a:t>N</a:t>
            </a:r>
            <a:r>
              <a:rPr lang="ko-KR" altLang="en-US" b="0" dirty="0" smtClean="0"/>
              <a:t>개의 </a:t>
            </a:r>
            <a:r>
              <a:rPr lang="ko-KR" altLang="en-US" b="0" dirty="0" err="1" smtClean="0"/>
              <a:t>인사이트를</a:t>
            </a:r>
            <a:r>
              <a:rPr lang="ko-KR" altLang="en-US" b="0" dirty="0" smtClean="0"/>
              <a:t> 활용하여 </a:t>
            </a:r>
            <a:r>
              <a:rPr lang="en-US" altLang="ko-KR" b="0" dirty="0" smtClean="0"/>
              <a:t>N</a:t>
            </a:r>
            <a:r>
              <a:rPr lang="ko-KR" altLang="en-US" b="0" dirty="0" smtClean="0"/>
              <a:t>개의 후보 </a:t>
            </a:r>
            <a:r>
              <a:rPr lang="ko-KR" altLang="en-US" b="0" dirty="0" err="1" smtClean="0"/>
              <a:t>파생변수를</a:t>
            </a:r>
            <a:r>
              <a:rPr lang="ko-KR" altLang="en-US" b="0" dirty="0" smtClean="0"/>
              <a:t> 생성하여 </a:t>
            </a:r>
            <a:r>
              <a:rPr lang="ko-KR" altLang="en-US" b="0" dirty="0" err="1" smtClean="0"/>
              <a:t>실험계획를</a:t>
            </a:r>
            <a:r>
              <a:rPr lang="ko-KR" altLang="en-US" b="0" dirty="0" smtClean="0"/>
              <a:t> 수립  </a:t>
            </a:r>
            <a:endParaRPr lang="en-US" altLang="ko-KR" b="0" u="sng" dirty="0" smtClean="0">
              <a:solidFill>
                <a:srgbClr val="C0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049344" y="197805"/>
            <a:ext cx="1584176" cy="36004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F0000"/>
                </a:solidFill>
              </a:rPr>
              <a:t>스토리텔링이 중요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016896" y="3662671"/>
            <a:ext cx="3312368" cy="34239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AutoNum type="romanUcPeriod"/>
            </a:pPr>
            <a:r>
              <a:rPr lang="ko-KR" altLang="en-US" sz="1600" dirty="0" smtClean="0"/>
              <a:t>배경 및 현황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분석 대상 및 목적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데이터 개요 및 전처리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/>
              <a:t>데이터 </a:t>
            </a:r>
            <a:r>
              <a:rPr lang="ko-KR" altLang="en-US" sz="1600" dirty="0" smtClean="0"/>
              <a:t>탐색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인사이트</a:t>
            </a:r>
            <a:r>
              <a:rPr lang="ko-KR" altLang="en-US" sz="1600" dirty="0" smtClean="0"/>
              <a:t> 도출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설계 </a:t>
            </a:r>
            <a:endParaRPr lang="en-US" altLang="ko-KR" sz="1600" dirty="0" smtClean="0"/>
          </a:p>
          <a:p>
            <a:pPr marL="400050" indent="-400050">
              <a:buFont typeface="+mj-lt"/>
              <a:buAutoNum type="romanUcPeriod"/>
            </a:pPr>
            <a:r>
              <a:rPr lang="ko-KR" altLang="en-US" sz="1600" dirty="0"/>
              <a:t>데이터 탐색</a:t>
            </a:r>
            <a:r>
              <a:rPr lang="en-US" altLang="ko-KR" sz="1600" dirty="0"/>
              <a:t>2 (</a:t>
            </a:r>
            <a:r>
              <a:rPr lang="ko-KR" altLang="en-US" sz="1600" dirty="0"/>
              <a:t>오차 분석</a:t>
            </a:r>
            <a:r>
              <a:rPr lang="en-US" altLang="ko-KR" sz="1600" dirty="0" smtClean="0"/>
              <a:t>)</a:t>
            </a:r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정교화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결론 </a:t>
            </a:r>
            <a:r>
              <a:rPr lang="ko-KR" altLang="en-US" sz="1600" dirty="0"/>
              <a:t>및 시사점</a:t>
            </a:r>
            <a:r>
              <a:rPr lang="ko-KR" altLang="en-US" sz="1600" dirty="0" smtClean="0"/>
              <a:t> 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○○○</a:t>
            </a:r>
            <a:r>
              <a:rPr lang="en-US" altLang="ko-KR" dirty="0" smtClean="0"/>
              <a:t> </a:t>
            </a:r>
            <a:r>
              <a:rPr lang="ko-KR" altLang="en-US" dirty="0"/>
              <a:t>경진대회 참여 후기</a:t>
            </a:r>
          </a:p>
        </p:txBody>
      </p:sp>
    </p:spTree>
    <p:extLst>
      <p:ext uri="{BB962C8B-B14F-4D97-AF65-F5344CB8AC3E}">
        <p14:creationId xmlns:p14="http://schemas.microsoft.com/office/powerpoint/2010/main" val="318405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모델 성능 검증 전략 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a. </a:t>
            </a:r>
            <a:r>
              <a:rPr lang="ko-KR" altLang="en-US" dirty="0" smtClean="0"/>
              <a:t>이슈 </a:t>
            </a:r>
            <a:r>
              <a:rPr lang="en-US" altLang="ko-KR" dirty="0" smtClean="0"/>
              <a:t>: test inference time </a:t>
            </a:r>
            <a:r>
              <a:rPr lang="en-US" altLang="ko-KR" dirty="0" smtClean="0">
                <a:sym typeface="Wingdings" panose="05000000000000000000" pitchFamily="2" charset="2"/>
              </a:rPr>
              <a:t></a:t>
            </a:r>
            <a:r>
              <a:rPr lang="en-US" altLang="ko-KR" dirty="0" smtClean="0"/>
              <a:t> 2hr , valid inference time </a:t>
            </a:r>
            <a:r>
              <a:rPr lang="en-US" altLang="ko-KR" dirty="0" smtClean="0">
                <a:sym typeface="Wingdings" panose="05000000000000000000" pitchFamily="2" charset="2"/>
              </a:rPr>
              <a:t> 10mins </a:t>
            </a:r>
            <a:endParaRPr lang="en-US" altLang="ko-KR" dirty="0" smtClean="0"/>
          </a:p>
          <a:p>
            <a:r>
              <a:rPr lang="en-US" altLang="ko-KR" dirty="0" smtClean="0"/>
              <a:t>- TEST </a:t>
            </a:r>
            <a:r>
              <a:rPr lang="ko-KR" altLang="en-US" dirty="0" err="1" smtClean="0"/>
              <a:t>데이터셋과</a:t>
            </a:r>
            <a:r>
              <a:rPr lang="ko-KR" altLang="en-US" dirty="0" smtClean="0"/>
              <a:t> 동일한 분포를 가지고 있는 </a:t>
            </a:r>
            <a:r>
              <a:rPr lang="en-US" altLang="ko-KR" dirty="0" smtClean="0"/>
              <a:t>VALID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생성 </a:t>
            </a:r>
            <a:endParaRPr lang="en-US" altLang="ko-KR" dirty="0" smtClean="0"/>
          </a:p>
          <a:p>
            <a:r>
              <a:rPr lang="en-US" altLang="ko-KR" dirty="0" smtClean="0"/>
              <a:t>- VALID </a:t>
            </a:r>
            <a:r>
              <a:rPr lang="ko-KR" altLang="en-US" dirty="0" smtClean="0"/>
              <a:t>데이터셋에서 오차 성능 개선 발견 시 </a:t>
            </a:r>
            <a:r>
              <a:rPr lang="en-US" altLang="ko-KR" dirty="0" smtClean="0"/>
              <a:t>TEST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예측값</a:t>
            </a:r>
            <a:r>
              <a:rPr lang="ko-KR" altLang="en-US" dirty="0" smtClean="0"/>
              <a:t> 생성 후 </a:t>
            </a:r>
            <a:r>
              <a:rPr lang="en-US" altLang="ko-KR" dirty="0" smtClean="0"/>
              <a:t>SUMMIT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2132856"/>
            <a:ext cx="4244390" cy="244600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156" y="2132856"/>
            <a:ext cx="4138316" cy="244801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96" y="4005549"/>
            <a:ext cx="4198304" cy="216321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157" y="4016842"/>
            <a:ext cx="4138315" cy="214846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l="88221" t="7466" r="1388" b="77937"/>
          <a:stretch/>
        </p:blipFill>
        <p:spPr>
          <a:xfrm>
            <a:off x="3997925" y="2119070"/>
            <a:ext cx="864096" cy="69950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l="88221" t="7466" r="1388" b="77937"/>
          <a:stretch/>
        </p:blipFill>
        <p:spPr>
          <a:xfrm>
            <a:off x="3997925" y="4016842"/>
            <a:ext cx="864096" cy="69950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rcRect l="88221" t="7466" r="1388" b="77937"/>
          <a:stretch/>
        </p:blipFill>
        <p:spPr>
          <a:xfrm>
            <a:off x="8509175" y="2119070"/>
            <a:ext cx="864096" cy="69950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8221" t="7466" r="1388" b="77937"/>
          <a:stretch/>
        </p:blipFill>
        <p:spPr>
          <a:xfrm>
            <a:off x="8509175" y="4016842"/>
            <a:ext cx="864096" cy="69950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84200" y="1995368"/>
            <a:ext cx="22621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+mn-lt"/>
              </a:rPr>
              <a:t>{</a:t>
            </a:r>
            <a:r>
              <a:rPr lang="ko-KR" altLang="en-US" b="1" dirty="0" err="1" smtClean="0">
                <a:latin typeface="+mn-lt"/>
              </a:rPr>
              <a:t>공사종류</a:t>
            </a:r>
            <a:r>
              <a:rPr lang="en-US" altLang="ko-KR" b="1" dirty="0" smtClean="0">
                <a:latin typeface="+mn-lt"/>
              </a:rPr>
              <a:t>}</a:t>
            </a:r>
            <a:r>
              <a:rPr lang="ko-KR" altLang="en-US" b="1" dirty="0" smtClean="0">
                <a:latin typeface="+mn-lt"/>
              </a:rPr>
              <a:t> 분포 비교</a:t>
            </a:r>
            <a:endParaRPr lang="ko-KR" altLang="en-US" b="1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81350" y="1995368"/>
            <a:ext cx="22621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+mn-lt"/>
              </a:rPr>
              <a:t>{</a:t>
            </a:r>
            <a:r>
              <a:rPr lang="ko-KR" altLang="en-US" b="1" dirty="0" err="1" smtClean="0">
                <a:latin typeface="+mn-lt"/>
              </a:rPr>
              <a:t>인적사고</a:t>
            </a:r>
            <a:r>
              <a:rPr lang="en-US" altLang="ko-KR" b="1" dirty="0" smtClean="0">
                <a:latin typeface="+mn-lt"/>
              </a:rPr>
              <a:t>}</a:t>
            </a:r>
            <a:r>
              <a:rPr lang="ko-KR" altLang="en-US" b="1" dirty="0" smtClean="0">
                <a:latin typeface="+mn-lt"/>
              </a:rPr>
              <a:t> 분포 비교</a:t>
            </a:r>
            <a:endParaRPr lang="ko-KR" altLang="en-US" b="1" dirty="0"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84200" y="4005549"/>
            <a:ext cx="22621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+mn-lt"/>
              </a:rPr>
              <a:t>{</a:t>
            </a:r>
            <a:r>
              <a:rPr lang="ko-KR" altLang="en-US" b="1" dirty="0" err="1" smtClean="0">
                <a:latin typeface="+mn-lt"/>
              </a:rPr>
              <a:t>사고장소</a:t>
            </a:r>
            <a:r>
              <a:rPr lang="en-US" altLang="ko-KR" b="1" dirty="0" smtClean="0">
                <a:latin typeface="+mn-lt"/>
              </a:rPr>
              <a:t>}</a:t>
            </a:r>
            <a:r>
              <a:rPr lang="ko-KR" altLang="en-US" b="1" dirty="0" smtClean="0">
                <a:latin typeface="+mn-lt"/>
              </a:rPr>
              <a:t> 분포 비교</a:t>
            </a:r>
            <a:endParaRPr lang="ko-KR" altLang="en-US" b="1" dirty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81350" y="4005549"/>
            <a:ext cx="22621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+mn-lt"/>
              </a:rPr>
              <a:t>{</a:t>
            </a:r>
            <a:r>
              <a:rPr lang="ko-KR" altLang="en-US" b="1" dirty="0" smtClean="0">
                <a:latin typeface="+mn-lt"/>
              </a:rPr>
              <a:t>사고원인</a:t>
            </a:r>
            <a:r>
              <a:rPr lang="en-US" altLang="ko-KR" b="1" dirty="0" smtClean="0">
                <a:latin typeface="+mn-lt"/>
              </a:rPr>
              <a:t>}</a:t>
            </a:r>
            <a:r>
              <a:rPr lang="ko-KR" altLang="en-US" b="1" dirty="0" smtClean="0">
                <a:latin typeface="+mn-lt"/>
              </a:rPr>
              <a:t> 분포 비교</a:t>
            </a:r>
            <a:endParaRPr lang="ko-KR" alt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6073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기초 모델 설계 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481392" y="197805"/>
            <a:ext cx="1152128" cy="36004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</a:rPr>
              <a:t>example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1340768"/>
            <a:ext cx="3456384" cy="4896544"/>
          </a:xfrm>
          <a:prstGeom prst="roundRect">
            <a:avLst>
              <a:gd name="adj" fmla="val 862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 smtClean="0">
                <a:solidFill>
                  <a:schemeClr val="tx1"/>
                </a:solidFill>
              </a:rPr>
              <a:t>□ 서버 학습 환경 </a:t>
            </a:r>
            <a:r>
              <a:rPr lang="en-US" altLang="ko-KR" sz="1050" b="1" dirty="0" smtClean="0">
                <a:solidFill>
                  <a:schemeClr val="tx1"/>
                </a:solidFill>
              </a:rPr>
              <a:t>: </a:t>
            </a:r>
            <a:r>
              <a:rPr lang="en-US" altLang="ko-KR" sz="1050" b="1" dirty="0" err="1" smtClean="0">
                <a:solidFill>
                  <a:schemeClr val="tx1"/>
                </a:solidFill>
              </a:rPr>
              <a:t>Colab</a:t>
            </a:r>
            <a:r>
              <a:rPr lang="en-US" altLang="ko-KR" sz="1050" b="1" dirty="0" smtClean="0">
                <a:solidFill>
                  <a:schemeClr val="tx1"/>
                </a:solidFill>
              </a:rPr>
              <a:t> PRO+ : A100 VRAM 40G x 1</a:t>
            </a:r>
            <a:r>
              <a:rPr lang="ko-KR" altLang="en-US" sz="1050" b="1" dirty="0" smtClean="0">
                <a:solidFill>
                  <a:schemeClr val="tx1"/>
                </a:solidFill>
              </a:rPr>
              <a:t>개 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en-US" altLang="ko-KR" sz="1200" b="1" dirty="0" smtClean="0">
                <a:solidFill>
                  <a:schemeClr val="accent4"/>
                </a:solidFill>
              </a:rPr>
              <a:t>1</a:t>
            </a:r>
            <a:r>
              <a:rPr lang="en-US" altLang="ko-KR" sz="1200" b="1" dirty="0">
                <a:solidFill>
                  <a:schemeClr val="accent4"/>
                </a:solidFill>
              </a:rPr>
              <a:t>. Vector Store </a:t>
            </a:r>
            <a:r>
              <a:rPr lang="ko-KR" altLang="en-US" sz="1200" b="1" dirty="0">
                <a:solidFill>
                  <a:schemeClr val="accent4"/>
                </a:solidFill>
              </a:rPr>
              <a:t>생성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Q:A </a:t>
            </a:r>
            <a:r>
              <a:rPr lang="ko-KR" altLang="en-US" sz="1050" dirty="0">
                <a:solidFill>
                  <a:schemeClr val="tx1"/>
                </a:solidFill>
              </a:rPr>
              <a:t>데이터 생성 </a:t>
            </a:r>
            <a:r>
              <a:rPr lang="en-US" altLang="ko-KR" sz="1050" dirty="0">
                <a:solidFill>
                  <a:schemeClr val="tx1"/>
                </a:solidFill>
              </a:rPr>
              <a:t>-&gt; </a:t>
            </a:r>
            <a:r>
              <a:rPr lang="ko-KR" altLang="en-US" sz="1050" dirty="0" err="1">
                <a:solidFill>
                  <a:schemeClr val="tx1"/>
                </a:solidFill>
              </a:rPr>
              <a:t>임베딩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-&gt; vector store </a:t>
            </a:r>
            <a:r>
              <a:rPr lang="ko-KR" altLang="en-US" sz="1050" dirty="0">
                <a:solidFill>
                  <a:schemeClr val="tx1"/>
                </a:solidFill>
              </a:rPr>
              <a:t>문서 추가 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 err="1">
                <a:solidFill>
                  <a:schemeClr val="tx1"/>
                </a:solidFill>
              </a:rPr>
              <a:t>임베딩</a:t>
            </a:r>
            <a:r>
              <a:rPr lang="ko-KR" altLang="en-US" sz="1050" dirty="0">
                <a:solidFill>
                  <a:schemeClr val="tx1"/>
                </a:solidFill>
              </a:rPr>
              <a:t> 모델 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err="1">
                <a:solidFill>
                  <a:schemeClr val="tx1"/>
                </a:solidFill>
              </a:rPr>
              <a:t>jhgan</a:t>
            </a:r>
            <a:r>
              <a:rPr lang="en-US" altLang="ko-KR" sz="1050" dirty="0">
                <a:solidFill>
                  <a:schemeClr val="tx1"/>
                </a:solidFill>
              </a:rPr>
              <a:t>/</a:t>
            </a:r>
            <a:r>
              <a:rPr lang="en-US" altLang="ko-KR" sz="1050" dirty="0" err="1">
                <a:solidFill>
                  <a:schemeClr val="tx1"/>
                </a:solidFill>
              </a:rPr>
              <a:t>ko-sbert-nli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en-US" altLang="ko-KR" sz="1050" dirty="0" err="1">
                <a:solidFill>
                  <a:schemeClr val="tx1"/>
                </a:solidFill>
              </a:rPr>
              <a:t>HuggingFaceEmbeddings</a:t>
            </a:r>
            <a:endParaRPr lang="ko-KR" altLang="en-US" sz="1050" dirty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b="1" dirty="0">
                <a:solidFill>
                  <a:schemeClr val="accent4"/>
                </a:solidFill>
              </a:rPr>
              <a:t>2. Retriever (</a:t>
            </a:r>
            <a:r>
              <a:rPr lang="ko-KR" altLang="en-US" sz="1050" b="1" dirty="0">
                <a:solidFill>
                  <a:schemeClr val="accent4"/>
                </a:solidFill>
              </a:rPr>
              <a:t>검색기 설정</a:t>
            </a:r>
            <a:r>
              <a:rPr lang="en-US" altLang="ko-KR" sz="1050" b="1" dirty="0">
                <a:solidFill>
                  <a:schemeClr val="accent4"/>
                </a:solidFill>
              </a:rPr>
              <a:t>)</a:t>
            </a:r>
            <a:endParaRPr lang="ko-KR" altLang="en-US" sz="1050" b="1" dirty="0">
              <a:solidFill>
                <a:schemeClr val="accent4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검색기 </a:t>
            </a:r>
            <a:r>
              <a:rPr lang="en-US" altLang="ko-KR" sz="1050" dirty="0">
                <a:solidFill>
                  <a:schemeClr val="tx1"/>
                </a:solidFill>
              </a:rPr>
              <a:t>: FAISS 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 err="1">
                <a:solidFill>
                  <a:schemeClr val="tx1"/>
                </a:solidFill>
              </a:rPr>
              <a:t>검색옵션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err="1">
                <a:solidFill>
                  <a:schemeClr val="tx1"/>
                </a:solidFill>
              </a:rPr>
              <a:t>search_type</a:t>
            </a:r>
            <a:r>
              <a:rPr lang="en-US" altLang="ko-KR" sz="1050" dirty="0">
                <a:solidFill>
                  <a:schemeClr val="tx1"/>
                </a:solidFill>
              </a:rPr>
              <a:t>="similarity", </a:t>
            </a:r>
            <a:r>
              <a:rPr lang="en-US" altLang="ko-KR" sz="1050" dirty="0" err="1">
                <a:solidFill>
                  <a:schemeClr val="tx1"/>
                </a:solidFill>
              </a:rPr>
              <a:t>search_kwargs</a:t>
            </a:r>
            <a:r>
              <a:rPr lang="en-US" altLang="ko-KR" sz="1050" dirty="0">
                <a:solidFill>
                  <a:schemeClr val="tx1"/>
                </a:solidFill>
              </a:rPr>
              <a:t>={"k": 5}</a:t>
            </a:r>
            <a:endParaRPr lang="ko-KR" altLang="en-US" sz="1050" dirty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b="1" dirty="0">
                <a:solidFill>
                  <a:schemeClr val="accent4"/>
                </a:solidFill>
              </a:rPr>
              <a:t>3. Pertained LLM model </a:t>
            </a:r>
            <a:r>
              <a:rPr lang="ko-KR" altLang="en-US" sz="1050" b="1" dirty="0">
                <a:solidFill>
                  <a:schemeClr val="accent4"/>
                </a:solidFill>
              </a:rPr>
              <a:t>호출 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후보</a:t>
            </a:r>
            <a:r>
              <a:rPr lang="en-US" altLang="ko-KR" sz="1050" dirty="0">
                <a:solidFill>
                  <a:schemeClr val="tx1"/>
                </a:solidFill>
              </a:rPr>
              <a:t>1: MLP-</a:t>
            </a:r>
            <a:r>
              <a:rPr lang="en-US" altLang="ko-KR" sz="1050" dirty="0" err="1">
                <a:solidFill>
                  <a:schemeClr val="tx1"/>
                </a:solidFill>
              </a:rPr>
              <a:t>KTLim</a:t>
            </a:r>
            <a:r>
              <a:rPr lang="en-US" altLang="ko-KR" sz="1050" dirty="0">
                <a:solidFill>
                  <a:schemeClr val="tx1"/>
                </a:solidFill>
              </a:rPr>
              <a:t>/llama-3-Korean-Bllossom-8B (16bit)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후보</a:t>
            </a:r>
            <a:r>
              <a:rPr lang="en-US" altLang="ko-KR" sz="1050" dirty="0">
                <a:solidFill>
                  <a:schemeClr val="tx1"/>
                </a:solidFill>
              </a:rPr>
              <a:t>2: NCSOFT/Llama-VARCO-8B-Instruct (16bit)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후보</a:t>
            </a:r>
            <a:r>
              <a:rPr lang="en-US" altLang="ko-KR" sz="1050" dirty="0">
                <a:solidFill>
                  <a:schemeClr val="tx1"/>
                </a:solidFill>
              </a:rPr>
              <a:t>3: </a:t>
            </a:r>
            <a:r>
              <a:rPr lang="en-US" altLang="ko-KR" sz="1050" dirty="0" err="1">
                <a:solidFill>
                  <a:schemeClr val="tx1"/>
                </a:solidFill>
              </a:rPr>
              <a:t>hwkwon</a:t>
            </a:r>
            <a:r>
              <a:rPr lang="en-US" altLang="ko-KR" sz="1050" dirty="0">
                <a:solidFill>
                  <a:schemeClr val="tx1"/>
                </a:solidFill>
              </a:rPr>
              <a:t>/S-SOLAR-10.7B-v1.5 (16bit)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 err="1">
                <a:solidFill>
                  <a:schemeClr val="tx1"/>
                </a:solidFill>
              </a:rPr>
              <a:t>모델옵션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: temperature=0.1, </a:t>
            </a:r>
            <a:r>
              <a:rPr lang="en-US" altLang="ko-KR" sz="1050" dirty="0" err="1" smtClean="0">
                <a:solidFill>
                  <a:schemeClr val="tx1"/>
                </a:solidFill>
              </a:rPr>
              <a:t>ax_new_tokens</a:t>
            </a:r>
            <a:r>
              <a:rPr lang="en-US" altLang="ko-KR" sz="1050" dirty="0" smtClean="0">
                <a:solidFill>
                  <a:schemeClr val="tx1"/>
                </a:solidFill>
              </a:rPr>
              <a:t>=70</a:t>
            </a:r>
            <a:endParaRPr lang="ko-KR" altLang="en-US" sz="1050" dirty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b="1" dirty="0">
                <a:solidFill>
                  <a:schemeClr val="accent4"/>
                </a:solidFill>
              </a:rPr>
              <a:t>4. </a:t>
            </a:r>
            <a:r>
              <a:rPr lang="ko-KR" altLang="en-US" sz="1050" b="1" dirty="0">
                <a:solidFill>
                  <a:schemeClr val="accent4"/>
                </a:solidFill>
              </a:rPr>
              <a:t>프롬프트 설계 </a:t>
            </a:r>
          </a:p>
          <a:p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b="1" dirty="0">
                <a:solidFill>
                  <a:schemeClr val="accent4"/>
                </a:solidFill>
              </a:rPr>
              <a:t>5. RAG Chain </a:t>
            </a:r>
            <a:r>
              <a:rPr lang="ko-KR" altLang="en-US" sz="1050" b="1" dirty="0">
                <a:solidFill>
                  <a:schemeClr val="accent4"/>
                </a:solidFill>
              </a:rPr>
              <a:t>설계 </a:t>
            </a:r>
            <a:r>
              <a:rPr lang="en-US" altLang="ko-KR" sz="1050" b="1" dirty="0">
                <a:solidFill>
                  <a:schemeClr val="accent4"/>
                </a:solidFill>
              </a:rPr>
              <a:t>(Retriever -&gt; LLM)</a:t>
            </a:r>
            <a:endParaRPr lang="ko-KR" altLang="en-US" sz="1050" b="1" dirty="0">
              <a:solidFill>
                <a:schemeClr val="accent4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패키지 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err="1">
                <a:solidFill>
                  <a:schemeClr val="tx1"/>
                </a:solidFill>
              </a:rPr>
              <a:t>LangChain.RetrievalQA</a:t>
            </a:r>
            <a:endParaRPr lang="ko-KR" altLang="en-US" sz="1050" dirty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b="1" dirty="0">
                <a:solidFill>
                  <a:schemeClr val="accent4"/>
                </a:solidFill>
              </a:rPr>
              <a:t>6. Inference</a:t>
            </a:r>
            <a:endParaRPr lang="ko-KR" altLang="en-US" sz="1050" b="1" dirty="0">
              <a:solidFill>
                <a:schemeClr val="accent4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패키지 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err="1" smtClean="0">
                <a:solidFill>
                  <a:schemeClr val="tx1"/>
                </a:solidFill>
              </a:rPr>
              <a:t>vLLM</a:t>
            </a:r>
            <a:r>
              <a:rPr lang="en-US" altLang="ko-KR" sz="1050" dirty="0" smtClean="0">
                <a:solidFill>
                  <a:schemeClr val="tx1"/>
                </a:solidFill>
              </a:rPr>
              <a:t>  (valid: 11min, test: 45min)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010" y="1124744"/>
            <a:ext cx="514350" cy="419100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/>
        </p:nvSpPr>
        <p:spPr>
          <a:xfrm>
            <a:off x="4304928" y="1340768"/>
            <a:ext cx="4968552" cy="4896544"/>
          </a:xfrm>
          <a:prstGeom prst="roundRect">
            <a:avLst>
              <a:gd name="adj" fmla="val 5881"/>
            </a:avLst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tx1"/>
                </a:solidFill>
              </a:rPr>
              <a:t/>
            </a:r>
            <a:br>
              <a:rPr lang="ko-KR" altLang="en-US" sz="1050" dirty="0">
                <a:solidFill>
                  <a:schemeClr val="tx1"/>
                </a:solidFill>
              </a:rPr>
            </a:br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### </a:t>
            </a:r>
            <a:r>
              <a:rPr lang="ko-KR" altLang="en-US" sz="1050" dirty="0">
                <a:solidFill>
                  <a:schemeClr val="tx1"/>
                </a:solidFill>
              </a:rPr>
              <a:t>지침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ko-KR" altLang="en-US" sz="1050" dirty="0">
                <a:solidFill>
                  <a:schemeClr val="tx1"/>
                </a:solidFill>
              </a:rPr>
              <a:t>당신은 건설 안전 전문가입니다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답변은 존댓말을 절대 사용하지 마세요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질문에 대한 답변을 핵심 내용만 요약하여 간략하게 핵심만 작성하세요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중복되는 말 제거하세요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프롬프트에 제공된 내용을 절대로 답변에 복사하지 마세요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중요</a:t>
            </a:r>
            <a:r>
              <a:rPr lang="en-US" altLang="ko-KR" sz="1050" dirty="0">
                <a:solidFill>
                  <a:schemeClr val="tx1"/>
                </a:solidFill>
              </a:rPr>
              <a:t>!! </a:t>
            </a:r>
            <a:r>
              <a:rPr lang="ko-KR" altLang="en-US" sz="1050" dirty="0">
                <a:solidFill>
                  <a:schemeClr val="tx1"/>
                </a:solidFill>
              </a:rPr>
              <a:t>마지막에 답변을 </a:t>
            </a:r>
            <a:r>
              <a:rPr lang="en-US" altLang="ko-KR" sz="1050" dirty="0">
                <a:solidFill>
                  <a:schemeClr val="tx1"/>
                </a:solidFill>
              </a:rPr>
              <a:t>30~40</a:t>
            </a:r>
            <a:r>
              <a:rPr lang="ko-KR" altLang="en-US" sz="1050" dirty="0">
                <a:solidFill>
                  <a:schemeClr val="tx1"/>
                </a:solidFill>
              </a:rPr>
              <a:t>자 내외로 요약하세요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/>
            </a:r>
            <a:br>
              <a:rPr lang="ko-KR" altLang="en-US" sz="1050" dirty="0">
                <a:solidFill>
                  <a:schemeClr val="tx1"/>
                </a:solidFill>
              </a:rPr>
            </a:br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### </a:t>
            </a:r>
            <a:r>
              <a:rPr lang="ko-KR" altLang="en-US" sz="1050" dirty="0">
                <a:solidFill>
                  <a:schemeClr val="tx1"/>
                </a:solidFill>
              </a:rPr>
              <a:t>다음과 같은 불필요한 내용은 절대 포함하지 마세요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사고 원인 분석 및 재발 방지 대책</a:t>
            </a: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사고 원인 분석 결과</a:t>
            </a: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>
                <a:solidFill>
                  <a:schemeClr val="tx1"/>
                </a:solidFill>
              </a:rPr>
              <a:t>다음과 같은 조치를 취할 것을 제안합니다</a:t>
            </a:r>
          </a:p>
          <a:p>
            <a:r>
              <a:rPr lang="ko-KR" altLang="en-US" sz="1050" dirty="0">
                <a:solidFill>
                  <a:schemeClr val="tx1"/>
                </a:solidFill>
              </a:rPr>
              <a:t/>
            </a:r>
            <a:br>
              <a:rPr lang="ko-KR" altLang="en-US" sz="1050" dirty="0">
                <a:solidFill>
                  <a:schemeClr val="tx1"/>
                </a:solidFill>
              </a:rPr>
            </a:br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### </a:t>
            </a:r>
            <a:r>
              <a:rPr lang="ko-KR" altLang="en-US" sz="1050" dirty="0">
                <a:solidFill>
                  <a:schemeClr val="tx1"/>
                </a:solidFill>
              </a:rPr>
              <a:t>사고 개요</a:t>
            </a:r>
            <a:r>
              <a:rPr lang="en-US" altLang="ko-KR" sz="1050" dirty="0">
                <a:solidFill>
                  <a:schemeClr val="tx1"/>
                </a:solidFill>
              </a:rPr>
              <a:t>: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/>
            </a:r>
            <a:br>
              <a:rPr lang="ko-KR" altLang="en-US" sz="1050" dirty="0">
                <a:solidFill>
                  <a:schemeClr val="tx1"/>
                </a:solidFill>
              </a:rPr>
            </a:br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{context}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/>
            </a:r>
            <a:br>
              <a:rPr lang="ko-KR" altLang="en-US" sz="1050" dirty="0">
                <a:solidFill>
                  <a:schemeClr val="tx1"/>
                </a:solidFill>
              </a:rPr>
            </a:br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### </a:t>
            </a:r>
            <a:r>
              <a:rPr lang="ko-KR" altLang="en-US" sz="1050" dirty="0">
                <a:solidFill>
                  <a:schemeClr val="tx1"/>
                </a:solidFill>
              </a:rPr>
              <a:t>베스트 답변 예시</a:t>
            </a:r>
            <a:r>
              <a:rPr lang="en-US" altLang="ko-KR" sz="1050" dirty="0">
                <a:solidFill>
                  <a:schemeClr val="tx1"/>
                </a:solidFill>
              </a:rPr>
              <a:t>: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'</a:t>
            </a:r>
            <a:r>
              <a:rPr lang="ko-KR" altLang="en-US" sz="1050" dirty="0">
                <a:solidFill>
                  <a:schemeClr val="tx1"/>
                </a:solidFill>
              </a:rPr>
              <a:t>작업 전 안전교육 실시와 안전점검 철저 지시를 통한 재발 방지 대책 마련</a:t>
            </a:r>
            <a:r>
              <a:rPr lang="en-US" altLang="ko-KR" sz="1050" dirty="0">
                <a:solidFill>
                  <a:schemeClr val="tx1"/>
                </a:solidFill>
              </a:rPr>
              <a:t>.',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- '</a:t>
            </a:r>
            <a:r>
              <a:rPr lang="ko-KR" altLang="en-US" sz="1050" dirty="0">
                <a:solidFill>
                  <a:schemeClr val="tx1"/>
                </a:solidFill>
              </a:rPr>
              <a:t>이동통로 확보 관리와 작업 전 안전교육 철저 및 정기적 근로자 </a:t>
            </a:r>
            <a:r>
              <a:rPr lang="ko-KR" altLang="en-US" sz="1050" dirty="0" smtClean="0">
                <a:solidFill>
                  <a:schemeClr val="tx1"/>
                </a:solidFill>
              </a:rPr>
              <a:t>안전교육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/>
            </a:r>
            <a:br>
              <a:rPr lang="ko-KR" altLang="en-US" sz="1050" dirty="0">
                <a:solidFill>
                  <a:schemeClr val="tx1"/>
                </a:solidFill>
              </a:rPr>
            </a:br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### </a:t>
            </a:r>
            <a:r>
              <a:rPr lang="ko-KR" altLang="en-US" sz="1050" dirty="0">
                <a:solidFill>
                  <a:schemeClr val="tx1"/>
                </a:solidFill>
              </a:rPr>
              <a:t>제약 조건</a:t>
            </a:r>
            <a:r>
              <a:rPr lang="en-US" altLang="ko-KR" sz="1050" dirty="0">
                <a:solidFill>
                  <a:schemeClr val="tx1"/>
                </a:solidFill>
              </a:rPr>
              <a:t>: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1. </a:t>
            </a:r>
            <a:r>
              <a:rPr lang="ko-KR" altLang="en-US" sz="1050" dirty="0">
                <a:solidFill>
                  <a:schemeClr val="tx1"/>
                </a:solidFill>
              </a:rPr>
              <a:t>답변은 존댓말을 절대 사용하지 마세요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2. </a:t>
            </a:r>
            <a:r>
              <a:rPr lang="ko-KR" altLang="en-US" sz="1050" dirty="0">
                <a:solidFill>
                  <a:schemeClr val="tx1"/>
                </a:solidFill>
              </a:rPr>
              <a:t>질문에 대한 답변을 핵심 내용만 요약하여 간략하게 핵심만 작성하세요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3. </a:t>
            </a:r>
            <a:r>
              <a:rPr lang="ko-KR" altLang="en-US" sz="1050" dirty="0">
                <a:solidFill>
                  <a:schemeClr val="tx1"/>
                </a:solidFill>
              </a:rPr>
              <a:t>중복되는 말 제거하세요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4. </a:t>
            </a:r>
            <a:r>
              <a:rPr lang="ko-KR" altLang="en-US" sz="1050" dirty="0">
                <a:solidFill>
                  <a:schemeClr val="tx1"/>
                </a:solidFill>
              </a:rPr>
              <a:t>프롬프트에 제공된 내용을 절대로 답변에 복사하지 마세요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ko-KR" altLang="en-US" sz="1050" dirty="0">
                <a:solidFill>
                  <a:schemeClr val="tx1"/>
                </a:solidFill>
              </a:rPr>
              <a:t>        </a:t>
            </a:r>
            <a:r>
              <a:rPr lang="en-US" altLang="ko-KR" sz="1050" dirty="0">
                <a:solidFill>
                  <a:schemeClr val="tx1"/>
                </a:solidFill>
              </a:rPr>
              <a:t>5. </a:t>
            </a:r>
            <a:r>
              <a:rPr lang="ko-KR" altLang="en-US" sz="1050" dirty="0">
                <a:solidFill>
                  <a:schemeClr val="tx1"/>
                </a:solidFill>
              </a:rPr>
              <a:t>답변은 명확하고 간결한 한 문장으로 작성해야 합니다</a:t>
            </a:r>
            <a:r>
              <a:rPr lang="en-US" altLang="ko-KR" sz="1050" dirty="0" smtClean="0">
                <a:solidFill>
                  <a:schemeClr val="tx1"/>
                </a:solidFill>
              </a:rPr>
              <a:t>.</a:t>
            </a:r>
            <a:r>
              <a:rPr lang="ko-KR" altLang="en-US" sz="1050" dirty="0">
                <a:solidFill>
                  <a:schemeClr val="tx1"/>
                </a:solidFill>
              </a:rPr>
              <a:t/>
            </a:r>
            <a:br>
              <a:rPr lang="ko-KR" altLang="en-US" sz="1050" dirty="0">
                <a:solidFill>
                  <a:schemeClr val="tx1"/>
                </a:solidFill>
              </a:rPr>
            </a:br>
            <a:r>
              <a:rPr lang="ko-KR" altLang="en-US" sz="1050" dirty="0">
                <a:solidFill>
                  <a:schemeClr val="tx1"/>
                </a:solidFill>
              </a:rPr>
              <a:t>       </a:t>
            </a:r>
          </a:p>
        </p:txBody>
      </p:sp>
      <p:grpSp>
        <p:nvGrpSpPr>
          <p:cNvPr id="38" name="그룹 37"/>
          <p:cNvGrpSpPr/>
          <p:nvPr/>
        </p:nvGrpSpPr>
        <p:grpSpPr>
          <a:xfrm>
            <a:off x="632520" y="4771752"/>
            <a:ext cx="3672408" cy="288032"/>
            <a:chOff x="632520" y="4771752"/>
            <a:chExt cx="3672408" cy="288032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632520" y="4771752"/>
              <a:ext cx="1197490" cy="288032"/>
            </a:xfrm>
            <a:prstGeom prst="round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직선 화살표 연결선 34"/>
            <p:cNvCxnSpPr>
              <a:stCxn id="14" idx="3"/>
            </p:cNvCxnSpPr>
            <p:nvPr/>
          </p:nvCxnSpPr>
          <p:spPr>
            <a:xfrm>
              <a:off x="1830010" y="4915768"/>
              <a:ext cx="2474918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내용 개체 틀 3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구글 </a:t>
            </a:r>
            <a:r>
              <a:rPr lang="ko-KR" altLang="en-US" dirty="0" err="1" smtClean="0"/>
              <a:t>클라우드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Colab</a:t>
            </a:r>
            <a:r>
              <a:rPr lang="en-US" altLang="ko-KR" dirty="0" smtClean="0"/>
              <a:t> </a:t>
            </a:r>
            <a:r>
              <a:rPr lang="en-US" altLang="ko-KR" dirty="0"/>
              <a:t>PRO+ </a:t>
            </a:r>
            <a:r>
              <a:rPr lang="en-US" altLang="ko-KR" dirty="0" smtClean="0"/>
              <a:t>(A100 </a:t>
            </a:r>
            <a:r>
              <a:rPr lang="en-US" altLang="ko-KR" dirty="0"/>
              <a:t>VRAM 40G x 1</a:t>
            </a:r>
            <a:r>
              <a:rPr lang="ko-KR" altLang="en-US" dirty="0" smtClean="0"/>
              <a:t>개</a:t>
            </a:r>
            <a:r>
              <a:rPr lang="en-US" altLang="ko-KR" dirty="0" smtClean="0"/>
              <a:t>) </a:t>
            </a:r>
            <a:r>
              <a:rPr lang="ko-KR" altLang="en-US" dirty="0" smtClean="0"/>
              <a:t>활용해서 분석 진행 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673080" y="1160785"/>
            <a:ext cx="234711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accent4"/>
                </a:solidFill>
                <a:latin typeface="+mj-ea"/>
                <a:ea typeface="+mj-ea"/>
              </a:rPr>
              <a:t>초기 프롬프트 설계서</a:t>
            </a:r>
            <a:endParaRPr lang="ko-KR" altLang="en-US" b="1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20220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기초 모델 설계 </a:t>
            </a:r>
            <a:endParaRPr lang="ko-KR" altLang="en-US" dirty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416496" y="1340768"/>
            <a:ext cx="4176464" cy="972108"/>
          </a:xfrm>
          <a:prstGeom prst="roundRect">
            <a:avLst>
              <a:gd name="adj" fmla="val 862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solidFill>
                  <a:schemeClr val="accent4"/>
                </a:solidFill>
              </a:rPr>
              <a:t>1</a:t>
            </a:r>
            <a:r>
              <a:rPr lang="en-US" altLang="ko-KR" sz="1200" b="1" dirty="0">
                <a:solidFill>
                  <a:schemeClr val="accent4"/>
                </a:solidFill>
              </a:rPr>
              <a:t>. Vector Store </a:t>
            </a:r>
            <a:r>
              <a:rPr lang="ko-KR" altLang="en-US" sz="1200" b="1" dirty="0">
                <a:solidFill>
                  <a:schemeClr val="accent4"/>
                </a:solidFill>
              </a:rPr>
              <a:t>생성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Q:A </a:t>
            </a:r>
            <a:r>
              <a:rPr lang="ko-KR" altLang="en-US" sz="1050" dirty="0">
                <a:solidFill>
                  <a:schemeClr val="tx1"/>
                </a:solidFill>
              </a:rPr>
              <a:t>데이터 생성 </a:t>
            </a:r>
            <a:r>
              <a:rPr lang="en-US" altLang="ko-KR" sz="1050" dirty="0">
                <a:solidFill>
                  <a:schemeClr val="tx1"/>
                </a:solidFill>
              </a:rPr>
              <a:t>-&gt; </a:t>
            </a:r>
            <a:r>
              <a:rPr lang="ko-KR" altLang="en-US" sz="1050" dirty="0" err="1">
                <a:solidFill>
                  <a:schemeClr val="tx1"/>
                </a:solidFill>
              </a:rPr>
              <a:t>임베딩</a:t>
            </a: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en-US" altLang="ko-KR" sz="1050" dirty="0">
                <a:solidFill>
                  <a:schemeClr val="tx1"/>
                </a:solidFill>
              </a:rPr>
              <a:t>-&gt; vector store </a:t>
            </a:r>
            <a:r>
              <a:rPr lang="ko-KR" altLang="en-US" sz="1050" dirty="0">
                <a:solidFill>
                  <a:schemeClr val="tx1"/>
                </a:solidFill>
              </a:rPr>
              <a:t>문서 추가 </a:t>
            </a: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ko-KR" altLang="en-US" sz="1050" dirty="0" err="1">
                <a:solidFill>
                  <a:schemeClr val="tx1"/>
                </a:solidFill>
              </a:rPr>
              <a:t>임베딩</a:t>
            </a:r>
            <a:r>
              <a:rPr lang="ko-KR" altLang="en-US" sz="1050" dirty="0">
                <a:solidFill>
                  <a:schemeClr val="tx1"/>
                </a:solidFill>
              </a:rPr>
              <a:t> 모델 </a:t>
            </a:r>
            <a:r>
              <a:rPr lang="en-US" altLang="ko-KR" sz="1050" dirty="0">
                <a:solidFill>
                  <a:schemeClr val="tx1"/>
                </a:solidFill>
              </a:rPr>
              <a:t>: </a:t>
            </a:r>
            <a:r>
              <a:rPr lang="en-US" altLang="ko-KR" sz="1050" dirty="0" err="1">
                <a:solidFill>
                  <a:schemeClr val="tx1"/>
                </a:solidFill>
              </a:rPr>
              <a:t>jhgan</a:t>
            </a:r>
            <a:r>
              <a:rPr lang="en-US" altLang="ko-KR" sz="1050" dirty="0">
                <a:solidFill>
                  <a:schemeClr val="tx1"/>
                </a:solidFill>
              </a:rPr>
              <a:t>/</a:t>
            </a:r>
            <a:r>
              <a:rPr lang="en-US" altLang="ko-KR" sz="1050" dirty="0" err="1">
                <a:solidFill>
                  <a:schemeClr val="tx1"/>
                </a:solidFill>
              </a:rPr>
              <a:t>ko-sbert-nli</a:t>
            </a:r>
            <a:endParaRPr lang="ko-KR" altLang="en-US" sz="1050" dirty="0">
              <a:solidFill>
                <a:schemeClr val="tx1"/>
              </a:solidFill>
            </a:endParaRPr>
          </a:p>
          <a:p>
            <a:r>
              <a:rPr lang="en-US" altLang="ko-KR" sz="1050" dirty="0">
                <a:solidFill>
                  <a:schemeClr val="tx1"/>
                </a:solidFill>
              </a:rPr>
              <a:t>- </a:t>
            </a:r>
            <a:r>
              <a:rPr lang="en-US" altLang="ko-KR" sz="1050" dirty="0" err="1" smtClean="0">
                <a:solidFill>
                  <a:schemeClr val="tx1"/>
                </a:solidFill>
              </a:rPr>
              <a:t>HuggingFaceEmbeddings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36" name="내용 개체 틀 3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구글 </a:t>
            </a:r>
            <a:r>
              <a:rPr lang="ko-KR" altLang="en-US" dirty="0" err="1" smtClean="0"/>
              <a:t>클라우드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Colab</a:t>
            </a:r>
            <a:r>
              <a:rPr lang="en-US" altLang="ko-KR" dirty="0" smtClean="0"/>
              <a:t> </a:t>
            </a:r>
            <a:r>
              <a:rPr lang="en-US" altLang="ko-KR" dirty="0"/>
              <a:t>PRO+ </a:t>
            </a:r>
            <a:r>
              <a:rPr lang="en-US" altLang="ko-KR" dirty="0" smtClean="0"/>
              <a:t>(A100 </a:t>
            </a:r>
            <a:r>
              <a:rPr lang="en-US" altLang="ko-KR" dirty="0"/>
              <a:t>VRAM 40G x 1</a:t>
            </a:r>
            <a:r>
              <a:rPr lang="ko-KR" altLang="en-US" dirty="0" smtClean="0"/>
              <a:t>개</a:t>
            </a:r>
            <a:r>
              <a:rPr lang="en-US" altLang="ko-KR" dirty="0" smtClean="0"/>
              <a:t>) </a:t>
            </a:r>
            <a:r>
              <a:rPr lang="ko-KR" altLang="en-US" dirty="0" smtClean="0"/>
              <a:t>활용해서 분석 진행 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16496" y="2924944"/>
            <a:ext cx="4176464" cy="1044116"/>
          </a:xfrm>
          <a:prstGeom prst="roundRect">
            <a:avLst>
              <a:gd name="adj" fmla="val 862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accent4"/>
                </a:solidFill>
              </a:rPr>
              <a:t>2. Retriever (</a:t>
            </a:r>
            <a:r>
              <a:rPr lang="ko-KR" altLang="en-US" sz="1200" b="1" dirty="0">
                <a:solidFill>
                  <a:schemeClr val="accent4"/>
                </a:solidFill>
              </a:rPr>
              <a:t>검색기 설정</a:t>
            </a:r>
            <a:r>
              <a:rPr lang="en-US" altLang="ko-KR" sz="1200" b="1" dirty="0">
                <a:solidFill>
                  <a:schemeClr val="accent4"/>
                </a:solidFill>
              </a:rPr>
              <a:t>)</a:t>
            </a:r>
            <a:endParaRPr lang="ko-KR" altLang="en-US" sz="1200" b="1" dirty="0">
              <a:solidFill>
                <a:schemeClr val="accent4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검색기 </a:t>
            </a:r>
            <a:r>
              <a:rPr lang="en-US" altLang="ko-KR" sz="1200" dirty="0">
                <a:solidFill>
                  <a:schemeClr val="tx1"/>
                </a:solidFill>
              </a:rPr>
              <a:t>: FAISS </a:t>
            </a:r>
            <a:endParaRPr lang="ko-KR" altLang="en-US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 err="1">
                <a:solidFill>
                  <a:schemeClr val="tx1"/>
                </a:solidFill>
              </a:rPr>
              <a:t>검색옵션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en-US" altLang="ko-KR" sz="1200" dirty="0" err="1">
                <a:solidFill>
                  <a:schemeClr val="tx1"/>
                </a:solidFill>
              </a:rPr>
              <a:t>search_type</a:t>
            </a:r>
            <a:r>
              <a:rPr lang="en-US" altLang="ko-KR" sz="1200" dirty="0">
                <a:solidFill>
                  <a:schemeClr val="tx1"/>
                </a:solidFill>
              </a:rPr>
              <a:t>="similarity", </a:t>
            </a:r>
            <a:r>
              <a:rPr lang="en-US" altLang="ko-KR" sz="1200" dirty="0" err="1">
                <a:solidFill>
                  <a:schemeClr val="tx1"/>
                </a:solidFill>
              </a:rPr>
              <a:t>search_kwargs</a:t>
            </a:r>
            <a:r>
              <a:rPr lang="en-US" altLang="ko-KR" sz="1200" dirty="0">
                <a:solidFill>
                  <a:schemeClr val="tx1"/>
                </a:solidFill>
              </a:rPr>
              <a:t>={"k": 5}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16496" y="4581128"/>
            <a:ext cx="4176464" cy="1224136"/>
          </a:xfrm>
          <a:prstGeom prst="roundRect">
            <a:avLst>
              <a:gd name="adj" fmla="val 862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accent4"/>
                </a:solidFill>
              </a:rPr>
              <a:t>3. Pertained LLM model </a:t>
            </a:r>
            <a:r>
              <a:rPr lang="ko-KR" altLang="en-US" sz="1200" b="1" dirty="0">
                <a:solidFill>
                  <a:schemeClr val="accent4"/>
                </a:solidFill>
              </a:rPr>
              <a:t>호출 </a:t>
            </a: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후보</a:t>
            </a:r>
            <a:r>
              <a:rPr lang="en-US" altLang="ko-KR" sz="1200" dirty="0">
                <a:solidFill>
                  <a:schemeClr val="tx1"/>
                </a:solidFill>
              </a:rPr>
              <a:t>1: MLP-</a:t>
            </a:r>
            <a:r>
              <a:rPr lang="en-US" altLang="ko-KR" sz="1200" dirty="0" err="1">
                <a:solidFill>
                  <a:schemeClr val="tx1"/>
                </a:solidFill>
              </a:rPr>
              <a:t>KTLim</a:t>
            </a:r>
            <a:r>
              <a:rPr lang="en-US" altLang="ko-KR" sz="1200" dirty="0">
                <a:solidFill>
                  <a:schemeClr val="tx1"/>
                </a:solidFill>
              </a:rPr>
              <a:t>/llama-3-Korean-Bllossom-8B (16bit)</a:t>
            </a:r>
            <a:endParaRPr lang="ko-KR" altLang="en-US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후보</a:t>
            </a:r>
            <a:r>
              <a:rPr lang="en-US" altLang="ko-KR" sz="1200" dirty="0">
                <a:solidFill>
                  <a:schemeClr val="tx1"/>
                </a:solidFill>
              </a:rPr>
              <a:t>2: NCSOFT/Llama-VARCO-8B-Instruct (16bit)</a:t>
            </a:r>
            <a:endParaRPr lang="ko-KR" altLang="en-US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후보</a:t>
            </a:r>
            <a:r>
              <a:rPr lang="en-US" altLang="ko-KR" sz="1200" dirty="0">
                <a:solidFill>
                  <a:schemeClr val="tx1"/>
                </a:solidFill>
              </a:rPr>
              <a:t>3: </a:t>
            </a:r>
            <a:r>
              <a:rPr lang="en-US" altLang="ko-KR" sz="1200" dirty="0" err="1">
                <a:solidFill>
                  <a:schemeClr val="tx1"/>
                </a:solidFill>
              </a:rPr>
              <a:t>hwkwon</a:t>
            </a:r>
            <a:r>
              <a:rPr lang="en-US" altLang="ko-KR" sz="1200" dirty="0">
                <a:solidFill>
                  <a:schemeClr val="tx1"/>
                </a:solidFill>
              </a:rPr>
              <a:t>/S-SOLAR-10.7B-v1.5 (16bit)</a:t>
            </a:r>
            <a:endParaRPr lang="ko-KR" altLang="en-US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 err="1">
                <a:solidFill>
                  <a:schemeClr val="tx1"/>
                </a:solidFill>
              </a:rPr>
              <a:t>모델옵션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: temperature=0.1, </a:t>
            </a:r>
            <a:r>
              <a:rPr lang="en-US" altLang="ko-KR" sz="1200" dirty="0" err="1">
                <a:solidFill>
                  <a:schemeClr val="tx1"/>
                </a:solidFill>
              </a:rPr>
              <a:t>ax_new_tokens</a:t>
            </a:r>
            <a:r>
              <a:rPr lang="en-US" altLang="ko-KR" sz="1200" dirty="0">
                <a:solidFill>
                  <a:schemeClr val="tx1"/>
                </a:solidFill>
              </a:rPr>
              <a:t>=70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313040" y="1304764"/>
            <a:ext cx="3168352" cy="828092"/>
          </a:xfrm>
          <a:prstGeom prst="roundRect">
            <a:avLst>
              <a:gd name="adj" fmla="val 862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accent4"/>
                </a:solidFill>
              </a:rPr>
              <a:t>4. </a:t>
            </a:r>
            <a:r>
              <a:rPr lang="ko-KR" altLang="en-US" sz="1200" b="1" dirty="0">
                <a:solidFill>
                  <a:schemeClr val="accent4"/>
                </a:solidFill>
              </a:rPr>
              <a:t>프롬프트 설계 </a:t>
            </a:r>
          </a:p>
        </p:txBody>
      </p:sp>
      <p:sp>
        <p:nvSpPr>
          <p:cNvPr id="17" name="모서리가 둥근 직사각형 16"/>
          <p:cNvSpPr/>
          <p:nvPr/>
        </p:nvSpPr>
        <p:spPr>
          <a:xfrm>
            <a:off x="5313040" y="2564904"/>
            <a:ext cx="3168352" cy="900100"/>
          </a:xfrm>
          <a:prstGeom prst="roundRect">
            <a:avLst>
              <a:gd name="adj" fmla="val 862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accent4"/>
                </a:solidFill>
              </a:rPr>
              <a:t>5. RAG Chain </a:t>
            </a:r>
            <a:r>
              <a:rPr lang="ko-KR" altLang="en-US" sz="1200" b="1" dirty="0">
                <a:solidFill>
                  <a:schemeClr val="accent4"/>
                </a:solidFill>
              </a:rPr>
              <a:t>설계 </a:t>
            </a:r>
            <a:r>
              <a:rPr lang="en-US" altLang="ko-KR" sz="1200" b="1" dirty="0">
                <a:solidFill>
                  <a:schemeClr val="accent4"/>
                </a:solidFill>
              </a:rPr>
              <a:t>(Retriever -&gt; LLM)</a:t>
            </a:r>
            <a:endParaRPr lang="ko-KR" altLang="en-US" sz="1200" b="1" dirty="0">
              <a:solidFill>
                <a:schemeClr val="accent4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패키지 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en-US" altLang="ko-KR" sz="1200" dirty="0" err="1">
                <a:solidFill>
                  <a:schemeClr val="tx1"/>
                </a:solidFill>
              </a:rPr>
              <a:t>LangChain.RetrievalQA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313040" y="3789040"/>
            <a:ext cx="3168352" cy="864096"/>
          </a:xfrm>
          <a:prstGeom prst="roundRect">
            <a:avLst>
              <a:gd name="adj" fmla="val 862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accent4"/>
                </a:solidFill>
              </a:rPr>
              <a:t>6. Inference</a:t>
            </a:r>
            <a:endParaRPr lang="ko-KR" altLang="en-US" sz="1200" b="1" dirty="0">
              <a:solidFill>
                <a:schemeClr val="accent4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패키지 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en-US" altLang="ko-KR" sz="1200" dirty="0" err="1">
                <a:solidFill>
                  <a:schemeClr val="tx1"/>
                </a:solidFill>
              </a:rPr>
              <a:t>vLLM</a:t>
            </a:r>
            <a:r>
              <a:rPr lang="en-US" altLang="ko-KR" sz="1200" dirty="0">
                <a:solidFill>
                  <a:schemeClr val="tx1"/>
                </a:solidFill>
              </a:rPr>
              <a:t>  (valid: 11min, test: 45min)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/>
          <p:cNvCxnSpPr>
            <a:stCxn id="2" idx="2"/>
            <a:endCxn id="13" idx="0"/>
          </p:cNvCxnSpPr>
          <p:nvPr/>
        </p:nvCxnSpPr>
        <p:spPr>
          <a:xfrm>
            <a:off x="2504728" y="2312876"/>
            <a:ext cx="0" cy="612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13" idx="2"/>
            <a:endCxn id="15" idx="0"/>
          </p:cNvCxnSpPr>
          <p:nvPr/>
        </p:nvCxnSpPr>
        <p:spPr>
          <a:xfrm>
            <a:off x="2504728" y="3969060"/>
            <a:ext cx="0" cy="612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15" idx="3"/>
            <a:endCxn id="16" idx="1"/>
          </p:cNvCxnSpPr>
          <p:nvPr/>
        </p:nvCxnSpPr>
        <p:spPr>
          <a:xfrm flipV="1">
            <a:off x="4592960" y="1718810"/>
            <a:ext cx="720080" cy="3474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6" idx="2"/>
            <a:endCxn id="17" idx="0"/>
          </p:cNvCxnSpPr>
          <p:nvPr/>
        </p:nvCxnSpPr>
        <p:spPr>
          <a:xfrm>
            <a:off x="6897216" y="2132856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17" idx="2"/>
            <a:endCxn id="18" idx="0"/>
          </p:cNvCxnSpPr>
          <p:nvPr/>
        </p:nvCxnSpPr>
        <p:spPr>
          <a:xfrm>
            <a:off x="6897216" y="3465004"/>
            <a:ext cx="0" cy="32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900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016896" y="4031959"/>
            <a:ext cx="3312368" cy="34239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AutoNum type="romanUcPeriod"/>
            </a:pPr>
            <a:r>
              <a:rPr lang="ko-KR" altLang="en-US" sz="1600" dirty="0" smtClean="0"/>
              <a:t>배경 및 현황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분석 대상 및 목적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데이터 개요 및 전처리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/>
              <a:t>데이터 </a:t>
            </a:r>
            <a:r>
              <a:rPr lang="ko-KR" altLang="en-US" sz="1600" dirty="0" smtClean="0"/>
              <a:t>탐색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인사이트</a:t>
            </a:r>
            <a:r>
              <a:rPr lang="ko-KR" altLang="en-US" sz="1600" dirty="0" smtClean="0"/>
              <a:t> 도출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설계 </a:t>
            </a:r>
            <a:endParaRPr lang="en-US" altLang="ko-KR" sz="1600" dirty="0" smtClean="0"/>
          </a:p>
          <a:p>
            <a:pPr marL="400050" indent="-400050">
              <a:buFont typeface="+mj-lt"/>
              <a:buAutoNum type="romanUcPeriod"/>
            </a:pPr>
            <a:r>
              <a:rPr lang="ko-KR" altLang="en-US" sz="1600" dirty="0"/>
              <a:t>데이터 탐색</a:t>
            </a:r>
            <a:r>
              <a:rPr lang="en-US" altLang="ko-KR" sz="1600" dirty="0"/>
              <a:t>2 (</a:t>
            </a:r>
            <a:r>
              <a:rPr lang="ko-KR" altLang="en-US" sz="1600" dirty="0"/>
              <a:t>오차 분석</a:t>
            </a:r>
            <a:r>
              <a:rPr lang="en-US" altLang="ko-KR" sz="1600" dirty="0" smtClean="0"/>
              <a:t>)</a:t>
            </a:r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정교화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결론 </a:t>
            </a:r>
            <a:r>
              <a:rPr lang="ko-KR" altLang="en-US" sz="1600" dirty="0"/>
              <a:t>및 시사점</a:t>
            </a:r>
            <a:r>
              <a:rPr lang="ko-KR" altLang="en-US" sz="1600" dirty="0" smtClean="0"/>
              <a:t> 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○○○</a:t>
            </a:r>
            <a:r>
              <a:rPr lang="en-US" altLang="ko-KR" dirty="0" smtClean="0"/>
              <a:t> </a:t>
            </a:r>
            <a:r>
              <a:rPr lang="ko-KR" altLang="en-US" dirty="0"/>
              <a:t>경진대회 참여 후기</a:t>
            </a:r>
          </a:p>
        </p:txBody>
      </p:sp>
    </p:spTree>
    <p:extLst>
      <p:ext uri="{BB962C8B-B14F-4D97-AF65-F5344CB8AC3E}">
        <p14:creationId xmlns:p14="http://schemas.microsoft.com/office/powerpoint/2010/main" val="130562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예측모델</a:t>
            </a:r>
            <a:r>
              <a:rPr lang="en-US" altLang="ko-KR" dirty="0" smtClean="0"/>
              <a:t>(</a:t>
            </a:r>
            <a:r>
              <a:rPr lang="ko-KR" altLang="en-US" dirty="0" smtClean="0"/>
              <a:t>평균점수</a:t>
            </a:r>
            <a:r>
              <a:rPr lang="en-US" altLang="ko-KR" dirty="0" smtClean="0"/>
              <a:t>0.448)</a:t>
            </a:r>
            <a:r>
              <a:rPr lang="ko-KR" altLang="en-US" dirty="0" smtClean="0"/>
              <a:t> 성능 진단 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pPr indent="0"/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안전교육 실시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], 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안전 점검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], [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재발 방지 대책 마련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이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가지 일반적인 답변 반복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/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몇몇 케이스에서 이동통로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이중 결속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보호구 착용 등의 단어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특수한 케이스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를 언급하고 있지만 대부분 오답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/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특별한 단어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돌풍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절단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미흡 등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가 나오면 어떻게 대답하라라는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지시사항이 필요해 보임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b="0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919258"/>
            <a:ext cx="7245382" cy="4389354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/>
        </p:nvSpPr>
        <p:spPr>
          <a:xfrm>
            <a:off x="6177136" y="2924944"/>
            <a:ext cx="2952328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점수가 낮기 때문에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성능 개선 여지 높음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8046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케이스별</a:t>
            </a:r>
            <a:r>
              <a:rPr lang="ko-KR" altLang="en-US" dirty="0" smtClean="0"/>
              <a:t> 유사도 점수 분석 </a:t>
            </a:r>
            <a:r>
              <a:rPr lang="en-US" altLang="ko-KR" dirty="0" smtClean="0"/>
              <a:t>(1/)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유사도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36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점은 두 문장이 의미상 서로 완전히 다른 의미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 전혀 하지 못한 케이스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rgbClr val="FF0000"/>
                </a:solidFill>
              </a:rPr>
              <a:t>고속절단기</a:t>
            </a:r>
            <a:r>
              <a:rPr lang="ko-KR" altLang="en-US" sz="1200" dirty="0">
                <a:solidFill>
                  <a:schemeClr val="tx1"/>
                </a:solidFill>
              </a:rPr>
              <a:t> 날의 회전이 완전히 멈춘 후 </a:t>
            </a:r>
            <a:r>
              <a:rPr lang="ko-KR" altLang="en-US" sz="1200" dirty="0">
                <a:solidFill>
                  <a:srgbClr val="FF0000"/>
                </a:solidFill>
              </a:rPr>
              <a:t>목재</a:t>
            </a:r>
            <a:r>
              <a:rPr lang="ko-KR" altLang="en-US" sz="1200" dirty="0">
                <a:solidFill>
                  <a:schemeClr val="tx1"/>
                </a:solidFill>
              </a:rPr>
              <a:t>를 제거할 수 있도록 하는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이동통로</a:t>
            </a:r>
            <a:r>
              <a:rPr lang="ko-KR" altLang="en-US" sz="1200" dirty="0">
                <a:solidFill>
                  <a:schemeClr val="tx1"/>
                </a:solidFill>
              </a:rPr>
              <a:t> 확보 관리와 작업 전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철저 및 정기적 근로자 </a:t>
            </a:r>
            <a:r>
              <a:rPr lang="ko-KR" altLang="en-US" sz="1200" dirty="0">
                <a:solidFill>
                  <a:srgbClr val="00B050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시행을 통한 재발 방지 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6465168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457056" y="4149080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꺾인 연결선 12"/>
          <p:cNvCxnSpPr>
            <a:endCxn id="10" idx="4"/>
          </p:cNvCxnSpPr>
          <p:nvPr/>
        </p:nvCxnSpPr>
        <p:spPr>
          <a:xfrm rot="5400000" flipH="1" flipV="1">
            <a:off x="5601072" y="2924944"/>
            <a:ext cx="1440160" cy="10081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36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825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(2/)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너무 많은 정보를 추가로 제공해도 마이너스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작업전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철저와 작업중 위험요인 파악 및 제거를 통한 재발 방지 대책 및 향후 조치 계획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232635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꺾인 연결선 12"/>
          <p:cNvCxnSpPr>
            <a:stCxn id="12" idx="0"/>
            <a:endCxn id="10" idx="4"/>
          </p:cNvCxnSpPr>
          <p:nvPr/>
        </p:nvCxnSpPr>
        <p:spPr>
          <a:xfrm rot="5400000" flipH="1" flipV="1">
            <a:off x="2828621" y="2385027"/>
            <a:ext cx="1440160" cy="208794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2144688" y="4149080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53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509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(3/)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dirty="0" smtClean="0">
                <a:solidFill>
                  <a:srgbClr val="7030A0"/>
                </a:solidFill>
              </a:rPr>
              <a:t>필수 단어만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예측값에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포함되어 있어도 고득점 가능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작업자 근로자 </a:t>
            </a:r>
            <a:r>
              <a:rPr lang="ko-KR" altLang="en-US" sz="1200" dirty="0" smtClean="0">
                <a:solidFill>
                  <a:srgbClr val="FF0000"/>
                </a:solidFill>
              </a:rPr>
              <a:t>이동통로</a:t>
            </a:r>
            <a:r>
              <a:rPr lang="ko-KR" altLang="en-US" sz="1200" dirty="0" smtClean="0">
                <a:solidFill>
                  <a:schemeClr val="tx1"/>
                </a:solidFill>
              </a:rPr>
              <a:t> 에서 </a:t>
            </a:r>
            <a:r>
              <a:rPr lang="ko-KR" altLang="en-US" sz="1200" dirty="0" err="1">
                <a:solidFill>
                  <a:schemeClr val="tx1"/>
                </a:solidFill>
              </a:rPr>
              <a:t>이동방법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교육</a:t>
            </a:r>
            <a:r>
              <a:rPr lang="ko-KR" altLang="en-US" sz="1200" dirty="0">
                <a:solidFill>
                  <a:schemeClr val="tx1"/>
                </a:solidFill>
              </a:rPr>
              <a:t>과 </a:t>
            </a:r>
            <a:r>
              <a:rPr lang="ko-KR" altLang="en-US" sz="1200" dirty="0">
                <a:solidFill>
                  <a:schemeClr val="accent4"/>
                </a:solidFill>
              </a:rPr>
              <a:t>안전</a:t>
            </a:r>
            <a:r>
              <a:rPr lang="ko-KR" altLang="en-US" sz="1200" dirty="0">
                <a:solidFill>
                  <a:schemeClr val="tx1"/>
                </a:solidFill>
              </a:rPr>
              <a:t>관리 철저 지시를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 마련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작업전</a:t>
            </a:r>
            <a:r>
              <a:rPr lang="ko-KR" altLang="en-US" sz="1200" dirty="0">
                <a:solidFill>
                  <a:schemeClr val="tx1"/>
                </a:solidFill>
              </a:rPr>
              <a:t> 작업자 </a:t>
            </a:r>
            <a:r>
              <a:rPr lang="ko-KR" altLang="en-US" sz="1200" dirty="0">
                <a:solidFill>
                  <a:schemeClr val="accent4"/>
                </a:solidFill>
              </a:rPr>
              <a:t>안전교육 </a:t>
            </a:r>
            <a:r>
              <a:rPr lang="ko-KR" altLang="en-US" sz="1200" dirty="0">
                <a:solidFill>
                  <a:schemeClr val="tx1"/>
                </a:solidFill>
              </a:rPr>
              <a:t>강화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안전수칙 준수 특별안전교육 실시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작업지휘자</a:t>
            </a:r>
            <a:r>
              <a:rPr lang="ko-KR" altLang="en-US" sz="1200" dirty="0">
                <a:solidFill>
                  <a:schemeClr val="tx1"/>
                </a:solidFill>
              </a:rPr>
              <a:t> 관리감독 철저에 대한</a:t>
            </a:r>
            <a:r>
              <a:rPr lang="ko-KR" altLang="en-US" sz="1200" dirty="0">
                <a:solidFill>
                  <a:schemeClr val="accent4"/>
                </a:solidFill>
              </a:rPr>
              <a:t> 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대책과 향후 조치 계획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77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이등변 삼각형 3"/>
          <p:cNvSpPr/>
          <p:nvPr/>
        </p:nvSpPr>
        <p:spPr>
          <a:xfrm>
            <a:off x="4056952" y="1852280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/>
          <p:cNvSpPr/>
          <p:nvPr/>
        </p:nvSpPr>
        <p:spPr>
          <a:xfrm>
            <a:off x="1394395" y="3504736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구부러진 연결선 14"/>
          <p:cNvCxnSpPr>
            <a:stCxn id="16" idx="5"/>
            <a:endCxn id="2" idx="2"/>
          </p:cNvCxnSpPr>
          <p:nvPr/>
        </p:nvCxnSpPr>
        <p:spPr>
          <a:xfrm flipV="1">
            <a:off x="2282455" y="2852936"/>
            <a:ext cx="2490525" cy="115212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132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(4/)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일반적인 케이스의 재발방지대책 스크립트는 유사도 점수가 높음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실시와 현장 내 작업지시사항 철저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안전관리 교육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안전위험요소 제거 점검 및 대책 강구를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412940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74315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83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121352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529064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1486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없는 단어가 들어가는 경우 </a:t>
            </a:r>
            <a:r>
              <a:rPr lang="ko-KR" altLang="en-US" dirty="0" smtClean="0"/>
              <a:t>영향도 테스트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err="1" smtClean="0"/>
              <a:t>관련없는</a:t>
            </a:r>
            <a:r>
              <a:rPr lang="ko-KR" altLang="en-US" b="0" dirty="0" smtClean="0"/>
              <a:t> 단어가 들어가면 점수에 </a:t>
            </a:r>
            <a:r>
              <a:rPr lang="ko-KR" altLang="en-US" b="0" dirty="0" smtClean="0">
                <a:solidFill>
                  <a:srgbClr val="FF0000"/>
                </a:solidFill>
              </a:rPr>
              <a:t>마이너스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 있음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돌풍으로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</a:t>
            </a:r>
            <a:r>
              <a:rPr lang="ko-KR" altLang="en-US" sz="1200" dirty="0" smtClean="0">
                <a:solidFill>
                  <a:schemeClr val="tx1"/>
                </a:solidFill>
              </a:rPr>
              <a:t> 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작업자 미숙으로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71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81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474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맺은말</a:t>
            </a:r>
            <a:r>
              <a:rPr lang="en-US" altLang="ko-KR" dirty="0"/>
              <a:t>/</a:t>
            </a:r>
            <a:r>
              <a:rPr lang="ko-KR" altLang="en-US" dirty="0"/>
              <a:t>어투 영향도 테스트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/>
              <a:t>습니다</a:t>
            </a:r>
            <a:r>
              <a:rPr lang="en-US" altLang="ko-KR" b="0" dirty="0"/>
              <a:t>. </a:t>
            </a:r>
            <a:r>
              <a:rPr lang="ko-KR" altLang="en-US" b="0" dirty="0"/>
              <a:t>합니다</a:t>
            </a:r>
            <a:r>
              <a:rPr lang="en-US" altLang="ko-KR" b="0" dirty="0"/>
              <a:t>. </a:t>
            </a:r>
            <a:r>
              <a:rPr lang="ko-KR" altLang="en-US" b="0" dirty="0"/>
              <a:t>로 끝나는게 점수에 </a:t>
            </a:r>
            <a:r>
              <a:rPr lang="ko-KR" altLang="en-US" b="0" dirty="0" smtClean="0">
                <a:solidFill>
                  <a:srgbClr val="FF0000"/>
                </a:solidFill>
              </a:rPr>
              <a:t>마이너스 영향 있음 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재발방지합니다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</a:t>
            </a:r>
            <a:r>
              <a:rPr lang="ko-KR" altLang="en-US" sz="1200" dirty="0" err="1">
                <a:solidFill>
                  <a:schemeClr val="accent4"/>
                </a:solidFill>
              </a:rPr>
              <a:t>합니다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92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482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탐색</a:t>
            </a:r>
            <a:r>
              <a:rPr lang="en-US" altLang="ko-KR" dirty="0"/>
              <a:t>2(</a:t>
            </a:r>
            <a:r>
              <a:rPr lang="ko-KR" altLang="en-US" dirty="0" err="1"/>
              <a:t>오차분석</a:t>
            </a:r>
            <a:r>
              <a:rPr lang="en-US" altLang="ko-KR" dirty="0"/>
              <a:t>) </a:t>
            </a:r>
            <a:r>
              <a:rPr lang="ko-KR" altLang="en-US" dirty="0"/>
              <a:t>종합 결론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96D8CE-DAFF-415D-8D34-D87C211B3B69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26</a:t>
            </a:fld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259772" y="5775649"/>
            <a:ext cx="9403904" cy="480408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>
            <a:outerShdw blurRad="38100" dist="25400" dir="5400000" algn="t" rotWithShape="0">
              <a:prstClr val="black">
                <a:alpha val="5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</a:t>
            </a:r>
            <a:r>
              <a:rPr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개의 후보 </a:t>
            </a:r>
            <a:r>
              <a:rPr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파생변수</a:t>
            </a:r>
            <a:r>
              <a:rPr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생성</a:t>
            </a:r>
            <a:endParaRPr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왼쪽 화살표 58"/>
          <p:cNvSpPr/>
          <p:nvPr/>
        </p:nvSpPr>
        <p:spPr>
          <a:xfrm rot="16200000">
            <a:off x="4732282" y="2312012"/>
            <a:ext cx="518430" cy="6557714"/>
          </a:xfrm>
          <a:prstGeom prst="leftArrow">
            <a:avLst>
              <a:gd name="adj1" fmla="val 67361"/>
              <a:gd name="adj2" fmla="val 383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왼쪽 화살표 19"/>
          <p:cNvSpPr/>
          <p:nvPr/>
        </p:nvSpPr>
        <p:spPr>
          <a:xfrm rot="16200000">
            <a:off x="4722704" y="2281567"/>
            <a:ext cx="518430" cy="6557714"/>
          </a:xfrm>
          <a:prstGeom prst="leftArrow">
            <a:avLst>
              <a:gd name="adj1" fmla="val 67361"/>
              <a:gd name="adj2" fmla="val 38345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50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31000"/>
                </a:schemeClr>
              </a:gs>
              <a:gs pos="100000">
                <a:schemeClr val="bg1">
                  <a:lumMod val="85000"/>
                  <a:shade val="100000"/>
                  <a:satMod val="115000"/>
                  <a:alpha val="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408711" y="1268760"/>
            <a:ext cx="4499494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r>
              <a:rPr lang="en-US" altLang="ko-KR" sz="14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사고원인으로만 예측 불가능한 케이스 존재 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997797" y="1268760"/>
            <a:ext cx="4499494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r>
              <a:rPr lang="en-US" altLang="ko-KR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데이터가 이상해서 예측이 불가능한 케이스도 존재</a:t>
            </a:r>
          </a:p>
        </p:txBody>
      </p:sp>
      <p:sp>
        <p:nvSpPr>
          <p:cNvPr id="28" name="모서리가 둥근 직사각형 27"/>
          <p:cNvSpPr/>
          <p:nvPr/>
        </p:nvSpPr>
        <p:spPr>
          <a:xfrm>
            <a:off x="408711" y="1616877"/>
            <a:ext cx="4499494" cy="176017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93663" indent="-93663" latinLnBrk="0">
              <a:spcBef>
                <a:spcPts val="600"/>
              </a:spcBef>
              <a:buFont typeface="Arial" pitchFamily="34" charset="0"/>
              <a:buChar char="•"/>
            </a:pPr>
            <a:endParaRPr lang="en-US" altLang="ko-KR" sz="1200" spc="-1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4997797" y="1616877"/>
            <a:ext cx="4499494" cy="176017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최빈값으로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대체 </a:t>
            </a:r>
            <a:endParaRPr lang="en-US" altLang="ko-KR" sz="1200" dirty="0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404486" y="3428554"/>
            <a:ext cx="2962480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400" dirty="0">
                <a:solidFill>
                  <a:schemeClr val="tx1"/>
                </a:solidFill>
              </a:rPr>
              <a:t>답변 길이 점수에 영향도 있음</a:t>
            </a:r>
          </a:p>
        </p:txBody>
      </p:sp>
      <p:sp>
        <p:nvSpPr>
          <p:cNvPr id="25" name="모서리가 둥근 직사각형 24"/>
          <p:cNvSpPr/>
          <p:nvPr/>
        </p:nvSpPr>
        <p:spPr>
          <a:xfrm>
            <a:off x="3472296" y="3428554"/>
            <a:ext cx="2962480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/>
            <a:r>
              <a:rPr lang="en-US" altLang="ko-KR" sz="1400" dirty="0">
                <a:solidFill>
                  <a:schemeClr val="tx1"/>
                </a:solidFill>
              </a:rPr>
              <a:t># </a:t>
            </a:r>
            <a:r>
              <a:rPr lang="ko-KR" altLang="en-US" sz="1400" dirty="0">
                <a:solidFill>
                  <a:schemeClr val="tx1"/>
                </a:solidFill>
              </a:rPr>
              <a:t>말투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 err="1">
                <a:solidFill>
                  <a:schemeClr val="tx1"/>
                </a:solidFill>
              </a:rPr>
              <a:t>맺은말은</a:t>
            </a:r>
            <a:r>
              <a:rPr lang="ko-KR" altLang="en-US" sz="1400" dirty="0">
                <a:solidFill>
                  <a:schemeClr val="tx1"/>
                </a:solidFill>
              </a:rPr>
              <a:t> 점수에 마이너스</a:t>
            </a:r>
          </a:p>
          <a:p>
            <a:pPr marL="176213" indent="-176213" algn="ctr" latinLnBrk="0">
              <a:spcBef>
                <a:spcPts val="600"/>
              </a:spcBef>
            </a:pPr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545201" y="3428554"/>
            <a:ext cx="2962480" cy="34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r>
              <a:rPr lang="en-US" altLang="ko-KR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관련 없는 단어가 들어가는 경우 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404486" y="3772828"/>
            <a:ext cx="2962480" cy="14563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latinLnBrk="0">
              <a:spcBef>
                <a:spcPts val="600"/>
              </a:spcBef>
            </a:pPr>
            <a:endParaRPr lang="en-US" altLang="ko-KR" sz="1200" b="1" spc="-1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3472296" y="3772828"/>
            <a:ext cx="2962480" cy="14563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6213" indent="-176213" algn="ctr" latinLnBrk="0">
              <a:spcBef>
                <a:spcPts val="600"/>
              </a:spcBef>
            </a:pPr>
            <a:endParaRPr lang="ko-KR" altLang="en-US" sz="14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6545201" y="3772828"/>
            <a:ext cx="2962480" cy="14563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93663" lvl="0" indent="-93663" latinLnBrk="0">
              <a:spcBef>
                <a:spcPts val="600"/>
              </a:spcBef>
              <a:buFont typeface="Arial" pitchFamily="34" charset="0"/>
              <a:buChar char="•"/>
            </a:pPr>
            <a:endParaRPr lang="ko-KR" altLang="en-US" sz="120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내용 개체 틀 50"/>
          <p:cNvSpPr>
            <a:spLocks noGrp="1"/>
          </p:cNvSpPr>
          <p:nvPr>
            <p:ph idx="1"/>
          </p:nvPr>
        </p:nvSpPr>
        <p:spPr>
          <a:xfrm>
            <a:off x="272480" y="764704"/>
            <a:ext cx="9433048" cy="473611"/>
          </a:xfrm>
        </p:spPr>
        <p:txBody>
          <a:bodyPr/>
          <a:lstStyle/>
          <a:p>
            <a:r>
              <a:rPr lang="ko-KR" altLang="en-US" b="0" dirty="0" smtClean="0"/>
              <a:t>총 </a:t>
            </a:r>
            <a:r>
              <a:rPr lang="en-US" altLang="ko-KR" b="0" dirty="0" smtClean="0"/>
              <a:t>N</a:t>
            </a:r>
            <a:r>
              <a:rPr lang="ko-KR" altLang="en-US" b="0" dirty="0" smtClean="0"/>
              <a:t>개의 </a:t>
            </a:r>
            <a:r>
              <a:rPr lang="ko-KR" altLang="en-US" b="0" dirty="0" err="1" smtClean="0"/>
              <a:t>인사이트를</a:t>
            </a:r>
            <a:r>
              <a:rPr lang="ko-KR" altLang="en-US" b="0" dirty="0" smtClean="0"/>
              <a:t> 활용하여 </a:t>
            </a:r>
            <a:r>
              <a:rPr lang="en-US" altLang="ko-KR" b="0" dirty="0" smtClean="0"/>
              <a:t>N</a:t>
            </a:r>
            <a:r>
              <a:rPr lang="ko-KR" altLang="en-US" b="0" dirty="0" smtClean="0"/>
              <a:t>개의 후보 </a:t>
            </a:r>
            <a:r>
              <a:rPr lang="ko-KR" altLang="en-US" b="0" dirty="0" err="1" smtClean="0"/>
              <a:t>파생변수를</a:t>
            </a:r>
            <a:r>
              <a:rPr lang="ko-KR" altLang="en-US" b="0" dirty="0" smtClean="0"/>
              <a:t> 생성하여 </a:t>
            </a:r>
            <a:r>
              <a:rPr lang="ko-KR" altLang="en-US" b="0" dirty="0" err="1" smtClean="0"/>
              <a:t>실험계획를</a:t>
            </a:r>
            <a:r>
              <a:rPr lang="ko-KR" altLang="en-US" b="0" dirty="0" smtClean="0"/>
              <a:t> 수립  </a:t>
            </a:r>
            <a:endParaRPr lang="en-US" altLang="ko-KR" b="0" u="sng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746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016896" y="4419182"/>
            <a:ext cx="3312368" cy="34239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AutoNum type="romanUcPeriod"/>
            </a:pPr>
            <a:r>
              <a:rPr lang="ko-KR" altLang="en-US" sz="1600" dirty="0" smtClean="0"/>
              <a:t>배경 및 현황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분석 대상 및 목적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데이터 개요 및 전처리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/>
              <a:t>데이터 </a:t>
            </a:r>
            <a:r>
              <a:rPr lang="ko-KR" altLang="en-US" sz="1600" dirty="0" smtClean="0"/>
              <a:t>탐색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인사이트</a:t>
            </a:r>
            <a:r>
              <a:rPr lang="ko-KR" altLang="en-US" sz="1600" dirty="0" smtClean="0"/>
              <a:t> 도출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설계 </a:t>
            </a:r>
            <a:endParaRPr lang="en-US" altLang="ko-KR" sz="1600" dirty="0" smtClean="0"/>
          </a:p>
          <a:p>
            <a:pPr marL="400050" indent="-400050">
              <a:buFont typeface="+mj-lt"/>
              <a:buAutoNum type="romanUcPeriod"/>
            </a:pPr>
            <a:r>
              <a:rPr lang="ko-KR" altLang="en-US" sz="1600" dirty="0"/>
              <a:t>데이터 탐색</a:t>
            </a:r>
            <a:r>
              <a:rPr lang="en-US" altLang="ko-KR" sz="1600" dirty="0"/>
              <a:t>2 (</a:t>
            </a:r>
            <a:r>
              <a:rPr lang="ko-KR" altLang="en-US" sz="1600" dirty="0"/>
              <a:t>오차 분석</a:t>
            </a:r>
            <a:r>
              <a:rPr lang="en-US" altLang="ko-KR" sz="1600" dirty="0" smtClean="0"/>
              <a:t>)</a:t>
            </a:r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정교화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결론 </a:t>
            </a:r>
            <a:r>
              <a:rPr lang="ko-KR" altLang="en-US" sz="1600" dirty="0"/>
              <a:t>및 시사점</a:t>
            </a:r>
            <a:r>
              <a:rPr lang="ko-KR" altLang="en-US" sz="1600" dirty="0" smtClean="0"/>
              <a:t> 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○○○</a:t>
            </a:r>
            <a:r>
              <a:rPr lang="en-US" altLang="ko-KR" dirty="0" smtClean="0"/>
              <a:t> </a:t>
            </a:r>
            <a:r>
              <a:rPr lang="ko-KR" altLang="en-US" dirty="0"/>
              <a:t>경진대회 참여 후기</a:t>
            </a:r>
          </a:p>
        </p:txBody>
      </p:sp>
    </p:spTree>
    <p:extLst>
      <p:ext uri="{BB962C8B-B14F-4D97-AF65-F5344CB8AC3E}">
        <p14:creationId xmlns:p14="http://schemas.microsoft.com/office/powerpoint/2010/main" val="241634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913960" cy="274638"/>
          </a:xfrm>
        </p:spPr>
        <p:txBody>
          <a:bodyPr/>
          <a:lstStyle/>
          <a:p>
            <a:r>
              <a:rPr lang="ko-KR" altLang="en-US" dirty="0" smtClean="0"/>
              <a:t>실험 계획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16496" y="980728"/>
            <a:ext cx="87849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AutoNum type="romanUcPeriod"/>
            </a:pPr>
            <a:r>
              <a:rPr lang="en-US" altLang="ko-KR" b="1" dirty="0">
                <a:latin typeface="+mn-ea"/>
                <a:ea typeface="+mn-ea"/>
              </a:rPr>
              <a:t>Valid1 </a:t>
            </a:r>
            <a:r>
              <a:rPr lang="ko-KR" altLang="en-US" b="1" dirty="0">
                <a:latin typeface="+mn-ea"/>
                <a:ea typeface="+mn-ea"/>
              </a:rPr>
              <a:t>데이터 소개 </a:t>
            </a:r>
            <a:endParaRPr lang="en-US" altLang="ko-KR" b="1" dirty="0">
              <a:latin typeface="+mn-ea"/>
              <a:ea typeface="+mn-ea"/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en-US" altLang="ko-KR" b="1" dirty="0">
                <a:latin typeface="+mn-ea"/>
                <a:ea typeface="+mn-ea"/>
              </a:rPr>
              <a:t>Valid2 </a:t>
            </a:r>
            <a:r>
              <a:rPr lang="ko-KR" altLang="en-US" b="1" dirty="0">
                <a:latin typeface="+mn-ea"/>
                <a:ea typeface="+mn-ea"/>
              </a:rPr>
              <a:t>데이터 소개 </a:t>
            </a:r>
            <a:r>
              <a:rPr lang="en-US" altLang="ko-KR" b="1" dirty="0">
                <a:latin typeface="+mn-ea"/>
                <a:ea typeface="+mn-ea"/>
              </a:rPr>
              <a:t>(</a:t>
            </a:r>
            <a:r>
              <a:rPr lang="ko-KR" altLang="en-US" b="1" dirty="0">
                <a:latin typeface="+mn-ea"/>
                <a:ea typeface="+mn-ea"/>
              </a:rPr>
              <a:t>각 사고유형별 단문 중문 장문 </a:t>
            </a:r>
            <a:r>
              <a:rPr lang="ko-KR" altLang="en-US" b="1" dirty="0" err="1">
                <a:latin typeface="+mn-ea"/>
                <a:ea typeface="+mn-ea"/>
              </a:rPr>
              <a:t>검증데이터</a:t>
            </a:r>
            <a:r>
              <a:rPr lang="en-US" altLang="ko-KR" b="1" dirty="0">
                <a:latin typeface="+mn-ea"/>
                <a:ea typeface="+mn-ea"/>
              </a:rPr>
              <a:t>2)</a:t>
            </a: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en-US" altLang="ko-KR" b="1" dirty="0">
                <a:latin typeface="+mn-ea"/>
                <a:ea typeface="+mn-ea"/>
              </a:rPr>
              <a:t>GROUP BY </a:t>
            </a:r>
            <a:r>
              <a:rPr lang="ko-KR" altLang="en-US" b="1" dirty="0" err="1">
                <a:latin typeface="+mn-ea"/>
                <a:ea typeface="+mn-ea"/>
              </a:rPr>
              <a:t>사고원인별</a:t>
            </a:r>
            <a:r>
              <a:rPr lang="ko-KR" altLang="en-US" b="1" dirty="0">
                <a:latin typeface="+mn-ea"/>
                <a:ea typeface="+mn-ea"/>
              </a:rPr>
              <a:t>  교집합</a:t>
            </a:r>
            <a:r>
              <a:rPr lang="en-US" altLang="ko-KR" b="1" dirty="0">
                <a:latin typeface="+mn-ea"/>
                <a:ea typeface="+mn-ea"/>
              </a:rPr>
              <a:t>(</a:t>
            </a:r>
            <a:r>
              <a:rPr lang="ko-KR" altLang="en-US" b="1" dirty="0">
                <a:latin typeface="+mn-ea"/>
                <a:ea typeface="+mn-ea"/>
              </a:rPr>
              <a:t>사고원인 </a:t>
            </a:r>
            <a:r>
              <a:rPr lang="ko-KR" altLang="en-US" b="1" dirty="0" err="1">
                <a:latin typeface="+mn-ea"/>
                <a:ea typeface="+mn-ea"/>
              </a:rPr>
              <a:t>중요단어</a:t>
            </a:r>
            <a:r>
              <a:rPr lang="ko-KR" altLang="en-US" b="1" dirty="0">
                <a:latin typeface="+mn-ea"/>
                <a:ea typeface="+mn-ea"/>
              </a:rPr>
              <a:t> </a:t>
            </a:r>
            <a:r>
              <a:rPr lang="en-US" altLang="ko-KR" b="1" dirty="0">
                <a:latin typeface="+mn-ea"/>
                <a:ea typeface="+mn-ea"/>
              </a:rPr>
              <a:t>= </a:t>
            </a:r>
            <a:r>
              <a:rPr lang="ko-KR" altLang="en-US" b="1" dirty="0">
                <a:latin typeface="+mn-ea"/>
                <a:ea typeface="+mn-ea"/>
              </a:rPr>
              <a:t>재발방지대책 </a:t>
            </a:r>
            <a:r>
              <a:rPr lang="ko-KR" altLang="en-US" b="1" dirty="0" err="1">
                <a:latin typeface="+mn-ea"/>
                <a:ea typeface="+mn-ea"/>
              </a:rPr>
              <a:t>중요단어</a:t>
            </a:r>
            <a:r>
              <a:rPr lang="en-US" altLang="ko-KR" b="1" dirty="0">
                <a:latin typeface="+mn-ea"/>
                <a:ea typeface="+mn-ea"/>
              </a:rPr>
              <a:t>) </a:t>
            </a: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b="1" dirty="0">
                <a:latin typeface="+mn-ea"/>
                <a:ea typeface="+mn-ea"/>
              </a:rPr>
              <a:t>형용사 특수기호 사고사유에서 다 제거해보고 테스트</a:t>
            </a:r>
            <a:endParaRPr lang="en-US" altLang="ko-KR" b="1" dirty="0">
              <a:latin typeface="+mn-ea"/>
              <a:ea typeface="+mn-ea"/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en-US" altLang="ko-KR" b="1" dirty="0">
                <a:latin typeface="+mn-ea"/>
                <a:ea typeface="+mn-ea"/>
              </a:rPr>
              <a:t>PDF </a:t>
            </a:r>
            <a:r>
              <a:rPr lang="ko-KR" altLang="en-US" b="1" dirty="0">
                <a:latin typeface="+mn-ea"/>
                <a:ea typeface="+mn-ea"/>
              </a:rPr>
              <a:t>파일로 </a:t>
            </a:r>
            <a:r>
              <a:rPr lang="ko-KR" altLang="en-US" b="1" dirty="0" err="1">
                <a:latin typeface="+mn-ea"/>
                <a:ea typeface="+mn-ea"/>
              </a:rPr>
              <a:t>파인튜닝</a:t>
            </a:r>
            <a:endParaRPr lang="en-US" altLang="ko-KR" b="1" dirty="0">
              <a:latin typeface="+mn-ea"/>
              <a:ea typeface="+mn-ea"/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b="1" dirty="0">
                <a:latin typeface="+mn-ea"/>
                <a:ea typeface="+mn-ea"/>
              </a:rPr>
              <a:t>도움이 되는 단어 사전도 만들기</a:t>
            </a:r>
            <a:endParaRPr lang="en-US" altLang="ko-KR" b="1" dirty="0">
              <a:latin typeface="+mn-ea"/>
              <a:ea typeface="+mn-ea"/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b="1" dirty="0">
                <a:latin typeface="+mn-ea"/>
                <a:ea typeface="+mn-ea"/>
              </a:rPr>
              <a:t>도움이 안되는 </a:t>
            </a:r>
            <a:r>
              <a:rPr lang="ko-KR" altLang="en-US" b="1" dirty="0" err="1">
                <a:latin typeface="+mn-ea"/>
                <a:ea typeface="+mn-ea"/>
              </a:rPr>
              <a:t>단어모음</a:t>
            </a:r>
            <a:r>
              <a:rPr lang="ko-KR" altLang="en-US" b="1" dirty="0">
                <a:latin typeface="+mn-ea"/>
                <a:ea typeface="+mn-ea"/>
              </a:rPr>
              <a:t> 사전 하나 만들기</a:t>
            </a:r>
            <a:endParaRPr lang="en-US" altLang="ko-KR" b="1" dirty="0">
              <a:latin typeface="+mn-ea"/>
              <a:ea typeface="+mn-ea"/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b="1" dirty="0">
                <a:latin typeface="+mn-ea"/>
                <a:ea typeface="+mn-ea"/>
              </a:rPr>
              <a:t>프롬프트 개수 조절이 </a:t>
            </a:r>
            <a:r>
              <a:rPr lang="ko-KR" altLang="en-US" b="1" dirty="0" smtClean="0">
                <a:latin typeface="+mn-ea"/>
                <a:ea typeface="+mn-ea"/>
              </a:rPr>
              <a:t>필요</a:t>
            </a:r>
            <a:r>
              <a:rPr lang="en-US" altLang="ko-KR" b="1" dirty="0" smtClean="0">
                <a:latin typeface="+mn-ea"/>
                <a:ea typeface="+mn-ea"/>
              </a:rPr>
              <a:t>? </a:t>
            </a:r>
            <a:r>
              <a:rPr lang="ko-KR" altLang="en-US" b="1" dirty="0" smtClean="0">
                <a:latin typeface="+mn-ea"/>
                <a:ea typeface="+mn-ea"/>
              </a:rPr>
              <a:t> </a:t>
            </a:r>
            <a:endParaRPr lang="ko-KR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7722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913960" cy="274638"/>
          </a:xfrm>
        </p:spPr>
        <p:txBody>
          <a:bodyPr/>
          <a:lstStyle/>
          <a:p>
            <a:r>
              <a:rPr lang="ko-KR" altLang="en-US" dirty="0" smtClean="0"/>
              <a:t>실험</a:t>
            </a:r>
            <a:r>
              <a:rPr lang="en-US" altLang="ko-KR" dirty="0"/>
              <a:t>1</a:t>
            </a:r>
            <a:r>
              <a:rPr lang="en-US" altLang="ko-KR" dirty="0" smtClean="0"/>
              <a:t> : </a:t>
            </a:r>
            <a:r>
              <a:rPr lang="ko-KR" altLang="en-US" b="0" dirty="0" smtClean="0"/>
              <a:t>필수단어사전 만들기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8481392" y="197805"/>
            <a:ext cx="1152128" cy="36004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F0000"/>
                </a:solidFill>
              </a:rPr>
              <a:t>문제해결능력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8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648073"/>
          </a:xfrm>
        </p:spPr>
        <p:txBody>
          <a:bodyPr/>
          <a:lstStyle/>
          <a:p>
            <a:r>
              <a:rPr lang="ko-KR" altLang="en-US" b="0" dirty="0" err="1"/>
              <a:t>실험명</a:t>
            </a:r>
            <a:r>
              <a:rPr lang="ko-KR" altLang="en-US" b="0" dirty="0"/>
              <a:t> </a:t>
            </a:r>
            <a:r>
              <a:rPr lang="en-US" altLang="ko-KR" b="0" dirty="0"/>
              <a:t>: </a:t>
            </a:r>
            <a:r>
              <a:rPr lang="ko-KR" altLang="en-US" b="0" dirty="0" smtClean="0"/>
              <a:t>불필요한 단어 삭제 전처리 </a:t>
            </a:r>
            <a:endParaRPr lang="en-US" altLang="ko-KR" b="0" dirty="0"/>
          </a:p>
          <a:p>
            <a:r>
              <a:rPr lang="ko-KR" altLang="en-US" b="0" dirty="0" smtClean="0"/>
              <a:t>방법 </a:t>
            </a:r>
            <a:r>
              <a:rPr lang="en-US" altLang="ko-KR" b="0" dirty="0" smtClean="0"/>
              <a:t>: </a:t>
            </a:r>
            <a:r>
              <a:rPr lang="ko-KR" altLang="en-US" b="0" dirty="0"/>
              <a:t>사고원인 </a:t>
            </a:r>
            <a:r>
              <a:rPr lang="ko-KR" altLang="en-US" b="0" dirty="0" err="1"/>
              <a:t>중요단어</a:t>
            </a:r>
            <a:r>
              <a:rPr lang="ko-KR" altLang="en-US" b="0" dirty="0"/>
              <a:t> </a:t>
            </a:r>
            <a:r>
              <a:rPr lang="ko-KR" altLang="en-US" b="0" dirty="0" smtClean="0">
                <a:latin typeface="으뜸돋움MR" panose="02000503000000020003" pitchFamily="2" charset="-127"/>
                <a:ea typeface="으뜸돋움MR" panose="02000503000000020003" pitchFamily="2" charset="-127"/>
              </a:rPr>
              <a:t>∩</a:t>
            </a:r>
            <a:r>
              <a:rPr lang="ko-KR" altLang="en-US" b="0" dirty="0" smtClean="0"/>
              <a:t> </a:t>
            </a:r>
            <a:r>
              <a:rPr lang="ko-KR" altLang="en-US" b="0" dirty="0"/>
              <a:t>재발방지대책 </a:t>
            </a:r>
            <a:r>
              <a:rPr lang="ko-KR" altLang="en-US" b="0" dirty="0" err="1" smtClean="0"/>
              <a:t>중요단어</a:t>
            </a:r>
            <a:r>
              <a:rPr lang="ko-KR" altLang="en-US" b="0" dirty="0" smtClean="0"/>
              <a:t>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/>
              <a:t>필수단어모음집 생성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필수단어모음집에 없는 단어 삭제  </a:t>
            </a:r>
            <a:endParaRPr lang="ko-KR" altLang="en-US" b="0" dirty="0"/>
          </a:p>
        </p:txBody>
      </p:sp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300192"/>
              </p:ext>
            </p:extLst>
          </p:nvPr>
        </p:nvGraphicFramePr>
        <p:xfrm>
          <a:off x="408347" y="1844825"/>
          <a:ext cx="4472645" cy="2304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3684">
                  <a:extLst>
                    <a:ext uri="{9D8B030D-6E8A-4147-A177-3AD203B41FA5}">
                      <a16:colId xmlns:a16="http://schemas.microsoft.com/office/drawing/2014/main" val="3672947605"/>
                    </a:ext>
                  </a:extLst>
                </a:gridCol>
                <a:gridCol w="2418961">
                  <a:extLst>
                    <a:ext uri="{9D8B030D-6E8A-4147-A177-3AD203B41FA5}">
                      <a16:colId xmlns:a16="http://schemas.microsoft.com/office/drawing/2014/main" val="4140659884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u="none" strike="noStrike">
                          <a:effectLst/>
                        </a:rPr>
                        <a:t>사고원인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u="none" strike="noStrike" dirty="0">
                          <a:effectLst/>
                        </a:rPr>
                        <a:t>사고원인</a:t>
                      </a:r>
                      <a:r>
                        <a:rPr lang="en-US" altLang="ko-KR" sz="1000" u="none" strike="noStrike" dirty="0">
                          <a:effectLst/>
                        </a:rPr>
                        <a:t>_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중요단어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59571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 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9457948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부주의로 인한 사고발생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인한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사고발생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79754401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불안전한 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불안전한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289322898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 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410486364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근로자의 불안전한 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불안전한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321463271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부주의로 발생한 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발생한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90266789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장기간 근로로 인한 주관절 피로 누적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장기간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근로로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인한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주관절</a:t>
                      </a:r>
                      <a:r>
                        <a:rPr lang="ko-KR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피로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누적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85802702"/>
                  </a:ext>
                </a:extLst>
              </a:tr>
            </a:tbl>
          </a:graphicData>
        </a:graphic>
      </p:graphicFrame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362277"/>
              </p:ext>
            </p:extLst>
          </p:nvPr>
        </p:nvGraphicFramePr>
        <p:xfrm>
          <a:off x="5241032" y="1844825"/>
          <a:ext cx="4366711" cy="2304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5042">
                  <a:extLst>
                    <a:ext uri="{9D8B030D-6E8A-4147-A177-3AD203B41FA5}">
                      <a16:colId xmlns:a16="http://schemas.microsoft.com/office/drawing/2014/main" val="3672947605"/>
                    </a:ext>
                  </a:extLst>
                </a:gridCol>
                <a:gridCol w="2361669">
                  <a:extLst>
                    <a:ext uri="{9D8B030D-6E8A-4147-A177-3AD203B41FA5}">
                      <a16:colId xmlns:a16="http://schemas.microsoft.com/office/drawing/2014/main" val="4140659884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재발방지대책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재발방지대책</a:t>
                      </a:r>
                      <a:r>
                        <a:rPr lang="en-US" altLang="ko-KR" sz="1000" u="none" strike="noStrike" dirty="0" smtClean="0">
                          <a:effectLst/>
                        </a:rPr>
                        <a:t>_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중요단어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59571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 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작업자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9457948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부주의로 인한 사고발생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작업자의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부주의로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인한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사고발생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79754401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불안전한 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불안전한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289322898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 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근로자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410486364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근로자의 불안전한 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근로자의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불안전한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321463271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부주의로 발생한 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발생한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90266789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장기간 근로로 인한 주관절 피로 누적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장기간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근로로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인한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 err="1">
                          <a:effectLst/>
                        </a:rPr>
                        <a:t>주관절</a:t>
                      </a:r>
                      <a:r>
                        <a:rPr lang="ko-KR" altLang="en-US" sz="1000" u="none" strike="noStrike" dirty="0">
                          <a:effectLst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피로 </a:t>
                      </a:r>
                      <a:r>
                        <a:rPr lang="en-US" altLang="ko-KR" sz="1000" u="none" strike="noStrike" dirty="0">
                          <a:effectLst/>
                        </a:rPr>
                        <a:t>| </a:t>
                      </a:r>
                      <a:r>
                        <a:rPr lang="ko-KR" altLang="en-US" sz="1000" u="none" strike="noStrike" dirty="0">
                          <a:effectLst/>
                        </a:rPr>
                        <a:t>누적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85802702"/>
                  </a:ext>
                </a:extLst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4792004" y="5570077"/>
            <a:ext cx="18473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endParaRPr lang="ko-KR" altLang="en-US" sz="1400" dirty="0">
              <a:latin typeface="+mn-ea"/>
              <a:ea typeface="+mn-ea"/>
            </a:endParaRPr>
          </a:p>
        </p:txBody>
      </p:sp>
      <p:cxnSp>
        <p:nvCxnSpPr>
          <p:cNvPr id="3" name="구부러진 연결선 2"/>
          <p:cNvCxnSpPr>
            <a:stCxn id="39" idx="2"/>
            <a:endCxn id="14" idx="1"/>
          </p:cNvCxnSpPr>
          <p:nvPr/>
        </p:nvCxnSpPr>
        <p:spPr>
          <a:xfrm rot="16200000" flipH="1">
            <a:off x="2535340" y="4258409"/>
            <a:ext cx="1457237" cy="123857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/>
          <p:nvPr/>
        </p:nvCxnSpPr>
        <p:spPr>
          <a:xfrm rot="5400000">
            <a:off x="5854948" y="4255244"/>
            <a:ext cx="1508473" cy="129614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/>
          <p:cNvSpPr/>
          <p:nvPr/>
        </p:nvSpPr>
        <p:spPr>
          <a:xfrm>
            <a:off x="3883248" y="4903315"/>
            <a:ext cx="2077864" cy="14060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사고원인별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필수포함단어</a:t>
            </a:r>
            <a:r>
              <a:rPr lang="en-US" altLang="ko-KR" sz="1400" dirty="0">
                <a:solidFill>
                  <a:schemeClr val="tx1"/>
                </a:solidFill>
              </a:rPr>
              <a:t>DB</a:t>
            </a:r>
          </a:p>
        </p:txBody>
      </p:sp>
    </p:spTree>
    <p:extLst>
      <p:ext uri="{BB962C8B-B14F-4D97-AF65-F5344CB8AC3E}">
        <p14:creationId xmlns:p14="http://schemas.microsoft.com/office/powerpoint/2010/main" val="39833633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913960" cy="274638"/>
          </a:xfrm>
        </p:spPr>
        <p:txBody>
          <a:bodyPr/>
          <a:lstStyle/>
          <a:p>
            <a:r>
              <a:rPr lang="ko-KR" altLang="en-US" dirty="0" smtClean="0"/>
              <a:t>실험</a:t>
            </a:r>
            <a:r>
              <a:rPr lang="en-US" altLang="ko-KR" dirty="0"/>
              <a:t>2</a:t>
            </a:r>
            <a:r>
              <a:rPr lang="en-US" altLang="ko-KR" dirty="0" smtClean="0"/>
              <a:t> : </a:t>
            </a:r>
            <a:r>
              <a:rPr lang="en-US" altLang="ko-KR" b="0" dirty="0"/>
              <a:t>OOO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 err="1" smtClean="0"/>
              <a:t>실험명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성능 향상을 위해 </a:t>
            </a:r>
            <a:r>
              <a:rPr lang="ko-KR" altLang="en-US" b="0" dirty="0" err="1" smtClean="0"/>
              <a:t>파생변수</a:t>
            </a:r>
            <a:r>
              <a:rPr lang="ko-KR" altLang="en-US" b="0" dirty="0" smtClean="0"/>
              <a:t> 테스트</a:t>
            </a:r>
            <a:endParaRPr lang="en-US" altLang="ko-KR" b="0" dirty="0" smtClean="0"/>
          </a:p>
          <a:p>
            <a:r>
              <a:rPr lang="ko-KR" altLang="en-US" b="0" dirty="0" smtClean="0"/>
              <a:t>후보 </a:t>
            </a:r>
            <a:r>
              <a:rPr lang="ko-KR" altLang="en-US" b="0" dirty="0" err="1" smtClean="0"/>
              <a:t>파생변수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: OOO, OOO, OOO </a:t>
            </a:r>
          </a:p>
          <a:p>
            <a:r>
              <a:rPr lang="ko-KR" altLang="en-US" b="0" dirty="0"/>
              <a:t>방법 </a:t>
            </a:r>
            <a:r>
              <a:rPr lang="en-US" altLang="ko-KR" b="0" dirty="0"/>
              <a:t>: </a:t>
            </a:r>
            <a:r>
              <a:rPr lang="ko-KR" altLang="en-US" b="0" dirty="0" err="1" smtClean="0"/>
              <a:t>파생변수</a:t>
            </a:r>
            <a:r>
              <a:rPr lang="ko-KR" altLang="en-US" b="0" dirty="0" smtClean="0"/>
              <a:t> 생성 후 모델 추가 학습 진행하여 </a:t>
            </a:r>
            <a:r>
              <a:rPr lang="en-US" altLang="ko-KR" b="0" dirty="0" smtClean="0"/>
              <a:t>AB</a:t>
            </a:r>
            <a:r>
              <a:rPr lang="ko-KR" altLang="en-US" b="0" dirty="0" smtClean="0"/>
              <a:t>테스트 진행 </a:t>
            </a:r>
            <a:endParaRPr lang="en-US" altLang="ko-KR" b="0" dirty="0"/>
          </a:p>
          <a:p>
            <a:r>
              <a:rPr lang="ko-KR" altLang="en-US" b="0" dirty="0" smtClean="0"/>
              <a:t> </a:t>
            </a:r>
            <a:endParaRPr lang="en-US" altLang="ko-KR" b="0" dirty="0" smtClean="0"/>
          </a:p>
        </p:txBody>
      </p:sp>
      <p:sp>
        <p:nvSpPr>
          <p:cNvPr id="13" name="직사각형 12"/>
          <p:cNvSpPr/>
          <p:nvPr/>
        </p:nvSpPr>
        <p:spPr>
          <a:xfrm>
            <a:off x="8481392" y="197805"/>
            <a:ext cx="1152128" cy="36004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rgbClr val="FF0000"/>
                </a:solidFill>
              </a:rPr>
              <a:t>문제해결능력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731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049864" cy="274638"/>
          </a:xfrm>
        </p:spPr>
        <p:txBody>
          <a:bodyPr/>
          <a:lstStyle/>
          <a:p>
            <a:r>
              <a:rPr lang="ko-KR" altLang="en-US" dirty="0" smtClean="0"/>
              <a:t>모델 학습 실험 </a:t>
            </a:r>
            <a:r>
              <a:rPr lang="ko-KR" altLang="en-US" dirty="0" err="1" smtClean="0"/>
              <a:t>결과서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모델 학습 설계서 와 학습 결과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 smtClean="0"/>
              <a:t>N</a:t>
            </a:r>
            <a:r>
              <a:rPr lang="ko-KR" altLang="en-US" b="0" dirty="0" smtClean="0"/>
              <a:t>개의 다양한 실험결과 </a:t>
            </a:r>
            <a:r>
              <a:rPr lang="ko-KR" altLang="en-US" b="0" dirty="0" err="1" smtClean="0"/>
              <a:t>최종모델</a:t>
            </a:r>
            <a:r>
              <a:rPr lang="en-US" altLang="ko-KR" b="0" dirty="0" smtClean="0"/>
              <a:t>: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b="0" dirty="0"/>
              <a:t>model : MLP-</a:t>
            </a:r>
            <a:r>
              <a:rPr lang="en-US" altLang="ko-KR" b="0" dirty="0" err="1"/>
              <a:t>KTLim</a:t>
            </a:r>
            <a:r>
              <a:rPr lang="en-US" altLang="ko-KR" b="0" dirty="0"/>
              <a:t>/llama-3-Korean-Bllossom-8B (float16)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b="0" dirty="0" err="1"/>
              <a:t>vector_store.as_retriever</a:t>
            </a:r>
            <a:r>
              <a:rPr lang="en-US" altLang="ko-KR" b="0" dirty="0"/>
              <a:t>: similarity : 10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b="0" dirty="0"/>
              <a:t>pipeline: temperature 0.1 or 0.2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b="0" dirty="0"/>
              <a:t>pipeline: </a:t>
            </a:r>
            <a:r>
              <a:rPr lang="en-US" altLang="ko-KR" b="0" dirty="0" err="1"/>
              <a:t>max_new_tokens</a:t>
            </a:r>
            <a:r>
              <a:rPr lang="en-US" altLang="ko-KR" b="0" dirty="0"/>
              <a:t> 64 -&gt; 80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b="0" dirty="0" err="1"/>
              <a:t>RetrievalQA.from_chain_type</a:t>
            </a:r>
            <a:r>
              <a:rPr lang="en-US" altLang="ko-KR" b="0" dirty="0"/>
              <a:t> : stuff</a:t>
            </a:r>
          </a:p>
          <a:p>
            <a:endParaRPr lang="en-US" altLang="ko-KR" b="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18688"/>
          <a:stretch/>
        </p:blipFill>
        <p:spPr>
          <a:xfrm>
            <a:off x="3728864" y="1772816"/>
            <a:ext cx="5832648" cy="456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72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최종모델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예측오차</a:t>
            </a:r>
            <a:r>
              <a:rPr lang="ko-KR" altLang="en-US" dirty="0" smtClean="0"/>
              <a:t> 및 변동성 분석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32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381750" y="2150831"/>
            <a:ext cx="3039890" cy="41427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72000" rtlCol="0" anchor="t"/>
          <a:lstStyle/>
          <a:p>
            <a:pPr marL="176213" indent="-176213">
              <a:spcBef>
                <a:spcPts val="500"/>
              </a:spcBef>
              <a:buClr>
                <a:srgbClr val="C00000"/>
              </a:buClr>
              <a:buFont typeface="맑은 고딕" pitchFamily="50" charset="-127"/>
              <a:buChar char="⇒"/>
            </a:pPr>
            <a:endParaRPr lang="en-US" altLang="ko-KR" sz="1200" spc="-5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416496" y="1484784"/>
            <a:ext cx="3024336" cy="399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파일럿 테스트 결과 </a:t>
            </a:r>
            <a:r>
              <a:rPr lang="en-US" altLang="ko-KR" sz="1400" dirty="0" smtClean="0"/>
              <a:t>:2024.01 ~05</a:t>
            </a:r>
            <a:endParaRPr lang="ko-KR" altLang="en-US" sz="1400" dirty="0"/>
          </a:p>
        </p:txBody>
      </p:sp>
      <p:graphicFrame>
        <p:nvGraphicFramePr>
          <p:cNvPr id="9" name="차트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4376290"/>
              </p:ext>
            </p:extLst>
          </p:nvPr>
        </p:nvGraphicFramePr>
        <p:xfrm>
          <a:off x="430593" y="2127285"/>
          <a:ext cx="5674659" cy="4182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0" name="직선 화살표 연결선 9"/>
          <p:cNvCxnSpPr/>
          <p:nvPr/>
        </p:nvCxnSpPr>
        <p:spPr>
          <a:xfrm>
            <a:off x="4312311" y="2870911"/>
            <a:ext cx="0" cy="14661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4030" y="3665185"/>
            <a:ext cx="1505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최대 </a:t>
            </a:r>
            <a:r>
              <a:rPr lang="en-US" altLang="ko-KR" sz="1200" b="1" dirty="0" smtClean="0">
                <a:solidFill>
                  <a:srgbClr val="7030A0"/>
                </a:solidFill>
              </a:rPr>
              <a:t>20%p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갭 발생</a:t>
            </a:r>
            <a:endParaRPr lang="ko-KR" altLang="en-US" sz="1200" dirty="0"/>
          </a:p>
        </p:txBody>
      </p:sp>
      <p:sp>
        <p:nvSpPr>
          <p:cNvPr id="12" name="사각형 설명선 11"/>
          <p:cNvSpPr/>
          <p:nvPr/>
        </p:nvSpPr>
        <p:spPr>
          <a:xfrm>
            <a:off x="4805607" y="2150831"/>
            <a:ext cx="867473" cy="317122"/>
          </a:xfrm>
          <a:prstGeom prst="wedgeRectCallout">
            <a:avLst>
              <a:gd name="adj1" fmla="val -30637"/>
              <a:gd name="adj2" fmla="val 89454"/>
            </a:avLst>
          </a:prstGeom>
          <a:solidFill>
            <a:srgbClr val="00B05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모델 적용 후</a:t>
            </a:r>
            <a:endParaRPr lang="ko-KR" altLang="en-US" sz="1000" dirty="0"/>
          </a:p>
        </p:txBody>
      </p:sp>
      <p:sp>
        <p:nvSpPr>
          <p:cNvPr id="13" name="사각형 설명선 12"/>
          <p:cNvSpPr/>
          <p:nvPr/>
        </p:nvSpPr>
        <p:spPr>
          <a:xfrm>
            <a:off x="4805607" y="4395754"/>
            <a:ext cx="867473" cy="325537"/>
          </a:xfrm>
          <a:prstGeom prst="wedgeRectCallout">
            <a:avLst>
              <a:gd name="adj1" fmla="val -40641"/>
              <a:gd name="adj2" fmla="val -71679"/>
            </a:avLst>
          </a:prstGeom>
          <a:solidFill>
            <a:schemeClr val="accent4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모델 적용 전 </a:t>
            </a:r>
            <a:endParaRPr lang="ko-KR" altLang="en-US" sz="1000" dirty="0"/>
          </a:p>
        </p:txBody>
      </p:sp>
      <p:sp>
        <p:nvSpPr>
          <p:cNvPr id="16" name="내용 개체 틀 5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656801"/>
          </a:xfrm>
        </p:spPr>
        <p:txBody>
          <a:bodyPr/>
          <a:lstStyle/>
          <a:p>
            <a:r>
              <a:rPr lang="ko-KR" altLang="en-US" dirty="0" smtClean="0"/>
              <a:t>파일럿 테스트 결과 모델 적용 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모델 적용 전 </a:t>
            </a:r>
            <a:r>
              <a:rPr lang="ko-KR" altLang="en-US" dirty="0" smtClean="0">
                <a:solidFill>
                  <a:srgbClr val="7030A0"/>
                </a:solidFill>
              </a:rPr>
              <a:t>대비 최대 </a:t>
            </a:r>
            <a:r>
              <a:rPr lang="en-US" altLang="ko-KR" dirty="0" smtClean="0">
                <a:solidFill>
                  <a:srgbClr val="7030A0"/>
                </a:solidFill>
              </a:rPr>
              <a:t>20%p (</a:t>
            </a:r>
            <a:r>
              <a:rPr lang="ko-KR" altLang="en-US" dirty="0" smtClean="0">
                <a:solidFill>
                  <a:srgbClr val="7030A0"/>
                </a:solidFill>
              </a:rPr>
              <a:t>평균 </a:t>
            </a:r>
            <a:r>
              <a:rPr lang="en-US" altLang="ko-KR" dirty="0" smtClean="0">
                <a:solidFill>
                  <a:srgbClr val="7030A0"/>
                </a:solidFill>
              </a:rPr>
              <a:t>18.5%p) </a:t>
            </a:r>
            <a:r>
              <a:rPr lang="ko-KR" altLang="en-US" dirty="0" smtClean="0"/>
              <a:t>성능 개선 됨 </a:t>
            </a:r>
            <a:endParaRPr lang="en-US" altLang="ko-KR" dirty="0" smtClean="0"/>
          </a:p>
        </p:txBody>
      </p:sp>
      <p:sp>
        <p:nvSpPr>
          <p:cNvPr id="18" name="직사각형 17"/>
          <p:cNvSpPr/>
          <p:nvPr/>
        </p:nvSpPr>
        <p:spPr>
          <a:xfrm>
            <a:off x="8481392" y="197805"/>
            <a:ext cx="1152128" cy="36004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</a:rPr>
              <a:t>example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508188" y="6070013"/>
            <a:ext cx="244481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03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279400" y="980729"/>
            <a:ext cx="9282112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72000" rtlCol="0" anchor="t"/>
          <a:lstStyle/>
          <a:p>
            <a:pPr marL="176213" indent="-176213">
              <a:spcBef>
                <a:spcPts val="500"/>
              </a:spcBef>
              <a:buClr>
                <a:srgbClr val="C00000"/>
              </a:buClr>
              <a:buFont typeface="맑은 고딕" pitchFamily="50" charset="-127"/>
              <a:buChar char="⇒"/>
            </a:pPr>
            <a:r>
              <a: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79400" y="377825"/>
            <a:ext cx="7409904" cy="274638"/>
          </a:xfrm>
        </p:spPr>
        <p:txBody>
          <a:bodyPr/>
          <a:lstStyle/>
          <a:p>
            <a:r>
              <a:rPr lang="ko-KR" altLang="en-US" dirty="0" smtClean="0"/>
              <a:t>결론 및 시사점 </a:t>
            </a:r>
            <a:r>
              <a:rPr lang="en-US" altLang="ko-KR" dirty="0" smtClean="0"/>
              <a:t>(</a:t>
            </a:r>
            <a:r>
              <a:rPr lang="ko-KR" altLang="en-US" dirty="0" smtClean="0"/>
              <a:t>기대효과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경진대회를 통해서 배운 점 등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79400" y="2044851"/>
            <a:ext cx="9282112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72000" rtlCol="0" anchor="t"/>
          <a:lstStyle/>
          <a:p>
            <a:pPr marL="176213" indent="-176213">
              <a:spcBef>
                <a:spcPts val="500"/>
              </a:spcBef>
              <a:buClr>
                <a:srgbClr val="C00000"/>
              </a:buClr>
              <a:buFont typeface="맑은 고딕" pitchFamily="50" charset="-127"/>
              <a:buChar char="⇒"/>
            </a:pPr>
            <a:r>
              <a: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79400" y="3113564"/>
            <a:ext cx="9282112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72000" rtlCol="0" anchor="t"/>
          <a:lstStyle/>
          <a:p>
            <a:pPr marL="176213" indent="-176213">
              <a:spcBef>
                <a:spcPts val="500"/>
              </a:spcBef>
              <a:buClr>
                <a:srgbClr val="C00000"/>
              </a:buClr>
              <a:buFont typeface="맑은 고딕" pitchFamily="50" charset="-127"/>
              <a:buChar char="⇒"/>
            </a:pPr>
            <a:r>
              <a: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79400" y="4198321"/>
            <a:ext cx="9282112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72000" rtlCol="0" anchor="t"/>
          <a:lstStyle/>
          <a:p>
            <a:pPr marL="176213" indent="-176213">
              <a:spcBef>
                <a:spcPts val="500"/>
              </a:spcBef>
              <a:buClr>
                <a:srgbClr val="C00000"/>
              </a:buClr>
              <a:buFont typeface="맑은 고딕" pitchFamily="50" charset="-127"/>
              <a:buChar char="⇒"/>
            </a:pPr>
            <a:r>
              <a: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79400" y="5270874"/>
            <a:ext cx="9282112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72000" rtlCol="0" anchor="t"/>
          <a:lstStyle/>
          <a:p>
            <a:pPr marL="176213" indent="-176213">
              <a:spcBef>
                <a:spcPts val="500"/>
              </a:spcBef>
              <a:buClr>
                <a:srgbClr val="C00000"/>
              </a:buClr>
              <a:buFont typeface="맑은 고딕" pitchFamily="50" charset="-127"/>
              <a:buChar char="⇒"/>
            </a:pPr>
            <a:r>
              <a:rPr lang="en-US" altLang="ko-KR" sz="1200" spc="-5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962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19767</TotalTime>
  <Words>2086</Words>
  <Application>Microsoft Office PowerPoint</Application>
  <PresentationFormat>A4 용지(210x297mm)</PresentationFormat>
  <Paragraphs>419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33</vt:i4>
      </vt:variant>
    </vt:vector>
  </HeadingPairs>
  <TitlesOfParts>
    <vt:vector size="51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으뜸돋움MR</vt:lpstr>
      <vt:lpstr>Arial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건설공사 사고 예방 및 대응책 생성 :  한솔데코 시즌3 AI 경진대회</vt:lpstr>
      <vt:lpstr>목차</vt:lpstr>
      <vt:lpstr>배경 및 현황 : 경진대회 소개로 대체  </vt:lpstr>
      <vt:lpstr>데이터 수집 (활용 데이터 소개)</vt:lpstr>
      <vt:lpstr>[참고] 경진대회 평가 방식</vt:lpstr>
      <vt:lpstr>○○○ 경진대회 참여 후기</vt:lpstr>
      <vt:lpstr>데이터 탐색 및 인사이트 도출 (1/5)</vt:lpstr>
      <vt:lpstr>데이터 탐색 및 인사이트 도출 (2/5)</vt:lpstr>
      <vt:lpstr>데이터 탐색 및 인사이트 도출 (3/5)</vt:lpstr>
      <vt:lpstr>데이터 탐색 및 인사이트 도출 (4/5)</vt:lpstr>
      <vt:lpstr>데이터 탐색 및 인사이트 도출 (5/5)</vt:lpstr>
      <vt:lpstr>데이터 탐색 및 인사이트 도출 </vt:lpstr>
      <vt:lpstr>인사이트를 활용한 추가 파생변수 생성 계획 수립</vt:lpstr>
      <vt:lpstr>○○○ 경진대회 참여 후기</vt:lpstr>
      <vt:lpstr>모델 성능 검증 전략  </vt:lpstr>
      <vt:lpstr>기초 모델 설계 </vt:lpstr>
      <vt:lpstr>기초 모델 설계 </vt:lpstr>
      <vt:lpstr>○○○ 경진대회 참여 후기</vt:lpstr>
      <vt:lpstr>예측모델(평균점수0.448) 성능 진단  </vt:lpstr>
      <vt:lpstr>케이스별 유사도 점수 분석 (1/)</vt:lpstr>
      <vt:lpstr>케이스별 유사도 점수 분석 (2/)</vt:lpstr>
      <vt:lpstr>케이스별 유사도 점수 분석 (3/)</vt:lpstr>
      <vt:lpstr>케이스별 유사도 점수 분석 (4/)</vt:lpstr>
      <vt:lpstr>관련 없는 단어가 들어가는 경우 영향도 테스트 </vt:lpstr>
      <vt:lpstr>맺은말/어투 영향도 테스트 </vt:lpstr>
      <vt:lpstr>데이터 탐색2(오차분석) 종합 결론 </vt:lpstr>
      <vt:lpstr>○○○ 경진대회 참여 후기</vt:lpstr>
      <vt:lpstr>실험 계획 </vt:lpstr>
      <vt:lpstr>실험1 : 필수단어사전 만들기</vt:lpstr>
      <vt:lpstr>실험2 : OOO</vt:lpstr>
      <vt:lpstr>모델 학습 실험 결과서 (모델 학습 설계서 와 학습 결과) </vt:lpstr>
      <vt:lpstr>최종모델 예측오차 및 변동성 분석 </vt:lpstr>
      <vt:lpstr>결론 및 시사점 (기대효과, 경진대회를 통해서 배운 점 등)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887</cp:revision>
  <dcterms:created xsi:type="dcterms:W3CDTF">2007-08-16T05:20:03Z</dcterms:created>
  <dcterms:modified xsi:type="dcterms:W3CDTF">2025-03-24T13:35:01Z</dcterms:modified>
</cp:coreProperties>
</file>