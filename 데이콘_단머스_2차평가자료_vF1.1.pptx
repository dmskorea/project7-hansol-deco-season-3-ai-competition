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  <p:sldMasterId id="2147483764" r:id="rId2"/>
    <p:sldMasterId id="2147483650" r:id="rId3"/>
    <p:sldMasterId id="2147483654" r:id="rId4"/>
    <p:sldMasterId id="2147483776" r:id="rId5"/>
    <p:sldMasterId id="2147483778" r:id="rId6"/>
  </p:sldMasterIdLst>
  <p:notesMasterIdLst>
    <p:notesMasterId r:id="rId33"/>
  </p:notesMasterIdLst>
  <p:handoutMasterIdLst>
    <p:handoutMasterId r:id="rId34"/>
  </p:handoutMasterIdLst>
  <p:sldIdLst>
    <p:sldId id="301" r:id="rId7"/>
    <p:sldId id="388" r:id="rId8"/>
    <p:sldId id="300" r:id="rId9"/>
    <p:sldId id="380" r:id="rId10"/>
    <p:sldId id="314" r:id="rId11"/>
    <p:sldId id="373" r:id="rId12"/>
    <p:sldId id="381" r:id="rId13"/>
    <p:sldId id="363" r:id="rId14"/>
    <p:sldId id="396" r:id="rId15"/>
    <p:sldId id="397" r:id="rId16"/>
    <p:sldId id="392" r:id="rId17"/>
    <p:sldId id="376" r:id="rId18"/>
    <p:sldId id="377" r:id="rId19"/>
    <p:sldId id="385" r:id="rId20"/>
    <p:sldId id="405" r:id="rId21"/>
    <p:sldId id="406" r:id="rId22"/>
    <p:sldId id="401" r:id="rId23"/>
    <p:sldId id="409" r:id="rId24"/>
    <p:sldId id="404" r:id="rId25"/>
    <p:sldId id="403" r:id="rId26"/>
    <p:sldId id="394" r:id="rId27"/>
    <p:sldId id="384" r:id="rId28"/>
    <p:sldId id="378" r:id="rId29"/>
    <p:sldId id="398" r:id="rId30"/>
    <p:sldId id="410" r:id="rId31"/>
    <p:sldId id="389" r:id="rId32"/>
  </p:sldIdLst>
  <p:sldSz cx="9906000" cy="6858000" type="A4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3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orient="horz" pos="1026">
          <p15:clr>
            <a:srgbClr val="A4A3A4"/>
          </p15:clr>
        </p15:guide>
        <p15:guide id="5" orient="horz" pos="346">
          <p15:clr>
            <a:srgbClr val="A4A3A4"/>
          </p15:clr>
        </p15:guide>
        <p15:guide id="6" orient="horz" pos="1162">
          <p15:clr>
            <a:srgbClr val="A4A3A4"/>
          </p15:clr>
        </p15:guide>
        <p15:guide id="7" pos="3120">
          <p15:clr>
            <a:srgbClr val="A4A3A4"/>
          </p15:clr>
        </p15:guide>
        <p15:guide id="8" pos="172">
          <p15:clr>
            <a:srgbClr val="A4A3A4"/>
          </p15:clr>
        </p15:guide>
        <p15:guide id="9" pos="60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>
          <p15:clr>
            <a:srgbClr val="A4A3A4"/>
          </p15:clr>
        </p15:guide>
        <p15:guide id="2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830"/>
    <a:srgbClr val="2A3D66"/>
    <a:srgbClr val="FFCCCC"/>
    <a:srgbClr val="FF9933"/>
    <a:srgbClr val="CDACE6"/>
    <a:srgbClr val="FF7C80"/>
    <a:srgbClr val="FF0066"/>
    <a:srgbClr val="FF5050"/>
    <a:srgbClr val="FFFFFF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9157" autoAdjust="0"/>
  </p:normalViewPr>
  <p:slideViewPr>
    <p:cSldViewPr showGuides="1">
      <p:cViewPr>
        <p:scale>
          <a:sx n="100" d="100"/>
          <a:sy n="100" d="100"/>
        </p:scale>
        <p:origin x="2220" y="240"/>
      </p:cViewPr>
      <p:guideLst>
        <p:guide orient="horz" pos="2115"/>
        <p:guide orient="horz" pos="73"/>
        <p:guide orient="horz" pos="3974"/>
        <p:guide orient="horz" pos="1026"/>
        <p:guide orient="horz" pos="346"/>
        <p:guide orient="horz" pos="1162"/>
        <p:guide pos="3120"/>
        <p:guide pos="172"/>
        <p:guide pos="60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5" d="100"/>
          <a:sy n="95" d="100"/>
        </p:scale>
        <p:origin x="-1584" y="-96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027DDD-4B85-49AE-9189-BA37F2EFF315}" type="slidenum"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5121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754" y="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08325" y="504825"/>
            <a:ext cx="3648075" cy="2525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159" y="3199567"/>
            <a:ext cx="7893996" cy="3031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754" y="6397560"/>
            <a:ext cx="4275981" cy="336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0C089FE8-A1A6-49F2-B317-3775AAE829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294190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_표지(타이틀수정가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656856" y="2903173"/>
            <a:ext cx="4839060" cy="1143000"/>
          </a:xfrm>
          <a:prstGeom prst="rect">
            <a:avLst/>
          </a:prstGeo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A196D8CE-DAFF-415D-8D34-D87C211B3B6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235480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016896" y="2165945"/>
            <a:ext cx="3887788" cy="2768551"/>
          </a:xfrm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buClr>
                <a:schemeClr val="accent4">
                  <a:lumMod val="50000"/>
                </a:schemeClr>
              </a:buCl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buClr>
                <a:schemeClr val="accent1"/>
              </a:buClr>
              <a:defRPr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800873" y="1628800"/>
            <a:ext cx="4032448" cy="274638"/>
          </a:xfrm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F3E73830-56AB-4A36-A323-9D659CF38054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pic>
        <p:nvPicPr>
          <p:cNvPr id="6" name="Picture 2" descr="@dmskorea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7" b="25343"/>
          <a:stretch/>
        </p:blipFill>
        <p:spPr bwMode="auto">
          <a:xfrm>
            <a:off x="8912870" y="185174"/>
            <a:ext cx="720080" cy="38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1_컨텐츠(번호정렬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792162"/>
          </a:xfrm>
        </p:spPr>
        <p:txBody>
          <a:bodyPr/>
          <a:lstStyle>
            <a:lvl1pPr>
              <a:defRPr sz="14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defRPr sz="1400">
                <a:latin typeface="맑은 고딕" pitchFamily="50" charset="-127"/>
                <a:ea typeface="맑은 고딕" pitchFamily="50" charset="-127"/>
              </a:defRPr>
            </a:lvl2pPr>
            <a:lvl3pPr>
              <a:defRPr sz="1200">
                <a:latin typeface="맑은 고딕" pitchFamily="50" charset="-127"/>
                <a:ea typeface="맑은 고딕" pitchFamily="50" charset="-127"/>
              </a:defRPr>
            </a:lvl3pPr>
            <a:lvl4pPr>
              <a:defRPr sz="1050">
                <a:latin typeface="맑은 고딕" pitchFamily="50" charset="-127"/>
                <a:ea typeface="맑은 고딕" pitchFamily="50" charset="-127"/>
              </a:defRPr>
            </a:lvl4pPr>
            <a:lvl5pPr>
              <a:defRPr sz="16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00925" y="6588125"/>
            <a:ext cx="231140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D8CE-DAFF-415D-8D34-D87C211B3B6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80" r:id="rId2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3872880" y="1570038"/>
            <a:ext cx="34496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307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2880" y="2172617"/>
            <a:ext cx="3887788" cy="31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en-US" altLang="ko-KR" dirty="0" smtClean="0"/>
              <a:t>, 14pt</a:t>
            </a:r>
          </a:p>
          <a:p>
            <a:pPr lvl="0"/>
            <a:r>
              <a:rPr lang="en-US" altLang="ko-KR" dirty="0" smtClean="0"/>
              <a:t>Line Height : 1.3</a:t>
            </a:r>
          </a:p>
          <a:p>
            <a:pPr lvl="0"/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12pt</a:t>
            </a:r>
            <a:endParaRPr lang="ko-KR" altLang="en-US" dirty="0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30000"/>
        </a:lnSpc>
        <a:spcBef>
          <a:spcPct val="20000"/>
        </a:spcBef>
        <a:spcAft>
          <a:spcPct val="0"/>
        </a:spcAft>
        <a:buClrTx/>
        <a:buFont typeface="+mj-lt"/>
        <a:buAutoNum type="arabicPeriod"/>
        <a:defRPr kumimoji="1" sz="1400" b="1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Wingdings" pitchFamily="2" charset="2"/>
        <a:buChar char="l"/>
        <a:defRPr kumimoji="1" sz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D35345"/>
        </a:buClr>
        <a:buFont typeface="Wingdings" pitchFamily="2" charset="2"/>
        <a:buChar char="§"/>
        <a:defRPr kumimoji="1" sz="1100" b="1">
          <a:solidFill>
            <a:srgbClr val="333333"/>
          </a:solidFill>
          <a:latin typeface="Verdana" pitchFamily="34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HY중고딕" pitchFamily="18" charset="-127"/>
          <a:ea typeface="HY중고딕" pitchFamily="18" charset="-127"/>
        </a:defRPr>
      </a:lvl4pPr>
      <a:lvl5pPr marL="2209800" indent="-3810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6670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1242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5814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038600" indent="-3810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그림 14" descr="tag.jpg"/>
          <p:cNvPicPr>
            <a:picLocks noChangeAspect="1"/>
          </p:cNvPicPr>
          <p:nvPr userDrawn="1"/>
        </p:nvPicPr>
        <p:blipFill>
          <a:blip r:embed="rId3" cstate="print"/>
          <a:srcRect l="28920"/>
          <a:stretch>
            <a:fillRect/>
          </a:stretch>
        </p:blipFill>
        <p:spPr bwMode="auto">
          <a:xfrm>
            <a:off x="0" y="6583363"/>
            <a:ext cx="9906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>
          <a:solidFill>
            <a:srgbClr val="080808"/>
          </a:solidFill>
          <a:latin typeface="-2002" pitchFamily="18" charset="-127"/>
          <a:ea typeface="-2002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SzPct val="140000"/>
        <a:buChar char="•"/>
        <a:defRPr kumimoji="1" sz="1200">
          <a:solidFill>
            <a:srgbClr val="080808"/>
          </a:solidFill>
          <a:latin typeface="+mn-lt"/>
          <a:ea typeface="+mn-ea"/>
          <a:cs typeface="+mn-cs"/>
        </a:defRPr>
      </a:lvl1pPr>
      <a:lvl2pPr marL="1208088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1100">
          <a:solidFill>
            <a:srgbClr val="080808"/>
          </a:solidFill>
          <a:latin typeface="+mn-lt"/>
          <a:ea typeface="+mn-ea"/>
        </a:defRPr>
      </a:lvl2pPr>
      <a:lvl3pPr marL="1616075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1000">
          <a:solidFill>
            <a:srgbClr val="080808"/>
          </a:solidFill>
          <a:latin typeface="+mn-lt"/>
          <a:ea typeface="+mn-ea"/>
        </a:defRPr>
      </a:lvl3pPr>
      <a:lvl4pPr marL="202406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43205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8892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33464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8036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426085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9400" y="377825"/>
            <a:ext cx="6102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I. </a:t>
            </a:r>
            <a:r>
              <a:rPr lang="ko-KR" altLang="en-US" dirty="0" err="1" smtClean="0"/>
              <a:t>컨텐츠</a:t>
            </a:r>
            <a:r>
              <a:rPr lang="ko-KR" altLang="en-US" dirty="0" smtClean="0"/>
              <a:t> 페이지입니다</a:t>
            </a:r>
            <a:r>
              <a:rPr lang="en-US" altLang="ko-KR" dirty="0" smtClean="0"/>
              <a:t>.</a:t>
            </a:r>
          </a:p>
        </p:txBody>
      </p:sp>
      <p:sp>
        <p:nvSpPr>
          <p:cNvPr id="4100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6854" y="764704"/>
            <a:ext cx="9376096" cy="648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14pt Bold… 1995</a:t>
            </a:r>
            <a:r>
              <a:rPr lang="ko-KR" altLang="en-US" dirty="0" smtClean="0"/>
              <a:t>년 예금자보호법이 제정됨에 따라 이듬해 </a:t>
            </a:r>
            <a:r>
              <a:rPr lang="en-US" altLang="ko-KR" dirty="0" smtClean="0"/>
              <a:t>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 설립되어 </a:t>
            </a:r>
            <a:r>
              <a:rPr lang="en-US" altLang="ko-KR" dirty="0" smtClean="0"/>
              <a:t>1997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일부터 예금보험업무를 시작한 뒤 </a:t>
            </a:r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금융권의 예금보험기금을 통합해 통합예금보험공사로 출범하였다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4124" name="Line 28"/>
          <p:cNvSpPr>
            <a:spLocks noChangeShapeType="1"/>
          </p:cNvSpPr>
          <p:nvPr userDrawn="1"/>
        </p:nvSpPr>
        <p:spPr bwMode="auto">
          <a:xfrm>
            <a:off x="273050" y="6524625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Line 28"/>
          <p:cNvSpPr>
            <a:spLocks noChangeShapeType="1"/>
          </p:cNvSpPr>
          <p:nvPr userDrawn="1"/>
        </p:nvSpPr>
        <p:spPr bwMode="auto">
          <a:xfrm>
            <a:off x="273050" y="712788"/>
            <a:ext cx="9359900" cy="0"/>
          </a:xfrm>
          <a:prstGeom prst="line">
            <a:avLst/>
          </a:prstGeom>
          <a:noFill/>
          <a:ln w="6350">
            <a:solidFill>
              <a:srgbClr val="333333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15399" y="6588125"/>
            <a:ext cx="7969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7EE949F0-F56D-447C-9889-EA31F7E24327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rgbClr val="333333"/>
          </a:solidFill>
          <a:latin typeface="나눔고딕 ExtraBold" pitchFamily="50" charset="-127"/>
          <a:ea typeface="나눔고딕 ExtraBold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>
          <a:solidFill>
            <a:srgbClr val="333333"/>
          </a:solidFill>
          <a:latin typeface="-2002" pitchFamily="18" charset="-127"/>
          <a:ea typeface="-2002" pitchFamily="18" charset="-127"/>
        </a:defRPr>
      </a:lvl9pPr>
    </p:titleStyle>
    <p:bodyStyle>
      <a:lvl1pPr marL="0" indent="11113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1"/>
        </a:buClr>
        <a:buFont typeface="Tahoma" pitchFamily="34" charset="0"/>
        <a:buNone/>
        <a:defRPr kumimoji="1" sz="1400" b="1">
          <a:solidFill>
            <a:srgbClr val="333333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531813" indent="-263525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arabicParenR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803275" indent="-228600" algn="l" defTabSz="803275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-2002" pitchFamily="18" charset="-127"/>
        <a:buAutoNum type="circleNumDbPlain"/>
        <a:tabLst>
          <a:tab pos="1160463" algn="l"/>
        </a:tabLst>
        <a:defRPr kumimoji="1" sz="1100" b="1">
          <a:solidFill>
            <a:srgbClr val="333333"/>
          </a:solidFill>
          <a:latin typeface="맑은 고딕" pitchFamily="50" charset="-127"/>
          <a:ea typeface="맑은 고딕" pitchFamily="50" charset="-127"/>
        </a:defRPr>
      </a:lvl3pPr>
      <a:lvl4pPr marL="1008063" indent="-1825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000">
          <a:solidFill>
            <a:srgbClr val="7F7F7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-1-18.svg"/><Relationship Id="rId3" Type="http://schemas.openxmlformats.org/officeDocument/2006/relationships/image" Target="../media/image34.png"/><Relationship Id="rId21" Type="http://schemas.openxmlformats.org/officeDocument/2006/relationships/image" Target="../media/image-1-21.svg"/><Relationship Id="rId34" Type="http://schemas.openxmlformats.org/officeDocument/2006/relationships/image" Target="../media/image-1-34.svg"/><Relationship Id="rId42" Type="http://schemas.openxmlformats.org/officeDocument/2006/relationships/image" Target="../media/image-1-42.svg"/><Relationship Id="rId7" Type="http://schemas.openxmlformats.org/officeDocument/2006/relationships/image" Target="../media/image35.png"/><Relationship Id="rId12" Type="http://schemas.openxmlformats.org/officeDocument/2006/relationships/image" Target="../media/image-1-12.svg"/><Relationship Id="rId25" Type="http://schemas.openxmlformats.org/officeDocument/2006/relationships/image" Target="../media/image36.png"/><Relationship Id="rId38" Type="http://schemas.openxmlformats.org/officeDocument/2006/relationships/image" Target="../media/image-1-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1-6.svg"/><Relationship Id="rId24" Type="http://schemas.openxmlformats.org/officeDocument/2006/relationships/image" Target="../media/image-1-24.svg"/><Relationship Id="rId32" Type="http://schemas.openxmlformats.org/officeDocument/2006/relationships/image" Target="../media/image-1-32.svg"/><Relationship Id="rId37" Type="http://schemas.openxmlformats.org/officeDocument/2006/relationships/image" Target="../media/image38.png"/><Relationship Id="rId40" Type="http://schemas.openxmlformats.org/officeDocument/2006/relationships/image" Target="../media/image-1-40.svg"/><Relationship Id="rId15" Type="http://schemas.openxmlformats.org/officeDocument/2006/relationships/image" Target="../media/image-1-15.svg"/><Relationship Id="rId36" Type="http://schemas.openxmlformats.org/officeDocument/2006/relationships/image" Target="../media/image-1-36.svg"/><Relationship Id="rId31" Type="http://schemas.openxmlformats.org/officeDocument/2006/relationships/image" Target="../media/image37.png"/><Relationship Id="rId4" Type="http://schemas.openxmlformats.org/officeDocument/2006/relationships/image" Target="../media/image-1-3.svg"/><Relationship Id="rId9" Type="http://schemas.openxmlformats.org/officeDocument/2006/relationships/image" Target="../media/image-1-9.svg"/><Relationship Id="rId27" Type="http://schemas.openxmlformats.org/officeDocument/2006/relationships/image" Target="../media/image-1-27.svg"/><Relationship Id="rId30" Type="http://schemas.openxmlformats.org/officeDocument/2006/relationships/image" Target="../media/image-1-30.svg"/></Relationships>
</file>

<file path=ppt/slides/_rels/slide2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40.png"/><Relationship Id="rId26" Type="http://schemas.openxmlformats.org/officeDocument/2006/relationships/image" Target="../media/image44.png"/><Relationship Id="rId3" Type="http://schemas.openxmlformats.org/officeDocument/2006/relationships/image" Target="../media/image35.png"/><Relationship Id="rId21" Type="http://schemas.openxmlformats.org/officeDocument/2006/relationships/image" Target="../media/image-1-210.svg"/><Relationship Id="rId12" Type="http://schemas.openxmlformats.org/officeDocument/2006/relationships/image" Target="../media/image-1-120.svg"/><Relationship Id="rId17" Type="http://schemas.openxmlformats.org/officeDocument/2006/relationships/image" Target="../media/image-1-17.svg"/><Relationship Id="rId25" Type="http://schemas.openxmlformats.org/officeDocument/2006/relationships/image" Target="../media/image-1-25.svg"/><Relationship Id="rId2" Type="http://schemas.openxmlformats.org/officeDocument/2006/relationships/image" Target="../media/image33.png"/><Relationship Id="rId16" Type="http://schemas.openxmlformats.org/officeDocument/2006/relationships/image" Target="../media/image39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1-60.svg"/><Relationship Id="rId24" Type="http://schemas.openxmlformats.org/officeDocument/2006/relationships/image" Target="../media/image43.png"/><Relationship Id="rId5" Type="http://schemas.openxmlformats.org/officeDocument/2006/relationships/image" Target="../media/image36.png"/><Relationship Id="rId15" Type="http://schemas.openxmlformats.org/officeDocument/2006/relationships/image" Target="../media/image-1-150.svg"/><Relationship Id="rId23" Type="http://schemas.openxmlformats.org/officeDocument/2006/relationships/image" Target="../media/image-1-23.svg"/><Relationship Id="rId19" Type="http://schemas.openxmlformats.org/officeDocument/2006/relationships/image" Target="../media/image-1-19.svg"/><Relationship Id="rId4" Type="http://schemas.openxmlformats.org/officeDocument/2006/relationships/image" Target="../media/image-1-31.svg"/><Relationship Id="rId9" Type="http://schemas.openxmlformats.org/officeDocument/2006/relationships/image" Target="../media/image-1-90.svg"/><Relationship Id="rId22" Type="http://schemas.openxmlformats.org/officeDocument/2006/relationships/image" Target="../media/image42.png"/><Relationship Id="rId27" Type="http://schemas.openxmlformats.org/officeDocument/2006/relationships/image" Target="../media/image-1-270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812235" y="2574850"/>
            <a:ext cx="6207212" cy="1143000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건설공사 사고 예방 및 대응책 생성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/>
            </a:r>
            <a:b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한솔데코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시즌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 AI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경진대회</a:t>
            </a:r>
            <a:endParaRPr lang="ko-KR" altLang="en-US" sz="20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07939" y="4242574"/>
            <a:ext cx="99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 smtClean="0">
                <a:latin typeface="나눔고딕" pitchFamily="50" charset="-127"/>
                <a:ea typeface="나눔고딕" pitchFamily="50" charset="-127"/>
              </a:rPr>
              <a:t>2025.03</a:t>
            </a:r>
            <a:endParaRPr lang="ko-KR" altLang="en-US" sz="1600" dirty="0"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5" name="Picture 2" descr="@dmskorea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7" b="25343"/>
          <a:stretch/>
        </p:blipFill>
        <p:spPr bwMode="auto">
          <a:xfrm>
            <a:off x="6145741" y="4221088"/>
            <a:ext cx="720080" cy="38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2516510" y="2217812"/>
            <a:ext cx="2076450" cy="419100"/>
            <a:chOff x="3008784" y="2141313"/>
            <a:chExt cx="2076450" cy="419100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99384" y="2141313"/>
              <a:ext cx="1085850" cy="419100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8784" y="2227038"/>
              <a:ext cx="990600" cy="24765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팀 소개 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 err="1" smtClean="0"/>
              <a:t>팀명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: </a:t>
            </a:r>
            <a:r>
              <a:rPr lang="ko-KR" altLang="en-US" b="0" dirty="0" err="1" smtClean="0"/>
              <a:t>단머스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(</a:t>
            </a:r>
            <a:r>
              <a:rPr lang="ko-KR" altLang="en-US" b="0" dirty="0" smtClean="0"/>
              <a:t>단기 </a:t>
            </a:r>
            <a:r>
              <a:rPr lang="ko-KR" altLang="en-US" b="0" dirty="0" err="1" smtClean="0"/>
              <a:t>머신러닝</a:t>
            </a:r>
            <a:r>
              <a:rPr lang="ko-KR" altLang="en-US" b="0" dirty="0" smtClean="0"/>
              <a:t> 스터디</a:t>
            </a:r>
            <a:r>
              <a:rPr lang="en-US" altLang="ko-KR" b="0" dirty="0" smtClean="0"/>
              <a:t>) </a:t>
            </a:r>
          </a:p>
          <a:p>
            <a:r>
              <a:rPr lang="ko-KR" altLang="en-US" b="0" spc="-100" dirty="0" smtClean="0"/>
              <a:t>팀원 </a:t>
            </a:r>
            <a:r>
              <a:rPr lang="en-US" altLang="ko-KR" b="0" spc="-100" dirty="0" smtClean="0"/>
              <a:t>: </a:t>
            </a:r>
            <a:r>
              <a:rPr lang="ko-KR" altLang="en-US" b="0" spc="-100" dirty="0" smtClean="0"/>
              <a:t>현종열</a:t>
            </a:r>
            <a:r>
              <a:rPr lang="en-US" altLang="ko-KR" b="0" spc="-100" dirty="0" smtClean="0"/>
              <a:t>, </a:t>
            </a:r>
            <a:r>
              <a:rPr lang="ko-KR" altLang="en-US" b="0" spc="-100" dirty="0" smtClean="0"/>
              <a:t>김영준</a:t>
            </a:r>
            <a:r>
              <a:rPr lang="en-US" altLang="ko-KR" b="0" spc="-100" dirty="0" smtClean="0"/>
              <a:t>, </a:t>
            </a:r>
            <a:r>
              <a:rPr lang="ko-KR" altLang="en-US" b="0" spc="-100" dirty="0" smtClean="0"/>
              <a:t>이규호 </a:t>
            </a:r>
            <a:endParaRPr lang="en-US" altLang="ko-KR" b="0" spc="-100" dirty="0" smtClean="0"/>
          </a:p>
        </p:txBody>
      </p:sp>
      <p:grpSp>
        <p:nvGrpSpPr>
          <p:cNvPr id="9" name="그룹 8"/>
          <p:cNvGrpSpPr/>
          <p:nvPr/>
        </p:nvGrpSpPr>
        <p:grpSpPr>
          <a:xfrm>
            <a:off x="329580" y="1621611"/>
            <a:ext cx="9087916" cy="1735381"/>
            <a:chOff x="329580" y="2341691"/>
            <a:chExt cx="9087916" cy="1735381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580" y="2341691"/>
              <a:ext cx="9087916" cy="1735381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416496" y="2550229"/>
              <a:ext cx="50081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건설공사 사고 예방 및 대응책 생성 </a:t>
              </a:r>
              <a:r>
                <a:rPr lang="en-US" altLang="ko-KR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: </a:t>
              </a:r>
              <a:r>
                <a:rPr lang="ko-KR" altLang="en-US" sz="1400" dirty="0" err="1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한솔데코</a:t>
              </a:r>
              <a:r>
                <a:rPr lang="ko-KR" altLang="en-US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시즌</a:t>
              </a:r>
              <a:r>
                <a:rPr lang="en-US" altLang="ko-KR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 AI</a:t>
              </a:r>
              <a:r>
                <a:rPr lang="ko-KR" altLang="en-US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경진대회</a:t>
              </a:r>
              <a:endPara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16496" y="2980937"/>
              <a:ext cx="324159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NLP | </a:t>
              </a:r>
              <a:r>
                <a:rPr lang="ko-KR" altLang="en-US" sz="1400" dirty="0" err="1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생성형</a:t>
              </a:r>
              <a:r>
                <a:rPr lang="ko-KR" altLang="en-US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en-US" altLang="ko-KR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AI | LLM 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2025.02.17 </a:t>
              </a:r>
              <a:r>
                <a:rPr lang="en-US" altLang="ko-KR" sz="14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~ 2025.03.24 09:59 </a:t>
              </a:r>
              <a:endPara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9678" y="188640"/>
            <a:ext cx="1085850" cy="419100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29580" y="4674814"/>
            <a:ext cx="9087916" cy="1634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spc="-51" dirty="0" smtClean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분석 서버 사양 </a:t>
            </a:r>
            <a:endParaRPr lang="en-US" altLang="ko-KR" b="1" spc="-51" dirty="0">
              <a:solidFill>
                <a:schemeClr val="bg1"/>
              </a:solidFill>
              <a:effectLst>
                <a:glow rad="228600">
                  <a:srgbClr val="705DCF">
                    <a:alpha val="50000"/>
                  </a:srgb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600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Google </a:t>
            </a:r>
            <a:r>
              <a:rPr lang="en-US" altLang="ko-KR" sz="1600" dirty="0" err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Colab</a:t>
            </a:r>
            <a:r>
              <a:rPr lang="en-US" altLang="ko-KR" sz="16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Pro+ , A100 VRAM </a:t>
            </a:r>
            <a:r>
              <a:rPr lang="en-US" altLang="ko-KR" sz="16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40G x 1</a:t>
            </a:r>
            <a:r>
              <a:rPr lang="ko-KR" altLang="en-US" sz="16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 </a:t>
            </a:r>
            <a:r>
              <a:rPr lang="en-US" altLang="ko-KR" sz="16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6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595604" y="4115837"/>
            <a:ext cx="59496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https://github.com/dmskorea/project7-Hansol-Deco-Season-3-AI-Competition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329580" y="3573016"/>
            <a:ext cx="1152128" cy="3600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대회 </a:t>
            </a:r>
            <a:r>
              <a:rPr lang="en-US" altLang="ko-KR" sz="1600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URL</a:t>
            </a:r>
            <a:endParaRPr lang="ko-KR" altLang="en-US" sz="16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329580" y="4066627"/>
            <a:ext cx="1152128" cy="3600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분석 코드</a:t>
            </a:r>
            <a:endParaRPr lang="ko-KR" altLang="en-US" sz="16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078" y="274365"/>
            <a:ext cx="990600" cy="247650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1593989" y="3625269"/>
            <a:ext cx="4953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 dirty="0">
                <a:latin typeface="+mn-ea"/>
                <a:ea typeface="+mn-ea"/>
              </a:rPr>
              <a:t>https://dacon.io/competitions/official/236455/overview/description</a:t>
            </a:r>
          </a:p>
        </p:txBody>
      </p:sp>
    </p:spTree>
    <p:extLst>
      <p:ext uri="{BB962C8B-B14F-4D97-AF65-F5344CB8AC3E}">
        <p14:creationId xmlns:p14="http://schemas.microsoft.com/office/powerpoint/2010/main" val="21971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811623" y="2222511"/>
            <a:ext cx="2797561" cy="342393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indent="-400050">
              <a:buAutoNum type="romanUcPeriod"/>
            </a:pPr>
            <a:r>
              <a:rPr lang="ko-KR" altLang="en-US" sz="1600" dirty="0"/>
              <a:t>모델 검증 방법 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/>
              <a:t>데이터 활용 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/>
              <a:t>알고리즘 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/>
              <a:t>모델 </a:t>
            </a:r>
            <a:r>
              <a:rPr lang="ko-KR" altLang="en-US" sz="1600" dirty="0" err="1"/>
              <a:t>서빙</a:t>
            </a:r>
            <a:r>
              <a:rPr lang="ko-KR" altLang="en-US" sz="1600" dirty="0"/>
              <a:t> 프로세스 제안</a:t>
            </a:r>
            <a:endParaRPr lang="en-US" altLang="ko-KR" sz="1600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944888" y="1628800"/>
            <a:ext cx="4032448" cy="274638"/>
          </a:xfrm>
        </p:spPr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검증 방법 </a:t>
            </a:r>
            <a:r>
              <a:rPr lang="en-US" altLang="ko-KR" dirty="0" smtClean="0"/>
              <a:t>(1/3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중요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변수별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학습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검증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테스트 데이터의 분포를 비교하여 테스트 데이터와 가장 분포가 유사한 검증 데이터 생성 </a:t>
            </a:r>
            <a:endParaRPr lang="en-US" altLang="ko-KR" b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766" y="3521992"/>
            <a:ext cx="1975273" cy="116847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758" y="4762472"/>
            <a:ext cx="2040958" cy="89830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46" y="2170184"/>
            <a:ext cx="1959173" cy="1129054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2162" y="2162517"/>
            <a:ext cx="2049605" cy="105607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581" y="4792970"/>
            <a:ext cx="1949855" cy="1012294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163" y="3521992"/>
            <a:ext cx="1937356" cy="1002786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6896" y="2690555"/>
            <a:ext cx="5184576" cy="24086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/>
          <p:cNvSpPr txBox="1"/>
          <p:nvPr/>
        </p:nvSpPr>
        <p:spPr>
          <a:xfrm>
            <a:off x="4478632" y="2483604"/>
            <a:ext cx="440216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{</a:t>
            </a:r>
            <a:r>
              <a:rPr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작업 프로세스</a:t>
            </a:r>
            <a:r>
              <a:rPr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}</a:t>
            </a:r>
            <a:r>
              <a:rPr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학습</a:t>
            </a:r>
            <a:r>
              <a:rPr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검증</a:t>
            </a:r>
            <a:r>
              <a:rPr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테스트 분포 비교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19994" y="1901992"/>
            <a:ext cx="11913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{</a:t>
            </a:r>
            <a:r>
              <a:rPr lang="ko-KR" altLang="en-US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공사종류</a:t>
            </a:r>
            <a:r>
              <a:rPr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}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13781" y="1901992"/>
            <a:ext cx="75854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{</a:t>
            </a:r>
            <a:r>
              <a:rPr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장소</a:t>
            </a:r>
            <a:r>
              <a:rPr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}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64010" y="3275692"/>
            <a:ext cx="75854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{</a:t>
            </a:r>
            <a:r>
              <a:rPr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부위</a:t>
            </a:r>
            <a:r>
              <a:rPr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}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7986" y="4499828"/>
            <a:ext cx="11913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{</a:t>
            </a:r>
            <a:r>
              <a:rPr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사고원인</a:t>
            </a:r>
            <a:r>
              <a:rPr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}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42010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정성평가</a:t>
            </a:r>
            <a:endParaRPr lang="ko-KR" altLang="en-US" sz="1400" dirty="0"/>
          </a:p>
        </p:txBody>
      </p:sp>
      <p:sp>
        <p:nvSpPr>
          <p:cNvPr id="24" name="직사각형 23"/>
          <p:cNvSpPr/>
          <p:nvPr/>
        </p:nvSpPr>
        <p:spPr>
          <a:xfrm>
            <a:off x="4051954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정량평가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0234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검증 </a:t>
            </a:r>
            <a:r>
              <a:rPr lang="ko-KR" altLang="en-US" dirty="0" smtClean="0"/>
              <a:t>방법 </a:t>
            </a:r>
            <a:r>
              <a:rPr lang="en-US" altLang="ko-KR" dirty="0" smtClean="0"/>
              <a:t>(</a:t>
            </a:r>
            <a:r>
              <a:rPr lang="en-US" altLang="ko-KR" dirty="0"/>
              <a:t>2</a:t>
            </a:r>
            <a:r>
              <a:rPr lang="en-US" altLang="ko-KR" dirty="0" smtClean="0"/>
              <a:t>/3)</a:t>
            </a:r>
            <a:endParaRPr lang="ko-KR" altLang="en-US" dirty="0"/>
          </a:p>
        </p:txBody>
      </p:sp>
      <p:sp>
        <p:nvSpPr>
          <p:cNvPr id="1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709263"/>
          </a:xfrm>
        </p:spPr>
        <p:txBody>
          <a:bodyPr/>
          <a:lstStyle/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검증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데이터셋을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통해 모델 성능평가 테스트 진행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모델 성능평가 향상 시 제출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성능 개선이 없는 경우 오차 분석을 통해 추가 실험 계획 수립 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반복 작업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US" altLang="ko-KR" b="0" dirty="0" smtClean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632520" y="3284984"/>
            <a:ext cx="2160240" cy="864096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실험</a:t>
            </a:r>
            <a:endParaRPr lang="ko-KR" altLang="en-US" sz="14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4232920" y="3284984"/>
            <a:ext cx="2160240" cy="864096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검증 </a:t>
            </a:r>
            <a:r>
              <a:rPr lang="ko-KR" altLang="en-US" sz="1400" dirty="0" err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데이터셋</a:t>
            </a:r>
            <a:endParaRPr lang="ko-KR" altLang="en-US" sz="14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" name="직선 화살표 연결선 7"/>
          <p:cNvCxnSpPr>
            <a:stCxn id="6" idx="3"/>
            <a:endCxn id="23" idx="1"/>
          </p:cNvCxnSpPr>
          <p:nvPr/>
        </p:nvCxnSpPr>
        <p:spPr>
          <a:xfrm>
            <a:off x="2792760" y="3717032"/>
            <a:ext cx="1440160" cy="0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/>
          <p:cNvSpPr/>
          <p:nvPr/>
        </p:nvSpPr>
        <p:spPr>
          <a:xfrm>
            <a:off x="7761597" y="5049180"/>
            <a:ext cx="1224136" cy="864096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제출</a:t>
            </a:r>
            <a:endParaRPr lang="ko-KR" altLang="en-US" sz="14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다이아몬드 26"/>
          <p:cNvSpPr/>
          <p:nvPr/>
        </p:nvSpPr>
        <p:spPr>
          <a:xfrm>
            <a:off x="4592960" y="4797152"/>
            <a:ext cx="1440160" cy="1368152"/>
          </a:xfrm>
          <a:prstGeom prst="diamond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성능</a:t>
            </a:r>
            <a:endParaRPr lang="en-US" altLang="ko-KR" sz="1400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향상</a:t>
            </a:r>
            <a:endParaRPr lang="ko-KR" altLang="en-US" sz="14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9" name="직선 화살표 연결선 28"/>
          <p:cNvCxnSpPr>
            <a:stCxn id="23" idx="2"/>
            <a:endCxn id="27" idx="0"/>
          </p:cNvCxnSpPr>
          <p:nvPr/>
        </p:nvCxnSpPr>
        <p:spPr>
          <a:xfrm>
            <a:off x="5313040" y="4149080"/>
            <a:ext cx="0" cy="648072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27" idx="3"/>
            <a:endCxn id="24" idx="1"/>
          </p:cNvCxnSpPr>
          <p:nvPr/>
        </p:nvCxnSpPr>
        <p:spPr>
          <a:xfrm>
            <a:off x="6033120" y="5481228"/>
            <a:ext cx="1728477" cy="0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681192" y="5111896"/>
            <a:ext cx="287258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9" name="꺾인 연결선 38"/>
          <p:cNvCxnSpPr>
            <a:stCxn id="27" idx="1"/>
            <a:endCxn id="6" idx="2"/>
          </p:cNvCxnSpPr>
          <p:nvPr/>
        </p:nvCxnSpPr>
        <p:spPr>
          <a:xfrm rot="10800000">
            <a:off x="1712640" y="4149080"/>
            <a:ext cx="2880320" cy="1332148"/>
          </a:xfrm>
          <a:prstGeom prst="bentConnector2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008784" y="5111896"/>
            <a:ext cx="296876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645029" y="1844824"/>
            <a:ext cx="2160240" cy="864096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 </a:t>
            </a:r>
            <a:r>
              <a:rPr lang="ko-KR" altLang="en-US" sz="1400" dirty="0" err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데이터셋</a:t>
            </a:r>
            <a:endParaRPr lang="ko-KR" altLang="en-US" sz="14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0" name="꺾인 연결선 49"/>
          <p:cNvCxnSpPr>
            <a:stCxn id="44" idx="3"/>
            <a:endCxn id="23" idx="0"/>
          </p:cNvCxnSpPr>
          <p:nvPr/>
        </p:nvCxnSpPr>
        <p:spPr>
          <a:xfrm>
            <a:off x="2805269" y="2276872"/>
            <a:ext cx="2507771" cy="1008112"/>
          </a:xfrm>
          <a:prstGeom prst="bentConnector2">
            <a:avLst/>
          </a:prstGeom>
          <a:ln w="31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/>
          <p:cNvSpPr/>
          <p:nvPr/>
        </p:nvSpPr>
        <p:spPr>
          <a:xfrm>
            <a:off x="542010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정성평가</a:t>
            </a:r>
            <a:endParaRPr lang="ko-KR" altLang="en-US" sz="1400" dirty="0"/>
          </a:p>
        </p:txBody>
      </p:sp>
      <p:sp>
        <p:nvSpPr>
          <p:cNvPr id="52" name="직사각형 51"/>
          <p:cNvSpPr/>
          <p:nvPr/>
        </p:nvSpPr>
        <p:spPr>
          <a:xfrm>
            <a:off x="4051954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/>
              <a:t>정량평가</a:t>
            </a:r>
            <a:endParaRPr lang="ko-KR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검증 방법 </a:t>
            </a:r>
            <a:r>
              <a:rPr lang="en-US" altLang="ko-KR" dirty="0" smtClean="0"/>
              <a:t>(3/3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1043023"/>
          </a:xfrm>
        </p:spPr>
        <p:txBody>
          <a:bodyPr/>
          <a:lstStyle/>
          <a:p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예측값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중 고득점 샘플과 </a:t>
            </a:r>
            <a:r>
              <a:rPr lang="ko-KR" altLang="en-US" b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저득점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샘플을 랜덤으로 샘플링 하여 정성평가 진행 </a:t>
            </a:r>
            <a:endParaRPr lang="en-US" altLang="ko-KR" b="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개선 포인트 발굴 후  실험 설계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전처리 수정 또는 프롬프트 수정</a:t>
            </a:r>
            <a:r>
              <a:rPr lang="en-US" altLang="ko-KR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r>
              <a:rPr lang="ko-KR" altLang="en-US" b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에 활용 </a:t>
            </a:r>
            <a:endParaRPr lang="en-US" altLang="ko-KR" b="0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47" y="1844824"/>
            <a:ext cx="8697841" cy="1620391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/>
        </p:nvSpPr>
        <p:spPr>
          <a:xfrm>
            <a:off x="791660" y="3861048"/>
            <a:ext cx="1584177" cy="5760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Inference 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" name="직선 화살표 연결선 9"/>
          <p:cNvCxnSpPr>
            <a:stCxn id="8" idx="3"/>
          </p:cNvCxnSpPr>
          <p:nvPr/>
        </p:nvCxnSpPr>
        <p:spPr>
          <a:xfrm>
            <a:off x="2375837" y="4149080"/>
            <a:ext cx="18001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13"/>
          <p:cNvSpPr/>
          <p:nvPr/>
        </p:nvSpPr>
        <p:spPr>
          <a:xfrm>
            <a:off x="2663869" y="5661248"/>
            <a:ext cx="1872208" cy="5760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데이터 전처리</a:t>
            </a:r>
            <a:endParaRPr lang="en-US" altLang="ko-KR" sz="14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수정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328166" y="5661248"/>
            <a:ext cx="1872208" cy="5760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프롬프트 </a:t>
            </a:r>
            <a:endParaRPr lang="en-US" altLang="ko-KR" sz="14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수정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4176036" y="4797152"/>
            <a:ext cx="1584177" cy="5760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실험 설계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2" name="직선 화살표 연결선 21"/>
          <p:cNvCxnSpPr>
            <a:endCxn id="20" idx="0"/>
          </p:cNvCxnSpPr>
          <p:nvPr/>
        </p:nvCxnSpPr>
        <p:spPr>
          <a:xfrm>
            <a:off x="4968125" y="4437112"/>
            <a:ext cx="0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20" idx="2"/>
            <a:endCxn id="14" idx="0"/>
          </p:cNvCxnSpPr>
          <p:nvPr/>
        </p:nvCxnSpPr>
        <p:spPr>
          <a:xfrm flipH="1">
            <a:off x="3599973" y="5373216"/>
            <a:ext cx="1368152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endCxn id="15" idx="0"/>
          </p:cNvCxnSpPr>
          <p:nvPr/>
        </p:nvCxnSpPr>
        <p:spPr>
          <a:xfrm>
            <a:off x="4968125" y="5373216"/>
            <a:ext cx="1296145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이등변 삼각형 26"/>
          <p:cNvSpPr/>
          <p:nvPr/>
        </p:nvSpPr>
        <p:spPr>
          <a:xfrm rot="10800000">
            <a:off x="647645" y="3501007"/>
            <a:ext cx="8697842" cy="432047"/>
          </a:xfrm>
          <a:prstGeom prst="triangle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  <a:alpha val="50000"/>
                </a:schemeClr>
              </a:gs>
              <a:gs pos="50000">
                <a:schemeClr val="bg1">
                  <a:lumMod val="85000"/>
                  <a:shade val="67500"/>
                  <a:satMod val="115000"/>
                  <a:alpha val="31000"/>
                </a:schemeClr>
              </a:gs>
              <a:gs pos="100000">
                <a:schemeClr val="bg1">
                  <a:lumMod val="85000"/>
                  <a:shade val="100000"/>
                  <a:satMod val="115000"/>
                  <a:alpha val="3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4176036" y="3861048"/>
            <a:ext cx="1584177" cy="5760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샘플링</a:t>
            </a:r>
            <a:endParaRPr lang="en-US" altLang="ko-KR" sz="14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정성평가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420103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정성평가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4051954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정량평가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0153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811623" y="2564904"/>
            <a:ext cx="2797561" cy="342393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indent="-400050">
              <a:buAutoNum type="romanUcPeriod"/>
            </a:pPr>
            <a:r>
              <a:rPr lang="ko-KR" altLang="en-US" sz="1600" dirty="0"/>
              <a:t>모델 검증 방법 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/>
              <a:t>데이터 활용 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/>
              <a:t>알고리즘 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/>
              <a:t>모델 </a:t>
            </a:r>
            <a:r>
              <a:rPr lang="ko-KR" altLang="en-US" sz="1600" dirty="0" err="1"/>
              <a:t>서빙</a:t>
            </a:r>
            <a:r>
              <a:rPr lang="ko-KR" altLang="en-US" sz="1600" dirty="0"/>
              <a:t> 프로세스 제안</a:t>
            </a:r>
            <a:endParaRPr lang="en-US" altLang="ko-KR" sz="1600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944888" y="1628800"/>
            <a:ext cx="4032448" cy="274638"/>
          </a:xfrm>
        </p:spPr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57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2657376" cy="274638"/>
          </a:xfrm>
        </p:spPr>
        <p:txBody>
          <a:bodyPr/>
          <a:lstStyle/>
          <a:p>
            <a:r>
              <a:rPr lang="ko-KR" altLang="en-US" dirty="0" smtClean="0"/>
              <a:t>데이터 활용 </a:t>
            </a:r>
            <a:r>
              <a:rPr lang="en-US" altLang="ko-KR" dirty="0" smtClean="0"/>
              <a:t>(1/6) 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 smtClean="0"/>
              <a:t>오차 분석을 통해 중요 키워드 발굴 </a:t>
            </a:r>
            <a:endParaRPr lang="en-US" altLang="ko-KR" b="0" dirty="0" smtClean="0"/>
          </a:p>
          <a:p>
            <a:r>
              <a:rPr lang="ko-KR" altLang="en-US" b="0" dirty="0" smtClean="0"/>
              <a:t>중요 사고 키워드 구축 후 데이터 전처리 및 프롬프트에 사고 키워드 활용 </a:t>
            </a:r>
            <a:endParaRPr lang="ko-KR" altLang="en-US" b="0" dirty="0"/>
          </a:p>
        </p:txBody>
      </p:sp>
      <p:sp>
        <p:nvSpPr>
          <p:cNvPr id="6" name="직사각형 5"/>
          <p:cNvSpPr/>
          <p:nvPr/>
        </p:nvSpPr>
        <p:spPr>
          <a:xfrm>
            <a:off x="4779312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유형별 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재발방지대책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614018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오타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유사어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전처리</a:t>
            </a:r>
            <a:endParaRPr lang="ko-KR" altLang="en-US" sz="1400" dirty="0"/>
          </a:p>
        </p:txBody>
      </p:sp>
      <p:sp>
        <p:nvSpPr>
          <p:cNvPr id="9" name="직사각형 8"/>
          <p:cNvSpPr/>
          <p:nvPr/>
        </p:nvSpPr>
        <p:spPr>
          <a:xfrm>
            <a:off x="3411163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사고 키워드</a:t>
            </a:r>
            <a:endParaRPr lang="ko-KR" altLang="en-US" sz="1400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734596"/>
              </p:ext>
            </p:extLst>
          </p:nvPr>
        </p:nvGraphicFramePr>
        <p:xfrm>
          <a:off x="5097017" y="2189320"/>
          <a:ext cx="3744415" cy="3600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059">
                  <a:extLst>
                    <a:ext uri="{9D8B030D-6E8A-4147-A177-3AD203B41FA5}">
                      <a16:colId xmlns:a16="http://schemas.microsoft.com/office/drawing/2014/main" val="423728050"/>
                    </a:ext>
                  </a:extLst>
                </a:gridCol>
                <a:gridCol w="739914">
                  <a:extLst>
                    <a:ext uri="{9D8B030D-6E8A-4147-A177-3AD203B41FA5}">
                      <a16:colId xmlns:a16="http://schemas.microsoft.com/office/drawing/2014/main" val="201715983"/>
                    </a:ext>
                  </a:extLst>
                </a:gridCol>
                <a:gridCol w="784758">
                  <a:extLst>
                    <a:ext uri="{9D8B030D-6E8A-4147-A177-3AD203B41FA5}">
                      <a16:colId xmlns:a16="http://schemas.microsoft.com/office/drawing/2014/main" val="3932751296"/>
                    </a:ext>
                  </a:extLst>
                </a:gridCol>
                <a:gridCol w="605385">
                  <a:extLst>
                    <a:ext uri="{9D8B030D-6E8A-4147-A177-3AD203B41FA5}">
                      <a16:colId xmlns:a16="http://schemas.microsoft.com/office/drawing/2014/main" val="2856408490"/>
                    </a:ext>
                  </a:extLst>
                </a:gridCol>
                <a:gridCol w="605385">
                  <a:extLst>
                    <a:ext uri="{9D8B030D-6E8A-4147-A177-3AD203B41FA5}">
                      <a16:colId xmlns:a16="http://schemas.microsoft.com/office/drawing/2014/main" val="260042598"/>
                    </a:ext>
                  </a:extLst>
                </a:gridCol>
                <a:gridCol w="739914">
                  <a:extLst>
                    <a:ext uri="{9D8B030D-6E8A-4147-A177-3AD203B41FA5}">
                      <a16:colId xmlns:a16="http://schemas.microsoft.com/office/drawing/2014/main" val="2378282017"/>
                    </a:ext>
                  </a:extLst>
                </a:gridCol>
              </a:tblGrid>
              <a:tr h="17144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#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키워드</a:t>
                      </a:r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키워드</a:t>
                      </a:r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키워드</a:t>
                      </a:r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키워드</a:t>
                      </a:r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키워드</a:t>
                      </a:r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397169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넘어짐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안전로프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찔림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미흡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거푸집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9836819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미끄러짐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화상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안전장치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지게차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949326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헛디딤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앙카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용접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추락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양중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809242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떨어짐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교통사고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타박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난간대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858839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 </a:t>
                      </a:r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물체에 맞음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강풍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 로프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962257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 발판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끼임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교통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 고리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739404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우마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협착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신호위반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피로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덮개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77021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틀비계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감전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쓰러짐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TBM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07888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압착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누전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불안전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522970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크레인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끼여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절연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과도한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084572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부딪힘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운반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계단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418717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안전화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절단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질식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낙하물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375530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작업발판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베임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부주의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산업재해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철근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994388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14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그라인더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과실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바닥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굴착기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063661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15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사다리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고속절단기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평탄화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그물망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46754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16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안전난간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드릴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과오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안전커버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망치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093700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17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미터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깔림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단순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미착용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손가락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189456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18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고소작업대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질병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주의태만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고정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손바닥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48999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안전벨트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근골격계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관리소홀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과적재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고소작업차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188716"/>
                  </a:ext>
                </a:extLst>
              </a:tr>
              <a:tr h="17144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ko-KR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안전모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허리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미숙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 err="1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중량물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1402" marR="1402" marT="1402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000727"/>
                  </a:ext>
                </a:extLst>
              </a:tr>
            </a:tbl>
          </a:graphicData>
        </a:graphic>
      </p:graphicFrame>
      <p:sp>
        <p:nvSpPr>
          <p:cNvPr id="16" name="왼쪽 화살표 15"/>
          <p:cNvSpPr/>
          <p:nvPr/>
        </p:nvSpPr>
        <p:spPr>
          <a:xfrm rot="10800000" flipH="1">
            <a:off x="4624164" y="3107796"/>
            <a:ext cx="256829" cy="1961844"/>
          </a:xfrm>
          <a:prstGeom prst="leftArrow">
            <a:avLst>
              <a:gd name="adj1" fmla="val 67361"/>
              <a:gd name="adj2" fmla="val 100000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  <a:alpha val="50000"/>
                </a:schemeClr>
              </a:gs>
              <a:gs pos="50000">
                <a:schemeClr val="bg1">
                  <a:lumMod val="85000"/>
                  <a:shade val="67500"/>
                  <a:satMod val="115000"/>
                  <a:alpha val="31000"/>
                </a:schemeClr>
              </a:gs>
              <a:gs pos="100000">
                <a:schemeClr val="bg1">
                  <a:lumMod val="85000"/>
                  <a:shade val="100000"/>
                  <a:satMod val="115000"/>
                  <a:alpha val="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7" name="Picture 8" descr="http://db.cse.ohio-state.edu/images/d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76092" y="3690578"/>
            <a:ext cx="779847" cy="86409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3874727" y="3168355"/>
            <a:ext cx="94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 키워드</a:t>
            </a:r>
            <a:endParaRPr lang="en-US" altLang="ko-KR" sz="12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사전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843629" y="2612410"/>
            <a:ext cx="1584177" cy="5760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오차 분석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843629" y="3836546"/>
            <a:ext cx="1584177" cy="5760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중요 키워드</a:t>
            </a:r>
            <a:endParaRPr lang="en-US" altLang="ko-KR" sz="14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발굴</a:t>
            </a:r>
            <a:endParaRPr lang="en-US" altLang="ko-KR" sz="1400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2" name="직선 화살표 연결선 21"/>
          <p:cNvCxnSpPr>
            <a:endCxn id="20" idx="0"/>
          </p:cNvCxnSpPr>
          <p:nvPr/>
        </p:nvCxnSpPr>
        <p:spPr>
          <a:xfrm>
            <a:off x="1635717" y="3224478"/>
            <a:ext cx="1" cy="612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20" idx="3"/>
            <a:endCxn id="17" idx="1"/>
          </p:cNvCxnSpPr>
          <p:nvPr/>
        </p:nvCxnSpPr>
        <p:spPr>
          <a:xfrm flipV="1">
            <a:off x="2427806" y="4122626"/>
            <a:ext cx="1548286" cy="1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821075" y="3950218"/>
            <a:ext cx="76174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업데이트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024724" y="1700808"/>
            <a:ext cx="2155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spc="-51" dirty="0" smtClean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사고 키워드 </a:t>
            </a:r>
            <a:r>
              <a:rPr lang="en-US" altLang="ko-KR" b="1" spc="-51" dirty="0" smtClean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TOP100</a:t>
            </a:r>
            <a:endParaRPr lang="en-US" altLang="ko-KR" b="1" spc="-51" dirty="0">
              <a:solidFill>
                <a:schemeClr val="bg1"/>
              </a:solidFill>
              <a:effectLst>
                <a:glow rad="228600">
                  <a:srgbClr val="705DCF">
                    <a:alpha val="50000"/>
                  </a:srgb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99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2657376" cy="274638"/>
          </a:xfrm>
        </p:spPr>
        <p:txBody>
          <a:bodyPr/>
          <a:lstStyle/>
          <a:p>
            <a:r>
              <a:rPr lang="ko-KR" altLang="en-US" dirty="0"/>
              <a:t>데이터 활용 </a:t>
            </a:r>
            <a:r>
              <a:rPr lang="en-US" altLang="ko-KR" dirty="0" smtClean="0"/>
              <a:t>(2/6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 smtClean="0"/>
              <a:t>사고 키워드를 프롬프트 </a:t>
            </a:r>
            <a:r>
              <a:rPr lang="en-US" altLang="ko-KR" b="0" dirty="0" smtClean="0"/>
              <a:t>context</a:t>
            </a:r>
            <a:r>
              <a:rPr lang="ko-KR" altLang="en-US" b="0" dirty="0" smtClean="0"/>
              <a:t>에 제공하여 </a:t>
            </a:r>
            <a:r>
              <a:rPr lang="en-US" altLang="ko-KR" b="0" dirty="0" smtClean="0"/>
              <a:t>LLM</a:t>
            </a:r>
            <a:r>
              <a:rPr lang="ko-KR" altLang="en-US" b="0" dirty="0" smtClean="0"/>
              <a:t>이 사고 키워드를 기반으로 재발방지대책을 답변하도록 유도 </a:t>
            </a:r>
            <a:endParaRPr lang="en-US" altLang="ko-KR" b="0" dirty="0" smtClean="0"/>
          </a:p>
          <a:p>
            <a:r>
              <a:rPr lang="ko-KR" altLang="en-US" b="0" dirty="0" smtClean="0"/>
              <a:t>오차 분석 </a:t>
            </a:r>
            <a:endParaRPr lang="ko-KR" altLang="en-US" b="0" dirty="0"/>
          </a:p>
        </p:txBody>
      </p:sp>
      <p:sp>
        <p:nvSpPr>
          <p:cNvPr id="6" name="직사각형 5"/>
          <p:cNvSpPr/>
          <p:nvPr/>
        </p:nvSpPr>
        <p:spPr>
          <a:xfrm>
            <a:off x="4779312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유형별 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재발방지대책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614018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오타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유사어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전처리</a:t>
            </a:r>
            <a:endParaRPr lang="ko-KR" altLang="en-US" sz="1400" dirty="0"/>
          </a:p>
        </p:txBody>
      </p:sp>
      <p:sp>
        <p:nvSpPr>
          <p:cNvPr id="9" name="직사각형 8"/>
          <p:cNvSpPr/>
          <p:nvPr/>
        </p:nvSpPr>
        <p:spPr>
          <a:xfrm>
            <a:off x="3411163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사고 키워드</a:t>
            </a:r>
            <a:endParaRPr lang="ko-KR" altLang="en-US" sz="1400" dirty="0"/>
          </a:p>
        </p:txBody>
      </p:sp>
      <p:sp>
        <p:nvSpPr>
          <p:cNvPr id="16" name="왼쪽 화살표 15"/>
          <p:cNvSpPr/>
          <p:nvPr/>
        </p:nvSpPr>
        <p:spPr>
          <a:xfrm rot="10800000" flipH="1">
            <a:off x="1367815" y="2852936"/>
            <a:ext cx="344825" cy="1961844"/>
          </a:xfrm>
          <a:prstGeom prst="leftArrow">
            <a:avLst>
              <a:gd name="adj1" fmla="val 67361"/>
              <a:gd name="adj2" fmla="val 100000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  <a:alpha val="50000"/>
                </a:schemeClr>
              </a:gs>
              <a:gs pos="50000">
                <a:schemeClr val="bg1">
                  <a:lumMod val="85000"/>
                  <a:shade val="67500"/>
                  <a:satMod val="115000"/>
                  <a:alpha val="31000"/>
                </a:schemeClr>
              </a:gs>
              <a:gs pos="100000">
                <a:schemeClr val="bg1">
                  <a:lumMod val="85000"/>
                  <a:shade val="100000"/>
                  <a:satMod val="115000"/>
                  <a:alpha val="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7" name="Picture 8" descr="http://db.cse.ohio-state.edu/images/d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743" y="3435718"/>
            <a:ext cx="779847" cy="86409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18378" y="2913495"/>
            <a:ext cx="94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 키워드</a:t>
            </a:r>
            <a:endParaRPr lang="en-US" altLang="ko-KR" sz="12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사전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3"/>
          <a:srcRect r="9786" b="66526"/>
          <a:stretch/>
        </p:blipFill>
        <p:spPr>
          <a:xfrm>
            <a:off x="1856656" y="2103683"/>
            <a:ext cx="7200800" cy="1613349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2001619" y="2986829"/>
            <a:ext cx="3689097" cy="1440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821189" y="1700808"/>
            <a:ext cx="3296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spc="-51" dirty="0" smtClean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사고 키워드 활용 예시 </a:t>
            </a:r>
            <a:r>
              <a:rPr lang="en-US" altLang="ko-KR" b="1" spc="-51" dirty="0" smtClean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b="1" spc="-51" dirty="0" err="1" smtClean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오차분석</a:t>
            </a:r>
            <a:r>
              <a:rPr lang="en-US" altLang="ko-KR" b="1" spc="-51" dirty="0" smtClean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b="1" spc="-51" dirty="0">
              <a:solidFill>
                <a:schemeClr val="bg1"/>
              </a:solidFill>
              <a:effectLst>
                <a:glow rad="228600">
                  <a:srgbClr val="705DCF">
                    <a:alpha val="50000"/>
                  </a:srgb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456" y="4483571"/>
            <a:ext cx="7239000" cy="1609725"/>
          </a:xfrm>
          <a:prstGeom prst="rect">
            <a:avLst/>
          </a:prstGeom>
        </p:spPr>
      </p:pic>
      <p:sp>
        <p:nvSpPr>
          <p:cNvPr id="30" name="직사각형 29"/>
          <p:cNvSpPr/>
          <p:nvPr/>
        </p:nvSpPr>
        <p:spPr>
          <a:xfrm>
            <a:off x="1821189" y="4110541"/>
            <a:ext cx="3296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spc="-51" dirty="0" smtClean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사고 키워드 활용 예시 </a:t>
            </a:r>
            <a:r>
              <a:rPr lang="en-US" altLang="ko-KR" b="1" spc="-51" dirty="0" smtClean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b="1" spc="-51" dirty="0" smtClean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프롬프트</a:t>
            </a:r>
            <a:r>
              <a:rPr lang="en-US" altLang="ko-KR" b="1" spc="-51" dirty="0" smtClean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b="1" spc="-51" dirty="0">
              <a:solidFill>
                <a:schemeClr val="bg1"/>
              </a:solidFill>
              <a:effectLst>
                <a:glow rad="228600">
                  <a:srgbClr val="705DCF">
                    <a:alpha val="50000"/>
                  </a:srgb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753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2657376" cy="274638"/>
          </a:xfrm>
        </p:spPr>
        <p:txBody>
          <a:bodyPr/>
          <a:lstStyle/>
          <a:p>
            <a:r>
              <a:rPr lang="ko-KR" altLang="en-US" dirty="0"/>
              <a:t>데이터 활용 </a:t>
            </a:r>
            <a:r>
              <a:rPr lang="en-US" altLang="ko-KR" dirty="0"/>
              <a:t>(3/6) 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dirty="0" smtClean="0"/>
              <a:t>사고 키워드 사전을 활용해서 사고원인을 유형별로 분리 </a:t>
            </a:r>
            <a:endParaRPr lang="en-US" altLang="ko-KR" b="0" dirty="0" smtClean="0"/>
          </a:p>
          <a:p>
            <a:r>
              <a:rPr lang="ko-KR" altLang="en-US" b="0" dirty="0" smtClean="0"/>
              <a:t>유형별 재발방지대책 코사인 </a:t>
            </a:r>
            <a:r>
              <a:rPr lang="ko-KR" altLang="en-US" b="0" dirty="0" err="1" smtClean="0"/>
              <a:t>유사도를</a:t>
            </a:r>
            <a:r>
              <a:rPr lang="ko-KR" altLang="en-US" b="0" dirty="0" smtClean="0"/>
              <a:t> 산출해서 점수가 높은 </a:t>
            </a:r>
            <a:r>
              <a:rPr lang="en-US" altLang="ko-KR" b="0" dirty="0" smtClean="0"/>
              <a:t>TOP5 </a:t>
            </a:r>
            <a:r>
              <a:rPr lang="ko-KR" altLang="en-US" b="0" dirty="0" smtClean="0"/>
              <a:t>추출 후 정성평가를 통해서 </a:t>
            </a:r>
            <a:r>
              <a:rPr lang="en-US" altLang="ko-KR" b="0" dirty="0" smtClean="0"/>
              <a:t>TOP3 </a:t>
            </a:r>
            <a:r>
              <a:rPr lang="ko-KR" altLang="en-US" b="0" dirty="0" smtClean="0"/>
              <a:t>선정 후 프롬프트에 활용 </a:t>
            </a:r>
            <a:endParaRPr lang="ko-KR" altLang="en-US" b="0" dirty="0"/>
          </a:p>
        </p:txBody>
      </p:sp>
      <p:sp>
        <p:nvSpPr>
          <p:cNvPr id="6" name="직사각형 5"/>
          <p:cNvSpPr/>
          <p:nvPr/>
        </p:nvSpPr>
        <p:spPr>
          <a:xfrm>
            <a:off x="4779312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유형별 </a:t>
            </a:r>
            <a:endParaRPr lang="en-US" altLang="ko-KR" sz="1400" dirty="0"/>
          </a:p>
          <a:p>
            <a:pPr algn="ctr"/>
            <a:r>
              <a:rPr lang="ko-KR" altLang="en-US" sz="1400" dirty="0"/>
              <a:t>재발방지대책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14018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오타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유사어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전처리</a:t>
            </a:r>
            <a:endParaRPr lang="ko-KR" altLang="en-US" sz="1400" dirty="0"/>
          </a:p>
        </p:txBody>
      </p:sp>
      <p:sp>
        <p:nvSpPr>
          <p:cNvPr id="9" name="직사각형 8"/>
          <p:cNvSpPr/>
          <p:nvPr/>
        </p:nvSpPr>
        <p:spPr>
          <a:xfrm>
            <a:off x="341116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사고 키워드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t="50980" r="7678"/>
          <a:stretch/>
        </p:blipFill>
        <p:spPr>
          <a:xfrm>
            <a:off x="587497" y="4365104"/>
            <a:ext cx="8613975" cy="1800200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/>
        </p:nvSpPr>
        <p:spPr>
          <a:xfrm>
            <a:off x="560512" y="2596494"/>
            <a:ext cx="1323130" cy="5760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  <a:latin typeface="+mn-ea"/>
              </a:rPr>
              <a:t>사고 원인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3814067" y="2596494"/>
            <a:ext cx="1282949" cy="5760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사고 유형 </a:t>
            </a:r>
            <a:endParaRPr lang="en-US" altLang="ko-KR" sz="1400" dirty="0" smtClean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" name="직선 화살표 연결선 3"/>
          <p:cNvCxnSpPr>
            <a:stCxn id="10" idx="3"/>
            <a:endCxn id="13" idx="1"/>
          </p:cNvCxnSpPr>
          <p:nvPr/>
        </p:nvCxnSpPr>
        <p:spPr>
          <a:xfrm>
            <a:off x="1883642" y="2884526"/>
            <a:ext cx="19304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8" descr="http://db.cse.ohio-state.edu/images/d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48882" y="2564904"/>
            <a:ext cx="779847" cy="864096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2347517" y="2042681"/>
            <a:ext cx="949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 키워드</a:t>
            </a:r>
            <a:endParaRPr lang="en-US" altLang="ko-KR" sz="12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사전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7761311" y="2596494"/>
            <a:ext cx="1584177" cy="5760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유형별 대표 </a:t>
            </a:r>
            <a:endParaRPr lang="en-US" altLang="ko-KR" sz="14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재발방지대책</a:t>
            </a:r>
            <a:endParaRPr lang="en-US" altLang="ko-KR" sz="14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673079" y="2092438"/>
            <a:ext cx="1584177" cy="5760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유형별 코사인 </a:t>
            </a:r>
            <a:endParaRPr lang="en-US" altLang="ko-KR" sz="14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유사도 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TOP5</a:t>
            </a:r>
          </a:p>
        </p:txBody>
      </p:sp>
      <p:sp>
        <p:nvSpPr>
          <p:cNvPr id="20" name="모서리가 둥근 직사각형 19"/>
          <p:cNvSpPr/>
          <p:nvPr/>
        </p:nvSpPr>
        <p:spPr>
          <a:xfrm>
            <a:off x="5673079" y="2924944"/>
            <a:ext cx="1584177" cy="5760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내부 정성평가</a:t>
            </a:r>
            <a:endParaRPr lang="en-US" altLang="ko-KR" sz="14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TOP3</a:t>
            </a:r>
          </a:p>
        </p:txBody>
      </p:sp>
      <p:cxnSp>
        <p:nvCxnSpPr>
          <p:cNvPr id="22" name="직선 화살표 연결선 21"/>
          <p:cNvCxnSpPr>
            <a:stCxn id="13" idx="3"/>
            <a:endCxn id="19" idx="1"/>
          </p:cNvCxnSpPr>
          <p:nvPr/>
        </p:nvCxnSpPr>
        <p:spPr>
          <a:xfrm flipV="1">
            <a:off x="5097016" y="2380470"/>
            <a:ext cx="576063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19" idx="2"/>
            <a:endCxn id="20" idx="0"/>
          </p:cNvCxnSpPr>
          <p:nvPr/>
        </p:nvCxnSpPr>
        <p:spPr>
          <a:xfrm>
            <a:off x="6465168" y="2668502"/>
            <a:ext cx="0" cy="256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20" idx="3"/>
            <a:endCxn id="17" idx="1"/>
          </p:cNvCxnSpPr>
          <p:nvPr/>
        </p:nvCxnSpPr>
        <p:spPr>
          <a:xfrm flipV="1">
            <a:off x="7257256" y="2884526"/>
            <a:ext cx="504055" cy="328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560512" y="3892407"/>
            <a:ext cx="31432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spc="-51" dirty="0" smtClean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유형별 대표 재발방지 대책 예</a:t>
            </a:r>
            <a:r>
              <a:rPr lang="ko-KR" altLang="en-US" b="1" spc="-51" dirty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시</a:t>
            </a:r>
            <a:endParaRPr lang="en-US" altLang="ko-KR" b="1" spc="-51" dirty="0">
              <a:solidFill>
                <a:schemeClr val="bg1"/>
              </a:solidFill>
              <a:effectLst>
                <a:glow rad="228600">
                  <a:srgbClr val="705DCF">
                    <a:alpha val="50000"/>
                  </a:srgb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133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2657376" cy="274638"/>
          </a:xfrm>
        </p:spPr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데이터 활용 </a:t>
            </a:r>
            <a:r>
              <a:rPr lang="en-US" altLang="ko-KR" dirty="0" smtClean="0">
                <a:latin typeface="+mn-ea"/>
                <a:ea typeface="+mn-ea"/>
              </a:rPr>
              <a:t>(4/6</a:t>
            </a:r>
            <a:r>
              <a:rPr lang="en-US" altLang="ko-KR" dirty="0">
                <a:latin typeface="+mn-ea"/>
                <a:ea typeface="+mn-ea"/>
              </a:rPr>
              <a:t>) 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72480" y="764704"/>
            <a:ext cx="9360470" cy="4104456"/>
          </a:xfrm>
        </p:spPr>
        <p:txBody>
          <a:bodyPr/>
          <a:lstStyle/>
          <a:p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배경 </a:t>
            </a: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: 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현장의 외래어 표기 방법과 오타는 </a:t>
            </a: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RAG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로 가져올 </a:t>
            </a:r>
            <a:r>
              <a:rPr lang="ko-KR" altLang="ko-KR" dirty="0">
                <a:solidFill>
                  <a:srgbClr val="000000"/>
                </a:solidFill>
                <a:latin typeface="+mn-ea"/>
                <a:ea typeface="+mn-ea"/>
              </a:rPr>
              <a:t>건설안전지침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의 표현과 다르고</a:t>
            </a: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특수한 도메인이기 때문에 이들을 </a:t>
            </a: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LLM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이 구분하기 어려울 수도 있을 것으로 보임</a:t>
            </a:r>
            <a:endParaRPr lang="en-US" altLang="ko-KR" b="0" dirty="0">
              <a:solidFill>
                <a:srgbClr val="000000"/>
              </a:solidFill>
              <a:latin typeface="+mn-ea"/>
              <a:ea typeface="+mn-ea"/>
            </a:endParaRPr>
          </a:p>
          <a:p>
            <a:endParaRPr lang="en-US" altLang="ko-KR" b="0" dirty="0">
              <a:solidFill>
                <a:srgbClr val="000000"/>
              </a:solidFill>
              <a:latin typeface="+mn-ea"/>
              <a:ea typeface="+mn-ea"/>
            </a:endParaRPr>
          </a:p>
          <a:p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목표 </a:t>
            </a: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: 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오타</a:t>
            </a: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/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유사어 사전 생성</a:t>
            </a:r>
            <a:endParaRPr lang="en-US" altLang="ko-KR" b="0" dirty="0">
              <a:solidFill>
                <a:srgbClr val="000000"/>
              </a:solidFill>
              <a:latin typeface="+mn-ea"/>
              <a:ea typeface="+mn-ea"/>
            </a:endParaRPr>
          </a:p>
          <a:p>
            <a:endParaRPr lang="en-US" altLang="ko-KR" b="0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알고리즘 </a:t>
            </a: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: </a:t>
            </a:r>
            <a:r>
              <a:rPr lang="en-US" altLang="ko-KR" b="0" dirty="0" err="1">
                <a:solidFill>
                  <a:srgbClr val="000000"/>
                </a:solidFill>
                <a:latin typeface="+mn-ea"/>
                <a:ea typeface="+mn-ea"/>
              </a:rPr>
              <a:t>difflib.SequenceMatcher</a:t>
            </a:r>
            <a:endParaRPr lang="en-US" altLang="ko-KR" b="0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1. 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두 시퀀스에서 가장 긴 공통 시퀀스를 찾음</a:t>
            </a:r>
            <a:endParaRPr lang="en-US" altLang="ko-KR" b="0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2. 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그 부분을 기준으로 좌우로 나눔</a:t>
            </a:r>
            <a:endParaRPr lang="en-US" altLang="ko-KR" b="0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3. 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나뉜 좌우 시퀀스에서도 같은 방식으로 재귀</a:t>
            </a:r>
            <a:endParaRPr lang="en-US" altLang="ko-KR" b="0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4. 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이 과정을 반복하여 전체 유사도 계산</a:t>
            </a:r>
            <a:endParaRPr lang="en-US" altLang="ko-KR" b="0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endParaRPr lang="en-US" altLang="ko-KR" b="0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향후 방향 </a:t>
            </a: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: 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자연어 이해 모델을 </a:t>
            </a:r>
            <a:r>
              <a:rPr lang="en-US" altLang="ko-KR" b="0" dirty="0" err="1">
                <a:solidFill>
                  <a:srgbClr val="000000"/>
                </a:solidFill>
                <a:latin typeface="+mn-ea"/>
                <a:ea typeface="+mn-ea"/>
              </a:rPr>
              <a:t>finetuning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하여 오타</a:t>
            </a: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유의어 처리 모델 배포</a:t>
            </a:r>
            <a:r>
              <a:rPr lang="en-US" altLang="ko-KR" b="0" dirty="0">
                <a:solidFill>
                  <a:srgbClr val="000000"/>
                </a:solidFill>
                <a:latin typeface="+mn-ea"/>
                <a:ea typeface="+mn-ea"/>
              </a:rPr>
              <a:t>/</a:t>
            </a:r>
            <a:r>
              <a:rPr lang="ko-KR" altLang="ko-KR" b="0" dirty="0">
                <a:solidFill>
                  <a:srgbClr val="000000"/>
                </a:solidFill>
                <a:latin typeface="+mn-ea"/>
                <a:ea typeface="+mn-ea"/>
              </a:rPr>
              <a:t>관리</a:t>
            </a:r>
            <a:endParaRPr lang="en-US" altLang="ko-KR" b="0" dirty="0">
              <a:solidFill>
                <a:srgbClr val="000000"/>
              </a:solidFill>
              <a:latin typeface="+mn-ea"/>
              <a:ea typeface="+mn-ea"/>
            </a:endParaRPr>
          </a:p>
          <a:p>
            <a:endParaRPr lang="en-US" altLang="ko-KR" b="0" dirty="0">
              <a:solidFill>
                <a:srgbClr val="000000"/>
              </a:solidFill>
              <a:latin typeface="+mn-ea"/>
              <a:ea typeface="+mn-ea"/>
            </a:endParaRPr>
          </a:p>
          <a:p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779312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n-ea"/>
              </a:rPr>
              <a:t>유형별 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ko-KR" altLang="en-US" sz="1400" dirty="0">
                <a:latin typeface="+mn-ea"/>
              </a:rPr>
              <a:t>재발방지대책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140183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n-ea"/>
              </a:rPr>
              <a:t>오타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유사어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ko-KR" altLang="en-US" sz="1400" dirty="0">
                <a:latin typeface="+mn-ea"/>
              </a:rPr>
              <a:t>전처리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41116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n-ea"/>
              </a:rPr>
              <a:t>사고 키워드</a:t>
            </a:r>
          </a:p>
        </p:txBody>
      </p:sp>
    </p:spTree>
    <p:extLst>
      <p:ext uri="{BB962C8B-B14F-4D97-AF65-F5344CB8AC3E}">
        <p14:creationId xmlns:p14="http://schemas.microsoft.com/office/powerpoint/2010/main" val="120143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79360" y="378000"/>
            <a:ext cx="6102000" cy="27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ko-KR" altLang="en-US" dirty="0"/>
              <a:t>데이터 활용 </a:t>
            </a:r>
            <a:r>
              <a:rPr lang="en-US" altLang="ko-KR" dirty="0" smtClean="0"/>
              <a:t>(5/6</a:t>
            </a:r>
            <a:r>
              <a:rPr lang="en-US" altLang="ko-KR" dirty="0"/>
              <a:t>) </a:t>
            </a:r>
            <a:endParaRPr lang="en-US" sz="2000" b="0" u="none" strike="noStrike" dirty="0">
              <a:solidFill>
                <a:schemeClr val="dk1"/>
              </a:solidFill>
              <a:uFillTx/>
              <a:latin typeface="나눔고딕" panose="020D0604000000000000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0000" y="900000"/>
            <a:ext cx="9180000" cy="54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구현 </a:t>
            </a:r>
            <a:r>
              <a:rPr lang="ko-KR" sz="1400" b="0" u="none" strike="noStrike" dirty="0" smtClean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방법</a:t>
            </a:r>
            <a:endParaRPr lang="en-US" altLang="ko-KR" sz="1400" b="0" u="none" strike="noStrike" dirty="0" smtClean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sz="1400" b="0" u="none" strike="noStrike" dirty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buAutoNum type="arabicPeriod"/>
            </a:pPr>
            <a:r>
              <a:rPr lang="ko-KR" sz="1400" b="0" u="none" strike="noStrike" dirty="0" smtClean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이전 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사례 </a:t>
            </a:r>
            <a:r>
              <a:rPr lang="ko-KR" sz="1400" b="0" u="none" strike="noStrike" dirty="0" err="1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데이터세트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sz="1400" b="0" u="none" strike="noStrike" dirty="0" err="1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en-US" sz="1400" b="0" u="none" strike="noStrike" dirty="0" smtClean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flatten</a:t>
            </a:r>
          </a:p>
          <a:p>
            <a:pPr marL="342900" indent="-342900">
              <a:buAutoNum type="arabicPeriod"/>
            </a:pPr>
            <a:endParaRPr lang="en-US" sz="1400" b="0" u="none" strike="noStrike" dirty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각 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value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들에 대해 형태소 분석기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(Open Korean Text)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로 조사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동사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형용사 </a:t>
            </a:r>
            <a:r>
              <a:rPr lang="ko-KR" sz="1400" b="0" u="none" strike="noStrike" dirty="0" smtClean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제거</a:t>
            </a:r>
            <a:endParaRPr lang="en-US" altLang="ko-KR" sz="1400" b="0" u="none" strike="noStrike" dirty="0" smtClean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sz="1400" b="0" u="none" strike="noStrike" dirty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각 어절을 공백 기준으로 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split 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후 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set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으로 저장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중복 제거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pic>
        <p:nvPicPr>
          <p:cNvPr id="33" name="그림 32"/>
          <p:cNvPicPr/>
          <p:nvPr/>
        </p:nvPicPr>
        <p:blipFill>
          <a:blip r:embed="rId2"/>
          <a:stretch/>
        </p:blipFill>
        <p:spPr>
          <a:xfrm>
            <a:off x="3405600" y="3240000"/>
            <a:ext cx="2714400" cy="22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Box 33"/>
          <p:cNvSpPr txBox="1"/>
          <p:nvPr/>
        </p:nvSpPr>
        <p:spPr>
          <a:xfrm>
            <a:off x="3600000" y="558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ko-KR" sz="10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만들어진 </a:t>
            </a:r>
            <a:r>
              <a:rPr lang="en-US" sz="10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set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779312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유형별 </a:t>
            </a:r>
            <a:endParaRPr lang="en-US" altLang="ko-KR" sz="1400" dirty="0"/>
          </a:p>
          <a:p>
            <a:pPr algn="ctr"/>
            <a:r>
              <a:rPr lang="ko-KR" altLang="en-US" sz="1400" dirty="0"/>
              <a:t>재발방지대책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140183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오타</a:t>
            </a:r>
            <a:r>
              <a:rPr lang="en-US" altLang="ko-KR" sz="1400" dirty="0"/>
              <a:t>, </a:t>
            </a:r>
            <a:r>
              <a:rPr lang="ko-KR" altLang="en-US" sz="1400" dirty="0"/>
              <a:t>유사어</a:t>
            </a:r>
            <a:endParaRPr lang="en-US" altLang="ko-KR" sz="1400" dirty="0"/>
          </a:p>
          <a:p>
            <a:pPr algn="ctr"/>
            <a:r>
              <a:rPr lang="ko-KR" altLang="en-US" sz="1400" dirty="0"/>
              <a:t>전처리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41116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사고 키워드</a:t>
            </a:r>
          </a:p>
        </p:txBody>
      </p:sp>
    </p:spTree>
    <p:extLst>
      <p:ext uri="{BB962C8B-B14F-4D97-AF65-F5344CB8AC3E}">
        <p14:creationId xmlns:p14="http://schemas.microsoft.com/office/powerpoint/2010/main" val="212269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79360" y="378000"/>
            <a:ext cx="6102000" cy="27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ko-KR" altLang="en-US" dirty="0"/>
              <a:t>데이터 활용 </a:t>
            </a:r>
            <a:r>
              <a:rPr lang="en-US" altLang="ko-KR" dirty="0" smtClean="0"/>
              <a:t>(6/6</a:t>
            </a:r>
            <a:r>
              <a:rPr lang="en-US" altLang="ko-KR" dirty="0"/>
              <a:t>) </a:t>
            </a:r>
            <a:endParaRPr lang="en-US" sz="2000" b="0" u="none" strike="noStrike" dirty="0">
              <a:solidFill>
                <a:schemeClr val="dk1"/>
              </a:solidFill>
              <a:uFillTx/>
              <a:latin typeface="나눔고딕" panose="020D0604000000000000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60000" y="900000"/>
            <a:ext cx="9180000" cy="54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구현 </a:t>
            </a:r>
            <a:r>
              <a:rPr lang="ko-KR" sz="1400" b="0" u="none" strike="noStrike" dirty="0" smtClean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방법</a:t>
            </a:r>
            <a:endParaRPr lang="en-US" altLang="ko-KR" sz="1400" b="0" u="none" strike="noStrike" dirty="0" smtClean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sz="1400" b="0" u="none" strike="noStrike" dirty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4. set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에 저장된 값들의 각 음절을 자모음 단위로 </a:t>
            </a:r>
            <a:r>
              <a:rPr lang="ko-KR" sz="1400" b="0" u="none" strike="noStrike" dirty="0" smtClean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분해</a:t>
            </a:r>
            <a:endParaRPr lang="en-US" altLang="ko-KR" sz="1400" b="0" u="none" strike="noStrike" dirty="0" smtClean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sz="1400" b="0" u="none" strike="noStrike" dirty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5. 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유사도 사전을 만든 후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, set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에 저장된 모든 값에 대해 </a:t>
            </a:r>
            <a:r>
              <a:rPr lang="en-US" sz="1400" b="0" u="none" strike="noStrike" dirty="0" err="1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difflib.SequenceMatcher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를 사용하여 유사도 사전에 유사 단어가 없을 시 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key 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추가</a:t>
            </a:r>
            <a:endParaRPr lang="en-US" sz="1400" b="0" u="none" strike="noStrike" dirty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sz="1400" b="0" u="none" strike="noStrike" dirty="0" smtClean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유사도 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비교 도구로 </a:t>
            </a:r>
            <a:r>
              <a:rPr lang="en-US" sz="1400" b="0" u="none" strike="noStrike" dirty="0" err="1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difflib.SequenceMatcher</a:t>
            </a: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sz="1400" b="0" u="none" strike="noStrike" dirty="0" smtClean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사용</a:t>
            </a:r>
            <a:endParaRPr lang="en-US" altLang="ko-KR" sz="1400" b="0" u="none" strike="noStrike" dirty="0" smtClean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b="0" u="none" strike="noStrike" dirty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6. </a:t>
            </a:r>
            <a:r>
              <a:rPr lang="ko-KR" sz="14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만들어진 유사도 사전에서 사람이 직접 의도 파악 후 외래어 표기와 오타를 구분하여 수정</a:t>
            </a:r>
            <a:endParaRPr lang="en-US" sz="1400" b="0" u="none" strike="noStrike" dirty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sz="1400" b="0" u="none" strike="noStrike" dirty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7" name="그림 36"/>
          <p:cNvPicPr/>
          <p:nvPr/>
        </p:nvPicPr>
        <p:blipFill>
          <a:blip r:embed="rId2"/>
          <a:stretch/>
        </p:blipFill>
        <p:spPr>
          <a:xfrm>
            <a:off x="5311440" y="3240000"/>
            <a:ext cx="2428560" cy="255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그림 37"/>
          <p:cNvPicPr/>
          <p:nvPr/>
        </p:nvPicPr>
        <p:blipFill>
          <a:blip r:embed="rId3"/>
          <a:stretch/>
        </p:blipFill>
        <p:spPr>
          <a:xfrm>
            <a:off x="1976040" y="3240000"/>
            <a:ext cx="2459160" cy="252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Box 38"/>
          <p:cNvSpPr txBox="1"/>
          <p:nvPr/>
        </p:nvSpPr>
        <p:spPr>
          <a:xfrm>
            <a:off x="1980000" y="594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ko-KR" sz="10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만들어진 유사도 사전</a:t>
            </a:r>
            <a:endParaRPr lang="en-US" sz="1000" b="0" u="none" strike="noStrike" dirty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00000" y="594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ko-KR" sz="1000" b="0" u="none" strike="noStrike" dirty="0">
                <a:solidFill>
                  <a:srgbClr val="000000"/>
                </a:solidFill>
                <a:uFillTx/>
                <a:latin typeface="나눔고딕" panose="020D0604000000000000" pitchFamily="50" charset="-127"/>
                <a:ea typeface="나눔고딕" panose="020D0604000000000000" pitchFamily="50" charset="-127"/>
              </a:rPr>
              <a:t>수정된 유사도 사전</a:t>
            </a:r>
            <a:endParaRPr lang="en-US" sz="1000" b="0" u="none" strike="noStrike" dirty="0">
              <a:solidFill>
                <a:srgbClr val="000000"/>
              </a:solidFill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79312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유형별 </a:t>
            </a:r>
            <a:endParaRPr lang="en-US" altLang="ko-KR" sz="1400" dirty="0"/>
          </a:p>
          <a:p>
            <a:pPr algn="ctr"/>
            <a:r>
              <a:rPr lang="ko-KR" altLang="en-US" sz="1400" dirty="0"/>
              <a:t>재발방지대책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140183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오타</a:t>
            </a:r>
            <a:r>
              <a:rPr lang="en-US" altLang="ko-KR" sz="1400" dirty="0"/>
              <a:t>, </a:t>
            </a:r>
            <a:r>
              <a:rPr lang="ko-KR" altLang="en-US" sz="1400" dirty="0"/>
              <a:t>유사어</a:t>
            </a:r>
            <a:endParaRPr lang="en-US" altLang="ko-KR" sz="1400" dirty="0"/>
          </a:p>
          <a:p>
            <a:pPr algn="ctr"/>
            <a:r>
              <a:rPr lang="ko-KR" altLang="en-US" sz="1400" dirty="0"/>
              <a:t>전처리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41116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사고 키워드</a:t>
            </a:r>
          </a:p>
        </p:txBody>
      </p:sp>
    </p:spTree>
    <p:extLst>
      <p:ext uri="{BB962C8B-B14F-4D97-AF65-F5344CB8AC3E}">
        <p14:creationId xmlns:p14="http://schemas.microsoft.com/office/powerpoint/2010/main" val="1918190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811623" y="2924944"/>
            <a:ext cx="2797561" cy="342393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indent="-400050">
              <a:buAutoNum type="romanUcPeriod"/>
            </a:pPr>
            <a:r>
              <a:rPr lang="ko-KR" altLang="en-US" sz="1600" dirty="0" smtClean="0"/>
              <a:t>모델 검증 방법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데이터 활용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알고리즘 </a:t>
            </a:r>
            <a:endParaRPr lang="en-US" altLang="ko-KR" sz="1600" dirty="0" smtClean="0"/>
          </a:p>
          <a:p>
            <a:pPr marL="400050" indent="-400050">
              <a:buAutoNum type="romanUcPeriod"/>
            </a:pPr>
            <a:r>
              <a:rPr lang="ko-KR" altLang="en-US" sz="1600" dirty="0" smtClean="0"/>
              <a:t>모델 </a:t>
            </a:r>
            <a:r>
              <a:rPr lang="ko-KR" altLang="en-US" sz="1600" dirty="0" err="1" smtClean="0"/>
              <a:t>서빙</a:t>
            </a:r>
            <a:r>
              <a:rPr lang="ko-KR" altLang="en-US" sz="1600" dirty="0" smtClean="0"/>
              <a:t> 프로세스 </a:t>
            </a:r>
            <a:r>
              <a:rPr lang="ko-KR" altLang="en-US" sz="1600" dirty="0" smtClean="0"/>
              <a:t>제안</a:t>
            </a:r>
            <a:endParaRPr lang="en-US" altLang="ko-KR" sz="1600" dirty="0" smtClean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944888" y="1628800"/>
            <a:ext cx="4032448" cy="274638"/>
          </a:xfrm>
        </p:spPr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530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6102350" cy="274638"/>
          </a:xfrm>
        </p:spPr>
        <p:txBody>
          <a:bodyPr/>
          <a:lstStyle/>
          <a:p>
            <a:r>
              <a:rPr lang="ko-KR" altLang="en-US" dirty="0"/>
              <a:t>알고리즘 </a:t>
            </a:r>
            <a:r>
              <a:rPr lang="en-US" altLang="ko-KR" dirty="0" smtClean="0"/>
              <a:t>(</a:t>
            </a:r>
            <a:r>
              <a:rPr lang="en-US" altLang="ko-KR" dirty="0" smtClean="0"/>
              <a:t>1/7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4779312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프롬프트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14018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앙상블</a:t>
            </a:r>
            <a:endParaRPr lang="ko-KR" altLang="en-US" sz="1400" dirty="0"/>
          </a:p>
        </p:txBody>
      </p:sp>
      <p:sp>
        <p:nvSpPr>
          <p:cNvPr id="37" name="직사각형 36"/>
          <p:cNvSpPr/>
          <p:nvPr/>
        </p:nvSpPr>
        <p:spPr>
          <a:xfrm>
            <a:off x="3411163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모델 아키텍처</a:t>
            </a:r>
            <a:endParaRPr lang="ko-KR" altLang="en-US" sz="1400" dirty="0"/>
          </a:p>
        </p:txBody>
      </p:sp>
      <p:sp>
        <p:nvSpPr>
          <p:cNvPr id="104" name="내용 개체 틀 5"/>
          <p:cNvSpPr txBox="1">
            <a:spLocks/>
          </p:cNvSpPr>
          <p:nvPr/>
        </p:nvSpPr>
        <p:spPr bwMode="auto">
          <a:xfrm>
            <a:off x="272480" y="764703"/>
            <a:ext cx="9360470" cy="67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11113" algn="l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Tahoma" pitchFamily="34" charset="0"/>
              <a:buNone/>
              <a:defRPr kumimoji="1" sz="1400" b="1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531813" indent="-2635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-2002" pitchFamily="18" charset="-127"/>
              <a:buAutoNum type="arabicParenR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803275" indent="-228600" algn="l" defTabSz="803275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-2002" pitchFamily="18" charset="-127"/>
              <a:buAutoNum type="circleNumDbPlain"/>
              <a:tabLst>
                <a:tab pos="1160463" algn="l"/>
              </a:tabLst>
              <a:defRPr kumimoji="1" sz="1200" b="1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0080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050">
                <a:solidFill>
                  <a:srgbClr val="7F7F7F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모델 아키텍처 포인트 </a:t>
            </a:r>
            <a:r>
              <a:rPr lang="en-US" altLang="ko-KR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탐색을 통해 </a:t>
            </a:r>
            <a:r>
              <a:rPr lang="ko-KR" altLang="en-US" b="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인사이트</a:t>
            </a:r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발굴 후 다양한 프롬프트 설계</a:t>
            </a:r>
            <a:endParaRPr lang="en-US" altLang="ko-KR" b="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664" y="1816928"/>
            <a:ext cx="5596440" cy="434837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16496" y="1782108"/>
            <a:ext cx="1756420" cy="14465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※ LLM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Qwen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/Qwen2.5-14B-Instruct-1M, </a:t>
            </a:r>
            <a:r>
              <a:rPr lang="en-US" altLang="ko-KR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Qwen</a:t>
            </a:r>
            <a:r>
              <a:rPr lang="en-US" altLang="ko-KR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/Qwen2.5-32B-Instruct-1M</a:t>
            </a:r>
          </a:p>
          <a:p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11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임베딩</a:t>
            </a: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모델 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jhgan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en-US" altLang="ko-KR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ko-sbert-sts</a:t>
            </a:r>
            <a:endParaRPr lang="en-US" altLang="ko-KR" sz="1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16496" y="1412776"/>
            <a:ext cx="10817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spc="-51" smtClean="0">
                <a:solidFill>
                  <a:schemeClr val="bg1"/>
                </a:solidFill>
                <a:effectLst>
                  <a:glow rad="228600">
                    <a:srgbClr val="705DCF">
                      <a:alpha val="5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모델 정보</a:t>
            </a:r>
            <a:endParaRPr lang="en-US" altLang="ko-KR" b="1" spc="-51" dirty="0">
              <a:solidFill>
                <a:schemeClr val="bg1"/>
              </a:solidFill>
              <a:effectLst>
                <a:glow rad="228600">
                  <a:srgbClr val="705DCF">
                    <a:alpha val="50000"/>
                  </a:srgb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210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6102350" cy="274638"/>
          </a:xfrm>
        </p:spPr>
        <p:txBody>
          <a:bodyPr/>
          <a:lstStyle/>
          <a:p>
            <a:r>
              <a:rPr lang="ko-KR" altLang="en-US" dirty="0"/>
              <a:t>알고리즘 </a:t>
            </a:r>
            <a:r>
              <a:rPr lang="en-US" altLang="ko-KR" dirty="0" smtClean="0"/>
              <a:t>(2/7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4779312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프롬프트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14018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앙상블</a:t>
            </a:r>
            <a:endParaRPr lang="ko-KR" altLang="en-US" sz="1400" dirty="0"/>
          </a:p>
        </p:txBody>
      </p:sp>
      <p:sp>
        <p:nvSpPr>
          <p:cNvPr id="37" name="직사각형 36"/>
          <p:cNvSpPr/>
          <p:nvPr/>
        </p:nvSpPr>
        <p:spPr>
          <a:xfrm>
            <a:off x="3411163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모델 아키텍처</a:t>
            </a:r>
            <a:endParaRPr lang="ko-KR" altLang="en-US" sz="1400" dirty="0"/>
          </a:p>
        </p:txBody>
      </p:sp>
      <p:sp>
        <p:nvSpPr>
          <p:cNvPr id="104" name="내용 개체 틀 5"/>
          <p:cNvSpPr txBox="1">
            <a:spLocks/>
          </p:cNvSpPr>
          <p:nvPr/>
        </p:nvSpPr>
        <p:spPr bwMode="auto">
          <a:xfrm>
            <a:off x="272480" y="764703"/>
            <a:ext cx="9360470" cy="67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11113" algn="l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Tahoma" pitchFamily="34" charset="0"/>
              <a:buNone/>
              <a:defRPr kumimoji="1" sz="1400" b="1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531813" indent="-2635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-2002" pitchFamily="18" charset="-127"/>
              <a:buAutoNum type="arabicParenR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803275" indent="-228600" algn="l" defTabSz="803275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-2002" pitchFamily="18" charset="-127"/>
              <a:buAutoNum type="circleNumDbPlain"/>
              <a:tabLst>
                <a:tab pos="1160463" algn="l"/>
              </a:tabLst>
              <a:defRPr kumimoji="1" sz="1200" b="1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0080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050">
                <a:solidFill>
                  <a:srgbClr val="7F7F7F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b="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인사이트를</a:t>
            </a:r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활용해서 다양한 정보 생성 후 프롬프트로 제공하는 전략을 사용   </a:t>
            </a:r>
            <a:endParaRPr lang="en-US" altLang="ko-KR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12" y="1700808"/>
            <a:ext cx="8928992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30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6102350" cy="274638"/>
          </a:xfrm>
        </p:spPr>
        <p:txBody>
          <a:bodyPr/>
          <a:lstStyle/>
          <a:p>
            <a:r>
              <a:rPr lang="ko-KR" altLang="en-US" dirty="0"/>
              <a:t>알고리즘 </a:t>
            </a:r>
            <a:r>
              <a:rPr lang="en-US" altLang="ko-KR" dirty="0" smtClean="0"/>
              <a:t>(3/7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4779312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프롬프트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14018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앙상블</a:t>
            </a:r>
            <a:endParaRPr lang="ko-KR" altLang="en-US" sz="1400" dirty="0"/>
          </a:p>
        </p:txBody>
      </p:sp>
      <p:sp>
        <p:nvSpPr>
          <p:cNvPr id="37" name="직사각형 36"/>
          <p:cNvSpPr/>
          <p:nvPr/>
        </p:nvSpPr>
        <p:spPr>
          <a:xfrm>
            <a:off x="341116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모델 아키텍처</a:t>
            </a:r>
          </a:p>
        </p:txBody>
      </p:sp>
      <p:sp>
        <p:nvSpPr>
          <p:cNvPr id="104" name="내용 개체 틀 5"/>
          <p:cNvSpPr txBox="1">
            <a:spLocks/>
          </p:cNvSpPr>
          <p:nvPr/>
        </p:nvSpPr>
        <p:spPr bwMode="auto">
          <a:xfrm>
            <a:off x="272480" y="764703"/>
            <a:ext cx="9360470" cy="67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11113" algn="l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Tahoma" pitchFamily="34" charset="0"/>
              <a:buNone/>
              <a:defRPr kumimoji="1" sz="1400" b="1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531813" indent="-2635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-2002" pitchFamily="18" charset="-127"/>
              <a:buAutoNum type="arabicParenR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803275" indent="-228600" algn="l" defTabSz="803275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-2002" pitchFamily="18" charset="-127"/>
              <a:buAutoNum type="circleNumDbPlain"/>
              <a:tabLst>
                <a:tab pos="1160463" algn="l"/>
              </a:tabLst>
              <a:defRPr kumimoji="1" sz="1200" b="1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0080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050">
                <a:solidFill>
                  <a:srgbClr val="7F7F7F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사고원인사전을 활용하여 </a:t>
            </a:r>
            <a:r>
              <a:rPr lang="ko-KR" altLang="en-US" b="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사고원인별</a:t>
            </a:r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답변 추천 단어 제공 </a:t>
            </a:r>
            <a:endParaRPr lang="en-US" altLang="ko-KR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4304928" y="1628800"/>
            <a:ext cx="5278377" cy="4706382"/>
          </a:xfrm>
          <a:prstGeom prst="roundRect">
            <a:avLst>
              <a:gd name="adj" fmla="val 3350"/>
            </a:avLst>
          </a:prstGeom>
          <a:solidFill>
            <a:srgbClr val="21283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35DCD42-024E-4B89-B773-D648CA14C541}"/>
              </a:ext>
            </a:extLst>
          </p:cNvPr>
          <p:cNvSpPr/>
          <p:nvPr/>
        </p:nvSpPr>
        <p:spPr>
          <a:xfrm>
            <a:off x="652290" y="3495284"/>
            <a:ext cx="1893995" cy="6037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사고원인사전</a:t>
            </a:r>
            <a:endParaRPr lang="ko-KR" altLang="en-US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1" name="사각형: 둥근 모서리 27">
            <a:extLst>
              <a:ext uri="{FF2B5EF4-FFF2-40B4-BE49-F238E27FC236}">
                <a16:creationId xmlns:a16="http://schemas.microsoft.com/office/drawing/2014/main" id="{2D65FC0F-CD60-495A-B82D-55002C497F7F}"/>
              </a:ext>
            </a:extLst>
          </p:cNvPr>
          <p:cNvSpPr/>
          <p:nvPr/>
        </p:nvSpPr>
        <p:spPr>
          <a:xfrm>
            <a:off x="344488" y="2492896"/>
            <a:ext cx="2463011" cy="2589486"/>
          </a:xfrm>
          <a:prstGeom prst="roundRect">
            <a:avLst>
              <a:gd name="adj" fmla="val 7386"/>
            </a:avLst>
          </a:prstGeom>
          <a:noFill/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DBE13D-AFF7-47F6-9F08-072300C90EE1}"/>
              </a:ext>
            </a:extLst>
          </p:cNvPr>
          <p:cNvSpPr txBox="1"/>
          <p:nvPr/>
        </p:nvSpPr>
        <p:spPr>
          <a:xfrm>
            <a:off x="3008784" y="2880806"/>
            <a:ext cx="1042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Context</a:t>
            </a:r>
            <a:endParaRPr lang="en-US" altLang="ko-KR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2038202-07D9-4DBF-80AA-E92FE3C5BD6D}"/>
              </a:ext>
            </a:extLst>
          </p:cNvPr>
          <p:cNvSpPr/>
          <p:nvPr/>
        </p:nvSpPr>
        <p:spPr>
          <a:xfrm>
            <a:off x="652290" y="2732828"/>
            <a:ext cx="1893995" cy="6037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지침</a:t>
            </a:r>
            <a:endParaRPr lang="ko-KR" altLang="en-US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왼쪽 화살표 44"/>
          <p:cNvSpPr/>
          <p:nvPr/>
        </p:nvSpPr>
        <p:spPr>
          <a:xfrm flipH="1">
            <a:off x="3211832" y="3291474"/>
            <a:ext cx="719628" cy="1377040"/>
          </a:xfrm>
          <a:prstGeom prst="leftArrow">
            <a:avLst>
              <a:gd name="adj1" fmla="val 67361"/>
              <a:gd name="adj2" fmla="val 20012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  <a:alpha val="50000"/>
                </a:schemeClr>
              </a:gs>
              <a:gs pos="50000">
                <a:schemeClr val="bg1">
                  <a:lumMod val="85000"/>
                  <a:shade val="67500"/>
                  <a:satMod val="115000"/>
                  <a:alpha val="31000"/>
                </a:schemeClr>
              </a:gs>
              <a:gs pos="100000">
                <a:schemeClr val="bg1">
                  <a:lumMod val="85000"/>
                  <a:shade val="100000"/>
                  <a:satMod val="115000"/>
                  <a:alpha val="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2"/>
          <a:srcRect r="10784"/>
          <a:stretch/>
        </p:blipFill>
        <p:spPr>
          <a:xfrm>
            <a:off x="4429895" y="1816250"/>
            <a:ext cx="5040559" cy="4320479"/>
          </a:xfrm>
          <a:prstGeom prst="rect">
            <a:avLst/>
          </a:prstGeom>
          <a:solidFill>
            <a:srgbClr val="212830"/>
          </a:solidFill>
        </p:spPr>
      </p:pic>
      <p:cxnSp>
        <p:nvCxnSpPr>
          <p:cNvPr id="47" name="직선 연결선 46"/>
          <p:cNvCxnSpPr/>
          <p:nvPr/>
        </p:nvCxnSpPr>
        <p:spPr>
          <a:xfrm>
            <a:off x="4708253" y="2060848"/>
            <a:ext cx="2808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4952715" y="4698353"/>
            <a:ext cx="165646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027133" y="4099018"/>
            <a:ext cx="1164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solidFill>
                  <a:schemeClr val="bg1"/>
                </a:solidFill>
              </a:rPr>
              <a:t>추천 단어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35DCD42-024E-4B89-B773-D648CA14C541}"/>
              </a:ext>
            </a:extLst>
          </p:cNvPr>
          <p:cNvSpPr/>
          <p:nvPr/>
        </p:nvSpPr>
        <p:spPr>
          <a:xfrm>
            <a:off x="652290" y="4289017"/>
            <a:ext cx="1893995" cy="6037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사고원인별</a:t>
            </a:r>
            <a:endParaRPr lang="en-US" altLang="ko-KR" sz="1400" b="1" dirty="0" smtClean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400" b="1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답변 추천 단어</a:t>
            </a:r>
            <a:endParaRPr lang="ko-KR" altLang="en-US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747947" y="1876182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</a:rPr>
              <a:t>지침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51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6102350" cy="274638"/>
          </a:xfrm>
        </p:spPr>
        <p:txBody>
          <a:bodyPr/>
          <a:lstStyle/>
          <a:p>
            <a:r>
              <a:rPr lang="ko-KR" altLang="en-US" dirty="0"/>
              <a:t>알고리즘 </a:t>
            </a:r>
            <a:r>
              <a:rPr lang="en-US" altLang="ko-KR" dirty="0" smtClean="0"/>
              <a:t>(4/7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4779312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프롬프트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14018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앙상블</a:t>
            </a:r>
            <a:endParaRPr lang="ko-KR" altLang="en-US" sz="1400" dirty="0"/>
          </a:p>
        </p:txBody>
      </p:sp>
      <p:sp>
        <p:nvSpPr>
          <p:cNvPr id="37" name="직사각형 36"/>
          <p:cNvSpPr/>
          <p:nvPr/>
        </p:nvSpPr>
        <p:spPr>
          <a:xfrm>
            <a:off x="341116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모델 아키텍처</a:t>
            </a:r>
          </a:p>
        </p:txBody>
      </p:sp>
      <p:sp>
        <p:nvSpPr>
          <p:cNvPr id="104" name="내용 개체 틀 5"/>
          <p:cNvSpPr txBox="1">
            <a:spLocks/>
          </p:cNvSpPr>
          <p:nvPr/>
        </p:nvSpPr>
        <p:spPr bwMode="auto">
          <a:xfrm>
            <a:off x="272480" y="764703"/>
            <a:ext cx="9360470" cy="67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11113" algn="l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Tahoma" pitchFamily="34" charset="0"/>
              <a:buNone/>
              <a:defRPr kumimoji="1" sz="1400" b="1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531813" indent="-2635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-2002" pitchFamily="18" charset="-127"/>
              <a:buAutoNum type="arabicParenR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803275" indent="-228600" algn="l" defTabSz="803275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-2002" pitchFamily="18" charset="-127"/>
              <a:buAutoNum type="circleNumDbPlain"/>
              <a:tabLst>
                <a:tab pos="1160463" algn="l"/>
              </a:tabLst>
              <a:defRPr kumimoji="1" sz="1200" b="1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0080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050">
                <a:solidFill>
                  <a:srgbClr val="7F7F7F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 정도 이외에 사고원인사전을 활용하여 사고 중요 키워드 제시</a:t>
            </a:r>
            <a:endParaRPr lang="en-US" altLang="ko-KR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304928" y="1628800"/>
            <a:ext cx="5278377" cy="4706382"/>
          </a:xfrm>
          <a:prstGeom prst="roundRect">
            <a:avLst>
              <a:gd name="adj" fmla="val 3350"/>
            </a:avLst>
          </a:prstGeom>
          <a:solidFill>
            <a:srgbClr val="21283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5DCD42-024E-4B89-B773-D648CA14C541}"/>
              </a:ext>
            </a:extLst>
          </p:cNvPr>
          <p:cNvSpPr/>
          <p:nvPr/>
        </p:nvSpPr>
        <p:spPr>
          <a:xfrm>
            <a:off x="652290" y="3495284"/>
            <a:ext cx="1893995" cy="6037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사고원인사전</a:t>
            </a:r>
            <a:endParaRPr lang="ko-KR" altLang="en-US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" name="사각형: 둥근 모서리 27">
            <a:extLst>
              <a:ext uri="{FF2B5EF4-FFF2-40B4-BE49-F238E27FC236}">
                <a16:creationId xmlns:a16="http://schemas.microsoft.com/office/drawing/2014/main" id="{2D65FC0F-CD60-495A-B82D-55002C497F7F}"/>
              </a:ext>
            </a:extLst>
          </p:cNvPr>
          <p:cNvSpPr/>
          <p:nvPr/>
        </p:nvSpPr>
        <p:spPr>
          <a:xfrm>
            <a:off x="344488" y="2492896"/>
            <a:ext cx="2463011" cy="2589486"/>
          </a:xfrm>
          <a:prstGeom prst="roundRect">
            <a:avLst>
              <a:gd name="adj" fmla="val 7386"/>
            </a:avLst>
          </a:prstGeom>
          <a:noFill/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DBE13D-AFF7-47F6-9F08-072300C90EE1}"/>
              </a:ext>
            </a:extLst>
          </p:cNvPr>
          <p:cNvSpPr txBox="1"/>
          <p:nvPr/>
        </p:nvSpPr>
        <p:spPr>
          <a:xfrm>
            <a:off x="3008784" y="2880806"/>
            <a:ext cx="1042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Context</a:t>
            </a:r>
            <a:endParaRPr lang="en-US" altLang="ko-KR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038202-07D9-4DBF-80AA-E92FE3C5BD6D}"/>
              </a:ext>
            </a:extLst>
          </p:cNvPr>
          <p:cNvSpPr/>
          <p:nvPr/>
        </p:nvSpPr>
        <p:spPr>
          <a:xfrm>
            <a:off x="652290" y="2732828"/>
            <a:ext cx="1893995" cy="6037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사고 정보 </a:t>
            </a:r>
            <a:endParaRPr lang="ko-KR" altLang="en-US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" name="왼쪽 화살표 18"/>
          <p:cNvSpPr/>
          <p:nvPr/>
        </p:nvSpPr>
        <p:spPr>
          <a:xfrm flipH="1">
            <a:off x="3211832" y="3291474"/>
            <a:ext cx="719628" cy="1377040"/>
          </a:xfrm>
          <a:prstGeom prst="leftArrow">
            <a:avLst>
              <a:gd name="adj1" fmla="val 67361"/>
              <a:gd name="adj2" fmla="val 20012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  <a:alpha val="50000"/>
                </a:schemeClr>
              </a:gs>
              <a:gs pos="50000">
                <a:schemeClr val="bg1">
                  <a:lumMod val="85000"/>
                  <a:shade val="67500"/>
                  <a:satMod val="115000"/>
                  <a:alpha val="31000"/>
                </a:schemeClr>
              </a:gs>
              <a:gs pos="100000">
                <a:schemeClr val="bg1">
                  <a:lumMod val="85000"/>
                  <a:shade val="100000"/>
                  <a:satMod val="115000"/>
                  <a:alpha val="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944" y="1772816"/>
            <a:ext cx="4176464" cy="43748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4562" y="3590919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</a:rPr>
              <a:t>사고 키워드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4664968" y="3789040"/>
            <a:ext cx="28083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35DCD42-024E-4B89-B773-D648CA14C541}"/>
              </a:ext>
            </a:extLst>
          </p:cNvPr>
          <p:cNvSpPr/>
          <p:nvPr/>
        </p:nvSpPr>
        <p:spPr>
          <a:xfrm>
            <a:off x="652290" y="4256142"/>
            <a:ext cx="1893995" cy="6037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중요 키워드</a:t>
            </a:r>
            <a:endParaRPr lang="ko-KR" altLang="en-US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451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6102350" cy="274638"/>
          </a:xfrm>
        </p:spPr>
        <p:txBody>
          <a:bodyPr/>
          <a:lstStyle/>
          <a:p>
            <a:r>
              <a:rPr lang="ko-KR" altLang="en-US" dirty="0"/>
              <a:t>알고리즘 </a:t>
            </a:r>
            <a:r>
              <a:rPr lang="en-US" altLang="ko-KR" dirty="0" smtClean="0"/>
              <a:t>(5/7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4779312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프롬프트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14018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앙상블</a:t>
            </a:r>
            <a:endParaRPr lang="ko-KR" altLang="en-US" sz="1400" dirty="0"/>
          </a:p>
        </p:txBody>
      </p:sp>
      <p:sp>
        <p:nvSpPr>
          <p:cNvPr id="37" name="직사각형 36"/>
          <p:cNvSpPr/>
          <p:nvPr/>
        </p:nvSpPr>
        <p:spPr>
          <a:xfrm>
            <a:off x="341116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모델 아키텍처</a:t>
            </a:r>
          </a:p>
        </p:txBody>
      </p:sp>
      <p:sp>
        <p:nvSpPr>
          <p:cNvPr id="104" name="내용 개체 틀 5"/>
          <p:cNvSpPr txBox="1">
            <a:spLocks/>
          </p:cNvSpPr>
          <p:nvPr/>
        </p:nvSpPr>
        <p:spPr bwMode="auto">
          <a:xfrm>
            <a:off x="272480" y="764703"/>
            <a:ext cx="9360470" cy="67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11113" algn="l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Tahoma" pitchFamily="34" charset="0"/>
              <a:buNone/>
              <a:defRPr kumimoji="1" sz="1400" b="1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531813" indent="-2635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-2002" pitchFamily="18" charset="-127"/>
              <a:buAutoNum type="arabicParenR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803275" indent="-228600" algn="l" defTabSz="803275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-2002" pitchFamily="18" charset="-127"/>
              <a:buAutoNum type="circleNumDbPlain"/>
              <a:tabLst>
                <a:tab pos="1160463" algn="l"/>
              </a:tabLst>
              <a:defRPr kumimoji="1" sz="1200" b="1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0080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050">
                <a:solidFill>
                  <a:srgbClr val="7F7F7F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사고원인 사전을 활용하여 사고를 유형화하고 유사도 점수가 가장 높은 유형별 표준 재발방지대책 추출 후 </a:t>
            </a:r>
            <a:r>
              <a:rPr lang="ko-KR" altLang="en-US" b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프롬프트 내 정보 제공   </a:t>
            </a:r>
            <a:endParaRPr lang="en-US" altLang="ko-KR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endParaRPr lang="en-US" altLang="ko-KR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4304928" y="1628800"/>
            <a:ext cx="5278377" cy="4706382"/>
          </a:xfrm>
          <a:prstGeom prst="roundRect">
            <a:avLst>
              <a:gd name="adj" fmla="val 3350"/>
            </a:avLst>
          </a:prstGeom>
          <a:solidFill>
            <a:srgbClr val="21283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35DCD42-024E-4B89-B773-D648CA14C541}"/>
              </a:ext>
            </a:extLst>
          </p:cNvPr>
          <p:cNvSpPr/>
          <p:nvPr/>
        </p:nvSpPr>
        <p:spPr>
          <a:xfrm>
            <a:off x="652290" y="3495284"/>
            <a:ext cx="1893995" cy="6037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카테고리별</a:t>
            </a:r>
            <a:r>
              <a:rPr lang="en-US" altLang="ko-KR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/>
            </a:r>
            <a:br>
              <a:rPr lang="en-US" altLang="ko-KR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1400" b="1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모범답변예시</a:t>
            </a:r>
            <a:r>
              <a:rPr lang="ko-KR" altLang="en-US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정적</a:t>
            </a:r>
            <a:r>
              <a:rPr lang="en-US" altLang="ko-KR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사각형: 둥근 모서리 27">
            <a:extLst>
              <a:ext uri="{FF2B5EF4-FFF2-40B4-BE49-F238E27FC236}">
                <a16:creationId xmlns:a16="http://schemas.microsoft.com/office/drawing/2014/main" id="{2D65FC0F-CD60-495A-B82D-55002C497F7F}"/>
              </a:ext>
            </a:extLst>
          </p:cNvPr>
          <p:cNvSpPr/>
          <p:nvPr/>
        </p:nvSpPr>
        <p:spPr>
          <a:xfrm>
            <a:off x="344488" y="2492896"/>
            <a:ext cx="2463011" cy="2589486"/>
          </a:xfrm>
          <a:prstGeom prst="roundRect">
            <a:avLst>
              <a:gd name="adj" fmla="val 7386"/>
            </a:avLst>
          </a:prstGeom>
          <a:noFill/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DBE13D-AFF7-47F6-9F08-072300C90EE1}"/>
              </a:ext>
            </a:extLst>
          </p:cNvPr>
          <p:cNvSpPr txBox="1"/>
          <p:nvPr/>
        </p:nvSpPr>
        <p:spPr>
          <a:xfrm>
            <a:off x="3008784" y="2880806"/>
            <a:ext cx="1042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Context</a:t>
            </a:r>
            <a:endParaRPr lang="en-US" altLang="ko-KR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2038202-07D9-4DBF-80AA-E92FE3C5BD6D}"/>
              </a:ext>
            </a:extLst>
          </p:cNvPr>
          <p:cNvSpPr/>
          <p:nvPr/>
        </p:nvSpPr>
        <p:spPr>
          <a:xfrm>
            <a:off x="652290" y="2732828"/>
            <a:ext cx="1893995" cy="6037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표준 재발방지대책</a:t>
            </a:r>
            <a:endParaRPr lang="ko-KR" altLang="en-US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" name="왼쪽 화살표 17"/>
          <p:cNvSpPr/>
          <p:nvPr/>
        </p:nvSpPr>
        <p:spPr>
          <a:xfrm flipH="1">
            <a:off x="3211832" y="3291474"/>
            <a:ext cx="719628" cy="1377040"/>
          </a:xfrm>
          <a:prstGeom prst="leftArrow">
            <a:avLst>
              <a:gd name="adj1" fmla="val 67361"/>
              <a:gd name="adj2" fmla="val 20012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  <a:alpha val="50000"/>
                </a:schemeClr>
              </a:gs>
              <a:gs pos="50000">
                <a:schemeClr val="bg1">
                  <a:lumMod val="85000"/>
                  <a:shade val="67500"/>
                  <a:satMod val="115000"/>
                  <a:alpha val="31000"/>
                </a:schemeClr>
              </a:gs>
              <a:gs pos="100000">
                <a:schemeClr val="bg1">
                  <a:lumMod val="85000"/>
                  <a:shade val="100000"/>
                  <a:satMod val="115000"/>
                  <a:alpha val="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29823" b="44732"/>
          <a:stretch/>
        </p:blipFill>
        <p:spPr>
          <a:xfrm>
            <a:off x="4409412" y="1700808"/>
            <a:ext cx="5080092" cy="201622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337" y="3645024"/>
            <a:ext cx="2904833" cy="2592288"/>
          </a:xfrm>
          <a:prstGeom prst="rect">
            <a:avLst/>
          </a:prstGeom>
        </p:spPr>
      </p:pic>
      <p:cxnSp>
        <p:nvCxnSpPr>
          <p:cNvPr id="21" name="직선 연결선 20"/>
          <p:cNvCxnSpPr/>
          <p:nvPr/>
        </p:nvCxnSpPr>
        <p:spPr>
          <a:xfrm>
            <a:off x="4592960" y="2636912"/>
            <a:ext cx="151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98845" y="2524254"/>
            <a:ext cx="2143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</a:rPr>
              <a:t>표준 재발방지대책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35DCD42-024E-4B89-B773-D648CA14C541}"/>
              </a:ext>
            </a:extLst>
          </p:cNvPr>
          <p:cNvSpPr/>
          <p:nvPr/>
        </p:nvSpPr>
        <p:spPr>
          <a:xfrm>
            <a:off x="652289" y="4295307"/>
            <a:ext cx="1893995" cy="6037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사고원인사전</a:t>
            </a:r>
            <a:endParaRPr lang="ko-KR" altLang="en-US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242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4"/>
          <p:cNvSpPr>
            <a:spLocks noGrp="1"/>
          </p:cNvSpPr>
          <p:nvPr>
            <p:ph type="title"/>
          </p:nvPr>
        </p:nvSpPr>
        <p:spPr>
          <a:xfrm>
            <a:off x="279400" y="377825"/>
            <a:ext cx="6102350" cy="274638"/>
          </a:xfrm>
        </p:spPr>
        <p:txBody>
          <a:bodyPr/>
          <a:lstStyle/>
          <a:p>
            <a:r>
              <a:rPr lang="ko-KR" altLang="en-US" dirty="0"/>
              <a:t>알고리즘 </a:t>
            </a:r>
            <a:r>
              <a:rPr lang="en-US" altLang="ko-KR" dirty="0" smtClean="0"/>
              <a:t>(6/7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4779312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프롬프트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14018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앙상블</a:t>
            </a:r>
            <a:endParaRPr lang="ko-KR" altLang="en-US" sz="1400" dirty="0"/>
          </a:p>
        </p:txBody>
      </p:sp>
      <p:sp>
        <p:nvSpPr>
          <p:cNvPr id="37" name="직사각형 36"/>
          <p:cNvSpPr/>
          <p:nvPr/>
        </p:nvSpPr>
        <p:spPr>
          <a:xfrm>
            <a:off x="341116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모델 아키텍처</a:t>
            </a:r>
          </a:p>
        </p:txBody>
      </p:sp>
      <p:sp>
        <p:nvSpPr>
          <p:cNvPr id="104" name="내용 개체 틀 5"/>
          <p:cNvSpPr txBox="1">
            <a:spLocks/>
          </p:cNvSpPr>
          <p:nvPr/>
        </p:nvSpPr>
        <p:spPr bwMode="auto">
          <a:xfrm>
            <a:off x="272480" y="764703"/>
            <a:ext cx="9360470" cy="67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11113" algn="l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Tahoma" pitchFamily="34" charset="0"/>
              <a:buNone/>
              <a:defRPr kumimoji="1" sz="1400" b="1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531813" indent="-2635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-2002" pitchFamily="18" charset="-127"/>
              <a:buAutoNum type="arabicParenR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803275" indent="-228600" algn="l" defTabSz="803275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-2002" pitchFamily="18" charset="-127"/>
              <a:buAutoNum type="circleNumDbPlain"/>
              <a:tabLst>
                <a:tab pos="1160463" algn="l"/>
              </a:tabLst>
              <a:defRPr kumimoji="1" sz="1200" b="1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0080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050">
                <a:solidFill>
                  <a:srgbClr val="7F7F7F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유사도 기반 사고 유형별 </a:t>
            </a:r>
            <a:r>
              <a:rPr lang="ko-KR" altLang="en-US" b="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모범답변</a:t>
            </a:r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TOP5</a:t>
            </a:r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를 추출하고 이중 정성평가를 진행하여 </a:t>
            </a:r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 유형별 모범답안 선정 후 프롬프트 내 정보 제공  </a:t>
            </a:r>
            <a:r>
              <a:rPr lang="ko-KR" altLang="en-US" b="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b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4304928" y="1628800"/>
            <a:ext cx="5278377" cy="4706382"/>
          </a:xfrm>
          <a:prstGeom prst="roundRect">
            <a:avLst>
              <a:gd name="adj" fmla="val 3350"/>
            </a:avLst>
          </a:prstGeom>
          <a:solidFill>
            <a:srgbClr val="21283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35DCD42-024E-4B89-B773-D648CA14C541}"/>
              </a:ext>
            </a:extLst>
          </p:cNvPr>
          <p:cNvSpPr/>
          <p:nvPr/>
        </p:nvSpPr>
        <p:spPr>
          <a:xfrm>
            <a:off x="652290" y="3495284"/>
            <a:ext cx="1893995" cy="6037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카테고리별</a:t>
            </a:r>
            <a:r>
              <a:rPr lang="en-US" altLang="ko-KR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/>
            </a:r>
            <a:br>
              <a:rPr lang="en-US" altLang="ko-KR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모범답변예시 </a:t>
            </a:r>
            <a:r>
              <a:rPr lang="en-US" altLang="ko-KR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동적</a:t>
            </a:r>
            <a:r>
              <a:rPr lang="en-US" altLang="ko-KR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사각형: 둥근 모서리 27">
            <a:extLst>
              <a:ext uri="{FF2B5EF4-FFF2-40B4-BE49-F238E27FC236}">
                <a16:creationId xmlns:a16="http://schemas.microsoft.com/office/drawing/2014/main" id="{2D65FC0F-CD60-495A-B82D-55002C497F7F}"/>
              </a:ext>
            </a:extLst>
          </p:cNvPr>
          <p:cNvSpPr/>
          <p:nvPr/>
        </p:nvSpPr>
        <p:spPr>
          <a:xfrm>
            <a:off x="344488" y="2492896"/>
            <a:ext cx="2463011" cy="2589486"/>
          </a:xfrm>
          <a:prstGeom prst="roundRect">
            <a:avLst>
              <a:gd name="adj" fmla="val 7386"/>
            </a:avLst>
          </a:prstGeom>
          <a:noFill/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DBE13D-AFF7-47F6-9F08-072300C90EE1}"/>
              </a:ext>
            </a:extLst>
          </p:cNvPr>
          <p:cNvSpPr txBox="1"/>
          <p:nvPr/>
        </p:nvSpPr>
        <p:spPr>
          <a:xfrm>
            <a:off x="3008784" y="2880806"/>
            <a:ext cx="1042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Context</a:t>
            </a:r>
            <a:endParaRPr lang="en-US" altLang="ko-KR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2038202-07D9-4DBF-80AA-E92FE3C5BD6D}"/>
              </a:ext>
            </a:extLst>
          </p:cNvPr>
          <p:cNvSpPr/>
          <p:nvPr/>
        </p:nvSpPr>
        <p:spPr>
          <a:xfrm>
            <a:off x="652290" y="2732828"/>
            <a:ext cx="1893995" cy="6037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사고유형별 </a:t>
            </a:r>
            <a:endParaRPr lang="en-US" altLang="ko-KR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모범답변예시</a:t>
            </a:r>
            <a:endParaRPr lang="ko-KR" altLang="en-US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" name="왼쪽 화살표 17"/>
          <p:cNvSpPr/>
          <p:nvPr/>
        </p:nvSpPr>
        <p:spPr>
          <a:xfrm flipH="1">
            <a:off x="3211832" y="3291474"/>
            <a:ext cx="719628" cy="1377040"/>
          </a:xfrm>
          <a:prstGeom prst="leftArrow">
            <a:avLst>
              <a:gd name="adj1" fmla="val 67361"/>
              <a:gd name="adj2" fmla="val 20012"/>
            </a:avLst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  <a:alpha val="50000"/>
                </a:schemeClr>
              </a:gs>
              <a:gs pos="50000">
                <a:schemeClr val="bg1">
                  <a:lumMod val="85000"/>
                  <a:shade val="67500"/>
                  <a:satMod val="115000"/>
                  <a:alpha val="31000"/>
                </a:schemeClr>
              </a:gs>
              <a:gs pos="100000">
                <a:schemeClr val="bg1">
                  <a:lumMod val="85000"/>
                  <a:shade val="100000"/>
                  <a:satMod val="115000"/>
                  <a:alpha val="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1" r="31567"/>
          <a:stretch/>
        </p:blipFill>
        <p:spPr>
          <a:xfrm>
            <a:off x="4496328" y="1794098"/>
            <a:ext cx="4921168" cy="3867150"/>
          </a:xfrm>
          <a:prstGeom prst="rect">
            <a:avLst/>
          </a:prstGeom>
        </p:spPr>
      </p:pic>
      <p:cxnSp>
        <p:nvCxnSpPr>
          <p:cNvPr id="20" name="직선 연결선 19"/>
          <p:cNvCxnSpPr/>
          <p:nvPr/>
        </p:nvCxnSpPr>
        <p:spPr>
          <a:xfrm>
            <a:off x="4824201" y="2166764"/>
            <a:ext cx="151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59624" y="1965666"/>
            <a:ext cx="191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</a:rPr>
              <a:t>사고 유형별 답변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35DCD42-024E-4B89-B773-D648CA14C541}"/>
              </a:ext>
            </a:extLst>
          </p:cNvPr>
          <p:cNvSpPr/>
          <p:nvPr/>
        </p:nvSpPr>
        <p:spPr>
          <a:xfrm>
            <a:off x="652289" y="4295307"/>
            <a:ext cx="1893995" cy="6037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사고원인사전</a:t>
            </a:r>
            <a:endParaRPr lang="ko-KR" altLang="en-US" sz="1400" b="1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587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 </a:t>
            </a:r>
            <a:r>
              <a:rPr lang="en-US" altLang="ko-KR" dirty="0" smtClean="0"/>
              <a:t>(7/7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779312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프롬프트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140183" y="198165"/>
            <a:ext cx="1333097" cy="51041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앙상블</a:t>
            </a:r>
            <a:endParaRPr lang="ko-KR" altLang="en-US" sz="1400" dirty="0"/>
          </a:p>
        </p:txBody>
      </p:sp>
      <p:sp>
        <p:nvSpPr>
          <p:cNvPr id="11" name="직사각형 10"/>
          <p:cNvSpPr/>
          <p:nvPr/>
        </p:nvSpPr>
        <p:spPr>
          <a:xfrm>
            <a:off x="3411163" y="198165"/>
            <a:ext cx="1333097" cy="510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모델 아키텍처</a:t>
            </a:r>
          </a:p>
        </p:txBody>
      </p:sp>
      <p:sp>
        <p:nvSpPr>
          <p:cNvPr id="25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679513"/>
          </a:xfrm>
        </p:spPr>
        <p:txBody>
          <a:bodyPr/>
          <a:lstStyle/>
          <a:p>
            <a:r>
              <a:rPr lang="ko-KR" altLang="en-US" b="0" dirty="0" smtClean="0"/>
              <a:t>상관관계가 낮고 </a:t>
            </a:r>
            <a:r>
              <a:rPr lang="en-US" altLang="ko-KR" b="0" dirty="0" smtClean="0"/>
              <a:t>valid </a:t>
            </a:r>
            <a:r>
              <a:rPr lang="ko-KR" altLang="en-US" b="0" dirty="0" smtClean="0"/>
              <a:t>점수가 높음 </a:t>
            </a:r>
            <a:r>
              <a:rPr lang="en-US" altLang="ko-KR" b="0" dirty="0" smtClean="0"/>
              <a:t>4</a:t>
            </a:r>
            <a:r>
              <a:rPr lang="ko-KR" altLang="en-US" b="0" dirty="0" smtClean="0"/>
              <a:t>개 모델 선별 후 앙상블 모델 개발 후 최종 모델로 제출 </a:t>
            </a:r>
            <a:endParaRPr lang="en-US" altLang="ko-KR" b="0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7878546" y="3243196"/>
            <a:ext cx="1394934" cy="1384995"/>
          </a:xfrm>
          <a:prstGeom prst="rect">
            <a:avLst/>
          </a:prstGeom>
          <a:solidFill>
            <a:srgbClr val="FFCCCC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// </a:t>
            </a: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로컬 스코어 </a:t>
            </a:r>
            <a:endParaRPr lang="en-US" altLang="ko-KR" sz="14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Valid : 0.699</a:t>
            </a:r>
          </a:p>
          <a:p>
            <a:endParaRPr lang="en-US" altLang="ko-KR" sz="14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// </a:t>
            </a: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리더보드 </a:t>
            </a:r>
            <a:endParaRPr lang="en-US" altLang="ko-KR" sz="14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Public : 0.518</a:t>
            </a:r>
          </a:p>
          <a:p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private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0.517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82" y="2032273"/>
            <a:ext cx="539845" cy="66644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82" y="3424428"/>
            <a:ext cx="518812" cy="6401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60" y="4827978"/>
            <a:ext cx="532834" cy="64014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8" name="Picture 8" descr="http://db.cse.ohio-state.edu/images/db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97627" y="4750290"/>
            <a:ext cx="574015" cy="795517"/>
          </a:xfrm>
          <a:prstGeom prst="rect">
            <a:avLst/>
          </a:prstGeom>
          <a:noFill/>
        </p:spPr>
      </p:pic>
      <p:pic>
        <p:nvPicPr>
          <p:cNvPr id="29" name="Picture 8" descr="http://db.cse.ohio-state.edu/images/db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97627" y="3424428"/>
            <a:ext cx="574015" cy="795517"/>
          </a:xfrm>
          <a:prstGeom prst="rect">
            <a:avLst/>
          </a:prstGeom>
          <a:noFill/>
        </p:spPr>
      </p:pic>
      <p:pic>
        <p:nvPicPr>
          <p:cNvPr id="30" name="Picture 8" descr="http://db.cse.ohio-state.edu/images/db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97627" y="2032273"/>
            <a:ext cx="574015" cy="795517"/>
          </a:xfrm>
          <a:prstGeom prst="rect">
            <a:avLst/>
          </a:prstGeom>
          <a:noFill/>
        </p:spPr>
      </p:pic>
      <p:cxnSp>
        <p:nvCxnSpPr>
          <p:cNvPr id="31" name="직선 화살표 연결선 30"/>
          <p:cNvCxnSpPr>
            <a:stCxn id="24" idx="3"/>
          </p:cNvCxnSpPr>
          <p:nvPr/>
        </p:nvCxnSpPr>
        <p:spPr>
          <a:xfrm flipV="1">
            <a:off x="1277427" y="2363739"/>
            <a:ext cx="361193" cy="1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flipV="1">
            <a:off x="1277427" y="3741175"/>
            <a:ext cx="361193" cy="1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V="1">
            <a:off x="1277427" y="5146290"/>
            <a:ext cx="361193" cy="1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2924384" y="2098566"/>
            <a:ext cx="781324" cy="465463"/>
          </a:xfrm>
          <a:prstGeom prst="rect">
            <a:avLst/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프롬프트</a:t>
            </a:r>
            <a:r>
              <a:rPr lang="en-US" altLang="ko-KR" sz="1000" dirty="0" smtClean="0"/>
              <a:t>1</a:t>
            </a:r>
            <a:endParaRPr lang="ko-KR" altLang="en-US" sz="1000" dirty="0"/>
          </a:p>
        </p:txBody>
      </p:sp>
      <p:sp>
        <p:nvSpPr>
          <p:cNvPr id="35" name="직사각형 34"/>
          <p:cNvSpPr/>
          <p:nvPr/>
        </p:nvSpPr>
        <p:spPr>
          <a:xfrm>
            <a:off x="2924384" y="2657002"/>
            <a:ext cx="781324" cy="46546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프롬프트</a:t>
            </a:r>
            <a:r>
              <a:rPr lang="en-US" altLang="ko-KR" sz="1000" dirty="0" smtClean="0"/>
              <a:t>2</a:t>
            </a:r>
            <a:endParaRPr lang="ko-KR" altLang="en-US" sz="1000" dirty="0"/>
          </a:p>
        </p:txBody>
      </p:sp>
      <p:sp>
        <p:nvSpPr>
          <p:cNvPr id="36" name="직사각형 35"/>
          <p:cNvSpPr/>
          <p:nvPr/>
        </p:nvSpPr>
        <p:spPr>
          <a:xfrm>
            <a:off x="2924384" y="3243196"/>
            <a:ext cx="781324" cy="465463"/>
          </a:xfrm>
          <a:prstGeom prst="rect">
            <a:avLst/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프롬프트</a:t>
            </a:r>
            <a:r>
              <a:rPr lang="en-US" altLang="ko-KR" sz="1000" dirty="0" smtClean="0"/>
              <a:t>3</a:t>
            </a:r>
            <a:endParaRPr lang="ko-KR" altLang="en-US" sz="1000" dirty="0"/>
          </a:p>
        </p:txBody>
      </p:sp>
      <p:sp>
        <p:nvSpPr>
          <p:cNvPr id="37" name="직사각형 36"/>
          <p:cNvSpPr/>
          <p:nvPr/>
        </p:nvSpPr>
        <p:spPr>
          <a:xfrm>
            <a:off x="2924384" y="3848801"/>
            <a:ext cx="781324" cy="46546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프롬프트</a:t>
            </a:r>
            <a:r>
              <a:rPr lang="en-US" altLang="ko-KR" sz="1000" dirty="0" smtClean="0"/>
              <a:t>4</a:t>
            </a:r>
            <a:endParaRPr lang="ko-KR" altLang="en-US" sz="1000" dirty="0"/>
          </a:p>
        </p:txBody>
      </p:sp>
      <p:sp>
        <p:nvSpPr>
          <p:cNvPr id="38" name="직사각형 37"/>
          <p:cNvSpPr/>
          <p:nvPr/>
        </p:nvSpPr>
        <p:spPr>
          <a:xfrm>
            <a:off x="2924384" y="4454406"/>
            <a:ext cx="781324" cy="46546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프롬프트</a:t>
            </a:r>
            <a:r>
              <a:rPr lang="en-US" altLang="ko-KR" sz="1000" dirty="0" smtClean="0"/>
              <a:t>5</a:t>
            </a:r>
            <a:endParaRPr lang="ko-KR" altLang="en-US" sz="1000" dirty="0"/>
          </a:p>
        </p:txBody>
      </p:sp>
      <p:sp>
        <p:nvSpPr>
          <p:cNvPr id="39" name="직사각형 38"/>
          <p:cNvSpPr/>
          <p:nvPr/>
        </p:nvSpPr>
        <p:spPr>
          <a:xfrm>
            <a:off x="2924384" y="5033338"/>
            <a:ext cx="781324" cy="46546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/>
              <a:t>프롬프트</a:t>
            </a:r>
            <a:r>
              <a:rPr lang="en-US" altLang="ko-KR" sz="1000" dirty="0" smtClean="0"/>
              <a:t>6</a:t>
            </a:r>
            <a:endParaRPr lang="ko-KR" altLang="en-US" sz="1000" dirty="0"/>
          </a:p>
        </p:txBody>
      </p:sp>
      <p:cxnSp>
        <p:nvCxnSpPr>
          <p:cNvPr id="40" name="직선 화살표 연결선 39"/>
          <p:cNvCxnSpPr>
            <a:stCxn id="30" idx="3"/>
          </p:cNvCxnSpPr>
          <p:nvPr/>
        </p:nvCxnSpPr>
        <p:spPr>
          <a:xfrm>
            <a:off x="2371641" y="2430032"/>
            <a:ext cx="4111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2371641" y="5146290"/>
            <a:ext cx="4111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>
            <a:off x="2371641" y="3775406"/>
            <a:ext cx="4111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모서리가 둥근 직사각형 42"/>
          <p:cNvSpPr/>
          <p:nvPr/>
        </p:nvSpPr>
        <p:spPr>
          <a:xfrm>
            <a:off x="4304642" y="1556792"/>
            <a:ext cx="1892171" cy="59663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pred_model1_qwen2.5-14B-1m_score=0.68467.csv</a:t>
            </a:r>
            <a:endParaRPr lang="ko-KR" altLang="en-US" sz="1000" dirty="0"/>
          </a:p>
        </p:txBody>
      </p:sp>
      <p:sp>
        <p:nvSpPr>
          <p:cNvPr id="44" name="모서리가 둥근 직사각형 43"/>
          <p:cNvSpPr/>
          <p:nvPr/>
        </p:nvSpPr>
        <p:spPr>
          <a:xfrm>
            <a:off x="4304642" y="3120394"/>
            <a:ext cx="1892171" cy="59663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pred_model2_qwen2.5-14B-1m_score=0.67723.csv</a:t>
            </a:r>
            <a:endParaRPr lang="ko-KR" altLang="en-US" sz="1000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4304642" y="3984490"/>
            <a:ext cx="1892171" cy="59663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pred_model3_qwen2.5-14B_score=0.67258.csv</a:t>
            </a:r>
            <a:endParaRPr lang="ko-KR" altLang="en-US" sz="1000" dirty="0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4304642" y="5517232"/>
            <a:ext cx="1892171" cy="59663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pred_model4_qwen2.5-32B_score=0.66257.csv</a:t>
            </a:r>
            <a:endParaRPr lang="ko-KR" altLang="en-US" sz="1000" dirty="0"/>
          </a:p>
        </p:txBody>
      </p:sp>
      <p:cxnSp>
        <p:nvCxnSpPr>
          <p:cNvPr id="47" name="직선 화살표 연결선 46"/>
          <p:cNvCxnSpPr>
            <a:stCxn id="43" idx="3"/>
          </p:cNvCxnSpPr>
          <p:nvPr/>
        </p:nvCxnSpPr>
        <p:spPr>
          <a:xfrm>
            <a:off x="6196813" y="1855111"/>
            <a:ext cx="265012" cy="1962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46" idx="3"/>
          </p:cNvCxnSpPr>
          <p:nvPr/>
        </p:nvCxnSpPr>
        <p:spPr>
          <a:xfrm flipV="1">
            <a:off x="6196813" y="3817985"/>
            <a:ext cx="265012" cy="1997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44" idx="3"/>
          </p:cNvCxnSpPr>
          <p:nvPr/>
        </p:nvCxnSpPr>
        <p:spPr>
          <a:xfrm>
            <a:off x="6196813" y="3418713"/>
            <a:ext cx="265012" cy="399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stCxn id="45" idx="3"/>
          </p:cNvCxnSpPr>
          <p:nvPr/>
        </p:nvCxnSpPr>
        <p:spPr>
          <a:xfrm flipV="1">
            <a:off x="6196813" y="3817985"/>
            <a:ext cx="265012" cy="464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stCxn id="35" idx="3"/>
            <a:endCxn id="43" idx="1"/>
          </p:cNvCxnSpPr>
          <p:nvPr/>
        </p:nvCxnSpPr>
        <p:spPr>
          <a:xfrm flipV="1">
            <a:off x="3705708" y="1855111"/>
            <a:ext cx="598934" cy="1034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37" idx="3"/>
            <a:endCxn id="44" idx="1"/>
          </p:cNvCxnSpPr>
          <p:nvPr/>
        </p:nvCxnSpPr>
        <p:spPr>
          <a:xfrm flipV="1">
            <a:off x="3705708" y="3418713"/>
            <a:ext cx="598934" cy="662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38" idx="3"/>
            <a:endCxn id="46" idx="1"/>
          </p:cNvCxnSpPr>
          <p:nvPr/>
        </p:nvCxnSpPr>
        <p:spPr>
          <a:xfrm>
            <a:off x="3705708" y="4687138"/>
            <a:ext cx="598934" cy="1128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stCxn id="39" idx="3"/>
            <a:endCxn id="45" idx="1"/>
          </p:cNvCxnSpPr>
          <p:nvPr/>
        </p:nvCxnSpPr>
        <p:spPr>
          <a:xfrm flipV="1">
            <a:off x="3705708" y="4282809"/>
            <a:ext cx="598934" cy="983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768702" y="1715109"/>
            <a:ext cx="6072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전처리</a:t>
            </a:r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768702" y="3141078"/>
            <a:ext cx="6072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전처리</a:t>
            </a:r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768702" y="4454406"/>
            <a:ext cx="6072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전처리</a:t>
            </a:r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4304642" y="2348880"/>
            <a:ext cx="1892171" cy="59663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/>
          </a:p>
        </p:txBody>
      </p:sp>
      <p:sp>
        <p:nvSpPr>
          <p:cNvPr id="59" name="모서리가 둥근 직사각형 58"/>
          <p:cNvSpPr/>
          <p:nvPr/>
        </p:nvSpPr>
        <p:spPr>
          <a:xfrm>
            <a:off x="4304642" y="4776578"/>
            <a:ext cx="1892171" cy="59663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/>
          </a:p>
        </p:txBody>
      </p:sp>
      <p:grpSp>
        <p:nvGrpSpPr>
          <p:cNvPr id="60" name="그룹 59"/>
          <p:cNvGrpSpPr/>
          <p:nvPr/>
        </p:nvGrpSpPr>
        <p:grpSpPr>
          <a:xfrm>
            <a:off x="6461825" y="3425372"/>
            <a:ext cx="905521" cy="772656"/>
            <a:chOff x="3976474" y="2301428"/>
            <a:chExt cx="770246" cy="690129"/>
          </a:xfrm>
        </p:grpSpPr>
        <p:sp>
          <p:nvSpPr>
            <p:cNvPr id="61" name="정육면체 60"/>
            <p:cNvSpPr/>
            <p:nvPr/>
          </p:nvSpPr>
          <p:spPr>
            <a:xfrm>
              <a:off x="4056591" y="2301428"/>
              <a:ext cx="690129" cy="690129"/>
            </a:xfrm>
            <a:prstGeom prst="cube">
              <a:avLst/>
            </a:prstGeom>
            <a:solidFill>
              <a:schemeClr val="tx1"/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/>
            <p:cNvSpPr/>
            <p:nvPr/>
          </p:nvSpPr>
          <p:spPr bwMode="auto">
            <a:xfrm>
              <a:off x="3976474" y="2577582"/>
              <a:ext cx="673224" cy="272673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kern="0" spc="-150" dirty="0" err="1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최종모델</a:t>
              </a:r>
              <a:endParaRPr kumimoji="0" lang="ko-KR" altLang="en-US" sz="1200" b="1" kern="0" spc="-15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63" name="직선 화살표 연결선 62"/>
          <p:cNvCxnSpPr/>
          <p:nvPr/>
        </p:nvCxnSpPr>
        <p:spPr>
          <a:xfrm>
            <a:off x="7181275" y="3861048"/>
            <a:ext cx="4741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05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3811623" y="3302631"/>
            <a:ext cx="3517641" cy="342393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indent="-400050">
              <a:buAutoNum type="romanUcPeriod"/>
            </a:pPr>
            <a:r>
              <a:rPr lang="ko-KR" altLang="en-US" sz="1600" dirty="0"/>
              <a:t>모델 검증 방법 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/>
              <a:t>데이터 활용 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/>
              <a:t>알고리즘 </a:t>
            </a:r>
            <a:endParaRPr lang="en-US" altLang="ko-KR" sz="1600" dirty="0"/>
          </a:p>
          <a:p>
            <a:pPr marL="400050" indent="-400050">
              <a:buAutoNum type="romanUcPeriod"/>
            </a:pPr>
            <a:r>
              <a:rPr lang="ko-KR" altLang="en-US" sz="1600" dirty="0"/>
              <a:t>모델 </a:t>
            </a:r>
            <a:r>
              <a:rPr lang="ko-KR" altLang="en-US" sz="1600" dirty="0" err="1"/>
              <a:t>서빙</a:t>
            </a:r>
            <a:r>
              <a:rPr lang="ko-KR" altLang="en-US" sz="1600" dirty="0"/>
              <a:t> 프로세스 제안</a:t>
            </a:r>
            <a:endParaRPr lang="en-US" altLang="ko-KR" sz="1600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944888" y="1628800"/>
            <a:ext cx="4032448" cy="274638"/>
          </a:xfrm>
        </p:spPr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098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79360" y="378000"/>
            <a:ext cx="6102000" cy="27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ko-KR" altLang="ko-KR" dirty="0"/>
              <a:t>모델 </a:t>
            </a:r>
            <a:r>
              <a:rPr lang="ko-KR" altLang="ko-KR" dirty="0" err="1"/>
              <a:t>서빙</a:t>
            </a:r>
            <a:r>
              <a:rPr lang="ko-KR" altLang="ko-KR" dirty="0"/>
              <a:t> 프로세스 제안</a:t>
            </a:r>
            <a:r>
              <a:rPr lang="en-US" altLang="ko-KR" dirty="0"/>
              <a:t> </a:t>
            </a:r>
            <a:r>
              <a:rPr lang="en-US" altLang="ko-KR" dirty="0" smtClean="0"/>
              <a:t>(</a:t>
            </a:r>
            <a:r>
              <a:rPr lang="en-US" altLang="ko-KR" dirty="0" smtClean="0"/>
              <a:t>1/3)</a:t>
            </a:r>
            <a:endParaRPr lang="en-US" sz="2000" b="0" u="none" strike="noStrike" dirty="0">
              <a:solidFill>
                <a:schemeClr val="dk1"/>
              </a:solidFill>
              <a:uFillTx/>
              <a:latin typeface="나눔고딕" panose="020D0604000000000000" pitchFamily="50" charset="-127"/>
            </a:endParaRPr>
          </a:p>
        </p:txBody>
      </p:sp>
      <p:sp>
        <p:nvSpPr>
          <p:cNvPr id="80" name="내용 개체 틀 5"/>
          <p:cNvSpPr>
            <a:spLocks noGrp="1"/>
          </p:cNvSpPr>
          <p:nvPr>
            <p:ph idx="1"/>
          </p:nvPr>
        </p:nvSpPr>
        <p:spPr>
          <a:xfrm>
            <a:off x="452500" y="764703"/>
            <a:ext cx="7416824" cy="1013877"/>
          </a:xfrm>
        </p:spPr>
        <p:txBody>
          <a:bodyPr/>
          <a:lstStyle/>
          <a:p>
            <a:r>
              <a:rPr lang="ko-KR" altLang="en-US" b="0" dirty="0" smtClean="0"/>
              <a:t>  사용자는 사고 </a:t>
            </a:r>
            <a:r>
              <a:rPr lang="ko-KR" altLang="en-US" b="0" dirty="0" smtClean="0"/>
              <a:t>정보 입력 </a:t>
            </a:r>
            <a:r>
              <a:rPr lang="en-US" altLang="ko-KR" b="0" dirty="0"/>
              <a:t> </a:t>
            </a:r>
            <a:endParaRPr lang="en-US" altLang="ko-KR" b="0" dirty="0" smtClean="0"/>
          </a:p>
          <a:p>
            <a:r>
              <a:rPr lang="ko-KR" altLang="en-US" b="0" dirty="0" smtClean="0">
                <a:sym typeface="Wingdings" panose="05000000000000000000" pitchFamily="2" charset="2"/>
              </a:rPr>
              <a:t>  매일 </a:t>
            </a:r>
            <a:r>
              <a:rPr lang="ko-KR" altLang="en-US" b="0" dirty="0" smtClean="0">
                <a:sym typeface="Wingdings" panose="05000000000000000000" pitchFamily="2" charset="2"/>
              </a:rPr>
              <a:t>배치 스케줄로</a:t>
            </a:r>
            <a:r>
              <a:rPr lang="ko-KR" altLang="en-US" b="0" dirty="0" smtClean="0"/>
              <a:t> 사고유형별 재발방지대책 </a:t>
            </a:r>
            <a:r>
              <a:rPr lang="en-US" altLang="ko-KR" b="0" dirty="0" smtClean="0"/>
              <a:t>inference </a:t>
            </a:r>
            <a:r>
              <a:rPr lang="ko-KR" altLang="en-US" b="0" dirty="0" smtClean="0"/>
              <a:t>진행 후 결과 </a:t>
            </a:r>
            <a:r>
              <a:rPr lang="en-US" altLang="ko-KR" b="0" dirty="0" smtClean="0"/>
              <a:t>DB</a:t>
            </a:r>
            <a:r>
              <a:rPr lang="ko-KR" altLang="en-US" b="0" dirty="0" smtClean="0"/>
              <a:t>적재 </a:t>
            </a:r>
            <a:endParaRPr lang="en-US" altLang="ko-KR" b="0" dirty="0" smtClean="0"/>
          </a:p>
          <a:p>
            <a:r>
              <a:rPr lang="ko-KR" altLang="en-US" b="0" dirty="0" smtClean="0"/>
              <a:t>  최종 </a:t>
            </a:r>
            <a:r>
              <a:rPr lang="ko-KR" altLang="en-US" b="0" dirty="0" smtClean="0"/>
              <a:t>사용자는 결과</a:t>
            </a:r>
            <a:r>
              <a:rPr lang="en-US" altLang="ko-KR" b="0" dirty="0" smtClean="0"/>
              <a:t>DB</a:t>
            </a:r>
            <a:r>
              <a:rPr lang="ko-KR" altLang="en-US" b="0" dirty="0" smtClean="0"/>
              <a:t>에서 사고재발방지대책 결과 조회</a:t>
            </a:r>
            <a:r>
              <a:rPr lang="en-US" altLang="ko-KR" b="0" dirty="0"/>
              <a:t> </a:t>
            </a:r>
            <a:endParaRPr lang="en-US" altLang="ko-KR" b="0" dirty="0" smtClean="0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2216696" y="2133848"/>
            <a:ext cx="4841088" cy="4104456"/>
          </a:xfrm>
          <a:prstGeom prst="roundRect">
            <a:avLst>
              <a:gd name="adj" fmla="val 4997"/>
            </a:avLst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3" name="Picture 8" descr="http://db.cse.ohio-state.edu/images/d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252" y="2493888"/>
            <a:ext cx="779847" cy="86409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867772" y="1907540"/>
            <a:ext cx="16995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LLM </a:t>
            </a:r>
            <a:r>
              <a:rPr lang="ko-KR" altLang="en-US" dirty="0" smtClean="0"/>
              <a:t>분석 서버</a:t>
            </a:r>
            <a:endParaRPr lang="ko-KR" alt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8359447" y="197954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USERs</a:t>
            </a:r>
            <a:endParaRPr lang="ko-KR" altLang="en-US" dirty="0"/>
          </a:p>
        </p:txBody>
      </p:sp>
      <p:pic>
        <p:nvPicPr>
          <p:cNvPr id="4100" name="Picture 4" descr="서버 랙 - 무료 컴퓨터개 아이콘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460" y="3667224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모서리가 둥근 직사각형 84"/>
          <p:cNvSpPr/>
          <p:nvPr/>
        </p:nvSpPr>
        <p:spPr>
          <a:xfrm>
            <a:off x="510692" y="3806468"/>
            <a:ext cx="1372887" cy="5760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안전 지침서</a:t>
            </a:r>
            <a:endParaRPr lang="en-US" altLang="ko-KR" sz="14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수시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6" name="Picture 8" descr="http://db.cse.ohio-state.edu/images/d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252" y="3662452"/>
            <a:ext cx="779847" cy="864096"/>
          </a:xfrm>
          <a:prstGeom prst="rect">
            <a:avLst/>
          </a:prstGeom>
          <a:noFill/>
        </p:spPr>
      </p:pic>
      <p:cxnSp>
        <p:nvCxnSpPr>
          <p:cNvPr id="87" name="직선 화살표 연결선 86"/>
          <p:cNvCxnSpPr>
            <a:stCxn id="85" idx="3"/>
            <a:endCxn id="86" idx="1"/>
          </p:cNvCxnSpPr>
          <p:nvPr/>
        </p:nvCxnSpPr>
        <p:spPr>
          <a:xfrm>
            <a:off x="1883579" y="4094500"/>
            <a:ext cx="7836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Picture 8" descr="http://db.cse.ohio-state.edu/images/d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252" y="4870152"/>
            <a:ext cx="779847" cy="864096"/>
          </a:xfrm>
          <a:prstGeom prst="rect">
            <a:avLst/>
          </a:prstGeom>
          <a:noFill/>
        </p:spPr>
      </p:pic>
      <p:pic>
        <p:nvPicPr>
          <p:cNvPr id="93" name="Picture 8" descr="http://db.cse.ohio-state.edu/images/d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17897" y="3718024"/>
            <a:ext cx="779847" cy="864096"/>
          </a:xfrm>
          <a:prstGeom prst="rect">
            <a:avLst/>
          </a:prstGeom>
          <a:noFill/>
        </p:spPr>
      </p:pic>
      <p:cxnSp>
        <p:nvCxnSpPr>
          <p:cNvPr id="9" name="직선 화살표 연결선 8"/>
          <p:cNvCxnSpPr>
            <a:stCxn id="83" idx="3"/>
            <a:endCxn id="4100" idx="1"/>
          </p:cNvCxnSpPr>
          <p:nvPr/>
        </p:nvCxnSpPr>
        <p:spPr>
          <a:xfrm>
            <a:off x="3447099" y="2925936"/>
            <a:ext cx="529361" cy="1245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endCxn id="4100" idx="1"/>
          </p:cNvCxnSpPr>
          <p:nvPr/>
        </p:nvCxnSpPr>
        <p:spPr>
          <a:xfrm>
            <a:off x="3447099" y="4163965"/>
            <a:ext cx="529361" cy="7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4100" idx="3"/>
          </p:cNvCxnSpPr>
          <p:nvPr/>
        </p:nvCxnSpPr>
        <p:spPr>
          <a:xfrm>
            <a:off x="4984572" y="4171280"/>
            <a:ext cx="933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그림 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8163" y="2420888"/>
            <a:ext cx="854064" cy="8540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23552" y="3278022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결과</a:t>
            </a:r>
            <a:r>
              <a:rPr lang="en-US" altLang="ko-KR" dirty="0" smtClean="0"/>
              <a:t>DB</a:t>
            </a:r>
            <a:endParaRPr lang="ko-KR" altLang="en-US" dirty="0"/>
          </a:p>
        </p:txBody>
      </p:sp>
      <p:sp>
        <p:nvSpPr>
          <p:cNvPr id="96" name="모서리가 둥근 직사각형 95"/>
          <p:cNvSpPr/>
          <p:nvPr/>
        </p:nvSpPr>
        <p:spPr>
          <a:xfrm>
            <a:off x="3929852" y="4942160"/>
            <a:ext cx="1048365" cy="339164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  <a:latin typeface="+mn-ea"/>
              </a:rPr>
              <a:t>오차 분석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0" name="꺾인 연결선 39"/>
          <p:cNvCxnSpPr>
            <a:stCxn id="96" idx="2"/>
            <a:endCxn id="89" idx="2"/>
          </p:cNvCxnSpPr>
          <p:nvPr/>
        </p:nvCxnSpPr>
        <p:spPr>
          <a:xfrm rot="5400000">
            <a:off x="3529144" y="4809357"/>
            <a:ext cx="452924" cy="1396859"/>
          </a:xfrm>
          <a:prstGeom prst="bentConnector3">
            <a:avLst>
              <a:gd name="adj1" fmla="val 1588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모서리가 둥근 직사각형 100"/>
          <p:cNvSpPr/>
          <p:nvPr/>
        </p:nvSpPr>
        <p:spPr>
          <a:xfrm>
            <a:off x="5041560" y="3806468"/>
            <a:ext cx="806991" cy="344942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  <a:latin typeface="+mn-ea"/>
              </a:rPr>
              <a:t>일배치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3867244" y="3244914"/>
            <a:ext cx="11900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서버 사양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A100 VRAM 40G </a:t>
            </a:r>
          </a:p>
        </p:txBody>
      </p:sp>
      <p:cxnSp>
        <p:nvCxnSpPr>
          <p:cNvPr id="104" name="직선 화살표 연결선 103"/>
          <p:cNvCxnSpPr/>
          <p:nvPr/>
        </p:nvCxnSpPr>
        <p:spPr>
          <a:xfrm flipH="1">
            <a:off x="3596751" y="2925936"/>
            <a:ext cx="48114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93" idx="3"/>
            <a:endCxn id="94" idx="2"/>
          </p:cNvCxnSpPr>
          <p:nvPr/>
        </p:nvCxnSpPr>
        <p:spPr>
          <a:xfrm flipV="1">
            <a:off x="6697744" y="3274952"/>
            <a:ext cx="2137451" cy="8751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307295" y="4005064"/>
            <a:ext cx="90762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결과 조회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282986" y="2766920"/>
            <a:ext cx="90762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사고 입력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282986" y="2493888"/>
            <a:ext cx="216024" cy="215032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1</a:t>
            </a:r>
            <a:endParaRPr lang="ko-KR" altLang="en-US" sz="1200" dirty="0"/>
          </a:p>
        </p:txBody>
      </p:sp>
      <p:sp>
        <p:nvSpPr>
          <p:cNvPr id="31" name="직사각형 30"/>
          <p:cNvSpPr/>
          <p:nvPr/>
        </p:nvSpPr>
        <p:spPr>
          <a:xfrm>
            <a:off x="3643246" y="3482151"/>
            <a:ext cx="216024" cy="215032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2</a:t>
            </a:r>
            <a:endParaRPr lang="ko-KR" altLang="en-US" sz="1200" dirty="0"/>
          </a:p>
        </p:txBody>
      </p:sp>
      <p:sp>
        <p:nvSpPr>
          <p:cNvPr id="32" name="직사각형 31"/>
          <p:cNvSpPr/>
          <p:nvPr/>
        </p:nvSpPr>
        <p:spPr>
          <a:xfrm>
            <a:off x="7298511" y="3734779"/>
            <a:ext cx="216024" cy="215032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3</a:t>
            </a:r>
            <a:endParaRPr lang="ko-KR" altLang="en-US" sz="1200" dirty="0"/>
          </a:p>
        </p:txBody>
      </p:sp>
      <p:sp>
        <p:nvSpPr>
          <p:cNvPr id="36" name="직사각형 35"/>
          <p:cNvSpPr/>
          <p:nvPr/>
        </p:nvSpPr>
        <p:spPr>
          <a:xfrm>
            <a:off x="344488" y="836712"/>
            <a:ext cx="216024" cy="215032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1</a:t>
            </a:r>
            <a:endParaRPr lang="ko-KR" altLang="en-US" sz="1200" dirty="0"/>
          </a:p>
        </p:txBody>
      </p:sp>
      <p:sp>
        <p:nvSpPr>
          <p:cNvPr id="37" name="직사각형 36"/>
          <p:cNvSpPr/>
          <p:nvPr/>
        </p:nvSpPr>
        <p:spPr>
          <a:xfrm>
            <a:off x="344488" y="1123753"/>
            <a:ext cx="216024" cy="215032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2</a:t>
            </a:r>
            <a:endParaRPr lang="ko-KR" altLang="en-US" sz="1200" dirty="0"/>
          </a:p>
        </p:txBody>
      </p:sp>
      <p:sp>
        <p:nvSpPr>
          <p:cNvPr id="39" name="직사각형 38"/>
          <p:cNvSpPr/>
          <p:nvPr/>
        </p:nvSpPr>
        <p:spPr>
          <a:xfrm>
            <a:off x="344488" y="1410794"/>
            <a:ext cx="216024" cy="215032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3</a:t>
            </a:r>
            <a:endParaRPr lang="ko-KR" altLang="en-US" sz="1200" dirty="0"/>
          </a:p>
        </p:txBody>
      </p:sp>
      <p:cxnSp>
        <p:nvCxnSpPr>
          <p:cNvPr id="6" name="직선 연결선 5"/>
          <p:cNvCxnSpPr>
            <a:endCxn id="96" idx="0"/>
          </p:cNvCxnSpPr>
          <p:nvPr/>
        </p:nvCxnSpPr>
        <p:spPr>
          <a:xfrm flipH="1">
            <a:off x="4454035" y="4675336"/>
            <a:ext cx="1" cy="266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모서리가 둥근 직사각형 41"/>
          <p:cNvSpPr/>
          <p:nvPr/>
        </p:nvSpPr>
        <p:spPr>
          <a:xfrm>
            <a:off x="2521280" y="5229200"/>
            <a:ext cx="1120540" cy="194816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  <a:latin typeface="+mn-ea"/>
              </a:rPr>
              <a:t>사고 키워드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253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79360" y="378000"/>
            <a:ext cx="6102000" cy="27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ko-KR" altLang="ko-KR" dirty="0"/>
              <a:t>모델 </a:t>
            </a:r>
            <a:r>
              <a:rPr lang="ko-KR" altLang="ko-KR" dirty="0" err="1"/>
              <a:t>서빙</a:t>
            </a:r>
            <a:r>
              <a:rPr lang="ko-KR" altLang="ko-KR" dirty="0"/>
              <a:t> 프로세스 제안</a:t>
            </a:r>
            <a:r>
              <a:rPr lang="en-US" altLang="ko-KR" dirty="0"/>
              <a:t> </a:t>
            </a:r>
            <a:r>
              <a:rPr lang="en-US" altLang="ko-KR" dirty="0" smtClean="0"/>
              <a:t>(</a:t>
            </a:r>
            <a:r>
              <a:rPr lang="en-US" altLang="ko-KR" dirty="0"/>
              <a:t>2</a:t>
            </a:r>
            <a:r>
              <a:rPr lang="en-US" altLang="ko-KR" dirty="0" smtClean="0"/>
              <a:t>/3</a:t>
            </a:r>
            <a:r>
              <a:rPr lang="en-US" altLang="ko-KR" dirty="0"/>
              <a:t>)</a:t>
            </a:r>
            <a:endParaRPr lang="en-US" sz="2000" b="0" u="none" strike="noStrike" dirty="0">
              <a:solidFill>
                <a:schemeClr val="dk1"/>
              </a:solidFill>
              <a:uFillTx/>
              <a:latin typeface="나눔고딕" panose="020D0604000000000000" pitchFamily="50" charset="-127"/>
            </a:endParaRPr>
          </a:p>
        </p:txBody>
      </p:sp>
      <p:sp>
        <p:nvSpPr>
          <p:cNvPr id="80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648073"/>
          </a:xfrm>
        </p:spPr>
        <p:txBody>
          <a:bodyPr/>
          <a:lstStyle/>
          <a:p>
            <a:r>
              <a:rPr lang="ko-KR" altLang="en-US" b="0" dirty="0" smtClean="0"/>
              <a:t>단계별 상세 프로세스 예시</a:t>
            </a:r>
            <a:endParaRPr lang="en-US" altLang="ko-KR" b="0" dirty="0" smtClean="0"/>
          </a:p>
        </p:txBody>
      </p:sp>
      <p:pic>
        <p:nvPicPr>
          <p:cNvPr id="108" name="Image 0" descr="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82" y="3399309"/>
            <a:ext cx="304732" cy="304866"/>
          </a:xfrm>
          <a:prstGeom prst="rect">
            <a:avLst/>
          </a:prstGeom>
        </p:spPr>
      </p:pic>
      <p:pic>
        <p:nvPicPr>
          <p:cNvPr id="109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81473" y="3424715"/>
            <a:ext cx="228549" cy="254055"/>
          </a:xfrm>
          <a:prstGeom prst="rect">
            <a:avLst/>
          </a:prstGeom>
        </p:spPr>
      </p:pic>
      <p:sp>
        <p:nvSpPr>
          <p:cNvPr id="110" name="Text 0"/>
          <p:cNvSpPr/>
          <p:nvPr/>
        </p:nvSpPr>
        <p:spPr>
          <a:xfrm>
            <a:off x="4604790" y="3632193"/>
            <a:ext cx="969217" cy="41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데이터분석가</a:t>
            </a:r>
            <a:endParaRPr lang="en-US" sz="1000" dirty="0"/>
          </a:p>
        </p:txBody>
      </p:sp>
      <p:pic>
        <p:nvPicPr>
          <p:cNvPr id="111" name="Image 2" descr="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447" y="1777282"/>
            <a:ext cx="304732" cy="304866"/>
          </a:xfrm>
          <a:prstGeom prst="rect">
            <a:avLst/>
          </a:prstGeom>
        </p:spPr>
      </p:pic>
      <p:pic>
        <p:nvPicPr>
          <p:cNvPr id="112" name="Image 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343538" y="1802688"/>
            <a:ext cx="228549" cy="254055"/>
          </a:xfrm>
          <a:prstGeom prst="rect">
            <a:avLst/>
          </a:prstGeom>
        </p:spPr>
      </p:pic>
      <p:sp>
        <p:nvSpPr>
          <p:cNvPr id="113" name="Text 1"/>
          <p:cNvSpPr/>
          <p:nvPr/>
        </p:nvSpPr>
        <p:spPr>
          <a:xfrm>
            <a:off x="2966856" y="2010166"/>
            <a:ext cx="969217" cy="410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관리자</a:t>
            </a:r>
            <a:endParaRPr lang="en-US" sz="1000" dirty="0"/>
          </a:p>
        </p:txBody>
      </p:sp>
      <p:sp>
        <p:nvSpPr>
          <p:cNvPr id="114" name="Text 2"/>
          <p:cNvSpPr/>
          <p:nvPr/>
        </p:nvSpPr>
        <p:spPr>
          <a:xfrm>
            <a:off x="4562467" y="2171067"/>
            <a:ext cx="1142745" cy="15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이전사례 데이터</a:t>
            </a:r>
            <a:endParaRPr lang="en-US" sz="1200" dirty="0"/>
          </a:p>
        </p:txBody>
      </p:sp>
      <p:pic>
        <p:nvPicPr>
          <p:cNvPr id="115" name="Image 4" descr="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473" y="1777282"/>
            <a:ext cx="304732" cy="304866"/>
          </a:xfrm>
          <a:prstGeom prst="rect">
            <a:avLst/>
          </a:prstGeom>
        </p:spPr>
      </p:pic>
      <p:pic>
        <p:nvPicPr>
          <p:cNvPr id="116" name="Image 5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006867" y="1789985"/>
            <a:ext cx="253943" cy="279460"/>
          </a:xfrm>
          <a:prstGeom prst="rect">
            <a:avLst/>
          </a:prstGeom>
        </p:spPr>
      </p:pic>
      <p:sp>
        <p:nvSpPr>
          <p:cNvPr id="117" name="Text 3"/>
          <p:cNvSpPr/>
          <p:nvPr/>
        </p:nvSpPr>
        <p:spPr>
          <a:xfrm>
            <a:off x="2886440" y="3793094"/>
            <a:ext cx="1142745" cy="15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이전사례 데이터</a:t>
            </a:r>
            <a:endParaRPr lang="en-US" sz="1200" dirty="0"/>
          </a:p>
        </p:txBody>
      </p:sp>
      <p:pic>
        <p:nvPicPr>
          <p:cNvPr id="118" name="Image 6" descr="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447" y="3399309"/>
            <a:ext cx="304732" cy="304866"/>
          </a:xfrm>
          <a:prstGeom prst="rect">
            <a:avLst/>
          </a:prstGeom>
        </p:spPr>
      </p:pic>
      <p:pic>
        <p:nvPicPr>
          <p:cNvPr id="119" name="Image 7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3330841" y="3412012"/>
            <a:ext cx="253943" cy="279460"/>
          </a:xfrm>
          <a:prstGeom prst="rect">
            <a:avLst/>
          </a:prstGeom>
        </p:spPr>
      </p:pic>
      <p:sp>
        <p:nvSpPr>
          <p:cNvPr id="120" name="Text 4"/>
          <p:cNvSpPr/>
          <p:nvPr/>
        </p:nvSpPr>
        <p:spPr>
          <a:xfrm>
            <a:off x="2886440" y="5030397"/>
            <a:ext cx="1142745" cy="15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이전사례 데이터</a:t>
            </a:r>
            <a:endParaRPr lang="en-US" sz="1200" dirty="0"/>
          </a:p>
        </p:txBody>
      </p:sp>
      <p:pic>
        <p:nvPicPr>
          <p:cNvPr id="121" name="Image 8" descr="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447" y="4636612"/>
            <a:ext cx="304732" cy="304866"/>
          </a:xfrm>
          <a:prstGeom prst="rect">
            <a:avLst/>
          </a:prstGeom>
        </p:spPr>
      </p:pic>
      <p:pic>
        <p:nvPicPr>
          <p:cNvPr id="122" name="Image 9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3330841" y="4649314"/>
            <a:ext cx="253943" cy="279460"/>
          </a:xfrm>
          <a:prstGeom prst="rect">
            <a:avLst/>
          </a:prstGeom>
        </p:spPr>
      </p:pic>
      <p:sp>
        <p:nvSpPr>
          <p:cNvPr id="123" name="Text 5"/>
          <p:cNvSpPr/>
          <p:nvPr/>
        </p:nvSpPr>
        <p:spPr>
          <a:xfrm>
            <a:off x="6136916" y="3793094"/>
            <a:ext cx="825316" cy="15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사고 키워드</a:t>
            </a:r>
            <a:endParaRPr lang="en-US" sz="1200" dirty="0"/>
          </a:p>
        </p:txBody>
      </p:sp>
      <p:pic>
        <p:nvPicPr>
          <p:cNvPr id="124" name="Image 10" descr="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556" y="3399309"/>
            <a:ext cx="304732" cy="304866"/>
          </a:xfrm>
          <a:prstGeom prst="rect">
            <a:avLst/>
          </a:prstGeom>
        </p:spPr>
      </p:pic>
      <p:pic>
        <p:nvPicPr>
          <p:cNvPr id="125" name="Image 11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6428951" y="3412012"/>
            <a:ext cx="253943" cy="279460"/>
          </a:xfrm>
          <a:prstGeom prst="rect">
            <a:avLst/>
          </a:prstGeom>
        </p:spPr>
      </p:pic>
      <p:sp>
        <p:nvSpPr>
          <p:cNvPr id="126" name="Text 6"/>
          <p:cNvSpPr/>
          <p:nvPr/>
        </p:nvSpPr>
        <p:spPr>
          <a:xfrm>
            <a:off x="7482816" y="5297154"/>
            <a:ext cx="1168140" cy="15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대책 및 향후계획</a:t>
            </a:r>
            <a:endParaRPr lang="en-US" sz="1200" dirty="0"/>
          </a:p>
        </p:txBody>
      </p:sp>
      <p:pic>
        <p:nvPicPr>
          <p:cNvPr id="127" name="Image 12" descr="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519" y="4903369"/>
            <a:ext cx="304732" cy="304866"/>
          </a:xfrm>
          <a:prstGeom prst="rect">
            <a:avLst/>
          </a:prstGeom>
        </p:spPr>
      </p:pic>
      <p:pic>
        <p:nvPicPr>
          <p:cNvPr id="128" name="Image 13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7939914" y="4916072"/>
            <a:ext cx="253943" cy="279460"/>
          </a:xfrm>
          <a:prstGeom prst="rect">
            <a:avLst/>
          </a:prstGeom>
        </p:spPr>
      </p:pic>
      <p:sp>
        <p:nvSpPr>
          <p:cNvPr id="129" name="Text 7"/>
          <p:cNvSpPr/>
          <p:nvPr/>
        </p:nvSpPr>
        <p:spPr>
          <a:xfrm>
            <a:off x="3038806" y="5652831"/>
            <a:ext cx="825316" cy="15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사고 키워드</a:t>
            </a:r>
            <a:endParaRPr lang="en-US" sz="1200" dirty="0"/>
          </a:p>
        </p:txBody>
      </p:sp>
      <p:pic>
        <p:nvPicPr>
          <p:cNvPr id="130" name="Image 14" descr="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447" y="5259046"/>
            <a:ext cx="304732" cy="304866"/>
          </a:xfrm>
          <a:prstGeom prst="rect">
            <a:avLst/>
          </a:prstGeom>
        </p:spPr>
      </p:pic>
      <p:pic>
        <p:nvPicPr>
          <p:cNvPr id="131" name="Image 15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24"/>
              </a:ext>
            </a:extLst>
          </a:blip>
          <a:stretch>
            <a:fillRect/>
          </a:stretch>
        </p:blipFill>
        <p:spPr>
          <a:xfrm>
            <a:off x="3330841" y="5271749"/>
            <a:ext cx="253943" cy="279460"/>
          </a:xfrm>
          <a:prstGeom prst="rect">
            <a:avLst/>
          </a:prstGeom>
        </p:spPr>
      </p:pic>
      <p:sp>
        <p:nvSpPr>
          <p:cNvPr id="132" name="Text 8"/>
          <p:cNvSpPr/>
          <p:nvPr/>
        </p:nvSpPr>
        <p:spPr>
          <a:xfrm>
            <a:off x="5959155" y="5246343"/>
            <a:ext cx="1371294" cy="266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LLM server(GPU)</a:t>
            </a:r>
            <a:endParaRPr lang="en-US" sz="1200" dirty="0"/>
          </a:p>
        </p:txBody>
      </p:sp>
      <p:pic>
        <p:nvPicPr>
          <p:cNvPr id="133" name="Image 16" descr="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436" y="4928775"/>
            <a:ext cx="304732" cy="304866"/>
          </a:xfrm>
          <a:prstGeom prst="rect">
            <a:avLst/>
          </a:prstGeom>
        </p:spPr>
      </p:pic>
      <p:pic>
        <p:nvPicPr>
          <p:cNvPr id="134" name="Image 17" descr=" 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xmlns="" r:embed="rId27"/>
              </a:ext>
            </a:extLst>
          </a:blip>
          <a:stretch>
            <a:fillRect/>
          </a:stretch>
        </p:blipFill>
        <p:spPr>
          <a:xfrm>
            <a:off x="6505134" y="4941477"/>
            <a:ext cx="279338" cy="279460"/>
          </a:xfrm>
          <a:prstGeom prst="rect">
            <a:avLst/>
          </a:prstGeom>
        </p:spPr>
      </p:pic>
      <p:sp>
        <p:nvSpPr>
          <p:cNvPr id="135" name="Text 9"/>
          <p:cNvSpPr/>
          <p:nvPr/>
        </p:nvSpPr>
        <p:spPr>
          <a:xfrm>
            <a:off x="4333917" y="5246343"/>
            <a:ext cx="1523660" cy="266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process server</a:t>
            </a:r>
            <a:endParaRPr lang="en-US" sz="1200" dirty="0"/>
          </a:p>
        </p:txBody>
      </p:sp>
      <p:pic>
        <p:nvPicPr>
          <p:cNvPr id="136" name="Image 18" descr="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82" y="4928775"/>
            <a:ext cx="304732" cy="304866"/>
          </a:xfrm>
          <a:prstGeom prst="rect">
            <a:avLst/>
          </a:prstGeom>
        </p:spPr>
      </p:pic>
      <p:pic>
        <p:nvPicPr>
          <p:cNvPr id="137" name="Image 19" descr=" 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xmlns="" r:embed="rId30"/>
              </a:ext>
            </a:extLst>
          </a:blip>
          <a:stretch>
            <a:fillRect/>
          </a:stretch>
        </p:blipFill>
        <p:spPr>
          <a:xfrm>
            <a:off x="4956079" y="4941477"/>
            <a:ext cx="279338" cy="279460"/>
          </a:xfrm>
          <a:prstGeom prst="rect">
            <a:avLst/>
          </a:prstGeom>
        </p:spPr>
      </p:pic>
      <p:pic>
        <p:nvPicPr>
          <p:cNvPr id="138" name="Image 20" descr=" 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xmlns="" r:embed="rId32"/>
              </a:ext>
            </a:extLst>
          </a:blip>
          <a:stretch>
            <a:fillRect/>
          </a:stretch>
        </p:blipFill>
        <p:spPr>
          <a:xfrm>
            <a:off x="4003791" y="1856376"/>
            <a:ext cx="660253" cy="146679"/>
          </a:xfrm>
          <a:prstGeom prst="rect">
            <a:avLst/>
          </a:prstGeom>
        </p:spPr>
      </p:pic>
      <p:pic>
        <p:nvPicPr>
          <p:cNvPr id="139" name="Image 21" descr=" 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xmlns="" r:embed="rId34"/>
              </a:ext>
            </a:extLst>
          </a:blip>
          <a:stretch>
            <a:fillRect/>
          </a:stretch>
        </p:blipFill>
        <p:spPr>
          <a:xfrm>
            <a:off x="3991094" y="3478403"/>
            <a:ext cx="660253" cy="146679"/>
          </a:xfrm>
          <a:prstGeom prst="rect">
            <a:avLst/>
          </a:prstGeom>
        </p:spPr>
      </p:pic>
      <p:pic>
        <p:nvPicPr>
          <p:cNvPr id="140" name="Image 22" descr=" 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xmlns="" r:embed="rId36"/>
              </a:ext>
            </a:extLst>
          </a:blip>
          <a:stretch>
            <a:fillRect/>
          </a:stretch>
        </p:blipFill>
        <p:spPr>
          <a:xfrm>
            <a:off x="5527451" y="3478403"/>
            <a:ext cx="660253" cy="146679"/>
          </a:xfrm>
          <a:prstGeom prst="rect">
            <a:avLst/>
          </a:prstGeom>
        </p:spPr>
      </p:pic>
      <p:pic>
        <p:nvPicPr>
          <p:cNvPr id="141" name="Image 23" descr=" 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xmlns="" r:embed="rId38"/>
              </a:ext>
            </a:extLst>
          </a:blip>
          <a:stretch>
            <a:fillRect/>
          </a:stretch>
        </p:blipFill>
        <p:spPr>
          <a:xfrm>
            <a:off x="3991094" y="5007868"/>
            <a:ext cx="634858" cy="146679"/>
          </a:xfrm>
          <a:prstGeom prst="rect">
            <a:avLst/>
          </a:prstGeom>
        </p:spPr>
      </p:pic>
      <p:pic>
        <p:nvPicPr>
          <p:cNvPr id="142" name="Image 24" descr=" 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xmlns="" r:embed="rId40"/>
              </a:ext>
            </a:extLst>
          </a:blip>
          <a:stretch>
            <a:fillRect/>
          </a:stretch>
        </p:blipFill>
        <p:spPr>
          <a:xfrm>
            <a:off x="5527451" y="5007868"/>
            <a:ext cx="660253" cy="146679"/>
          </a:xfrm>
          <a:prstGeom prst="rect">
            <a:avLst/>
          </a:prstGeom>
        </p:spPr>
      </p:pic>
      <p:pic>
        <p:nvPicPr>
          <p:cNvPr id="143" name="Image 25" descr=" 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xmlns="" r:embed="rId42"/>
              </a:ext>
            </a:extLst>
          </a:blip>
          <a:stretch>
            <a:fillRect/>
          </a:stretch>
        </p:blipFill>
        <p:spPr>
          <a:xfrm>
            <a:off x="7013020" y="5007868"/>
            <a:ext cx="660253" cy="146679"/>
          </a:xfrm>
          <a:prstGeom prst="rect">
            <a:avLst/>
          </a:prstGeom>
        </p:spPr>
      </p:pic>
      <p:sp>
        <p:nvSpPr>
          <p:cNvPr id="144" name="Text 16"/>
          <p:cNvSpPr/>
          <p:nvPr/>
        </p:nvSpPr>
        <p:spPr>
          <a:xfrm>
            <a:off x="3826031" y="1675660"/>
            <a:ext cx="926893" cy="266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사고 입력</a:t>
            </a:r>
            <a:endParaRPr lang="en-US" sz="600" dirty="0"/>
          </a:p>
        </p:txBody>
      </p:sp>
      <p:sp>
        <p:nvSpPr>
          <p:cNvPr id="145" name="Text 17"/>
          <p:cNvSpPr/>
          <p:nvPr/>
        </p:nvSpPr>
        <p:spPr>
          <a:xfrm>
            <a:off x="3826031" y="4827153"/>
            <a:ext cx="926893" cy="266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데이터 로드</a:t>
            </a:r>
            <a:endParaRPr lang="en-US" sz="600" dirty="0"/>
          </a:p>
        </p:txBody>
      </p:sp>
      <p:sp>
        <p:nvSpPr>
          <p:cNvPr id="146" name="Text 18"/>
          <p:cNvSpPr/>
          <p:nvPr/>
        </p:nvSpPr>
        <p:spPr>
          <a:xfrm>
            <a:off x="3826031" y="3284984"/>
            <a:ext cx="926893" cy="266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데이터 로드</a:t>
            </a:r>
            <a:endParaRPr lang="en-US" sz="600" dirty="0"/>
          </a:p>
        </p:txBody>
      </p:sp>
      <p:sp>
        <p:nvSpPr>
          <p:cNvPr id="147" name="Text 19"/>
          <p:cNvSpPr/>
          <p:nvPr/>
        </p:nvSpPr>
        <p:spPr>
          <a:xfrm>
            <a:off x="5362388" y="3284984"/>
            <a:ext cx="926893" cy="266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오차 분석</a:t>
            </a:r>
            <a:endParaRPr lang="en-US" sz="600" dirty="0"/>
          </a:p>
        </p:txBody>
      </p:sp>
      <p:sp>
        <p:nvSpPr>
          <p:cNvPr id="148" name="Text 20"/>
          <p:cNvSpPr/>
          <p:nvPr/>
        </p:nvSpPr>
        <p:spPr>
          <a:xfrm>
            <a:off x="5324297" y="4827153"/>
            <a:ext cx="1003076" cy="266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전처리 &amp; 프롬프트 엔지니어링</a:t>
            </a:r>
            <a:endParaRPr lang="en-US" sz="600" dirty="0"/>
          </a:p>
        </p:txBody>
      </p:sp>
      <p:sp>
        <p:nvSpPr>
          <p:cNvPr id="149" name="Text 21"/>
          <p:cNvSpPr/>
          <p:nvPr/>
        </p:nvSpPr>
        <p:spPr>
          <a:xfrm>
            <a:off x="6835260" y="4827153"/>
            <a:ext cx="1003076" cy="266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생성</a:t>
            </a:r>
            <a:endParaRPr lang="en-US" sz="600" dirty="0"/>
          </a:p>
        </p:txBody>
      </p:sp>
      <p:sp>
        <p:nvSpPr>
          <p:cNvPr id="150" name="Shape 10"/>
          <p:cNvSpPr/>
          <p:nvPr/>
        </p:nvSpPr>
        <p:spPr>
          <a:xfrm>
            <a:off x="848544" y="1760036"/>
            <a:ext cx="1879181" cy="584326"/>
          </a:xfrm>
          <a:prstGeom prst="roundRect">
            <a:avLst>
              <a:gd name="adj" fmla="val 32862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151" name="Text 11"/>
          <p:cNvSpPr/>
          <p:nvPr/>
        </p:nvSpPr>
        <p:spPr>
          <a:xfrm>
            <a:off x="1216762" y="1975983"/>
            <a:ext cx="1142745" cy="15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데이터 업로드</a:t>
            </a:r>
            <a:endParaRPr lang="en-US" sz="1200" dirty="0"/>
          </a:p>
        </p:txBody>
      </p:sp>
      <p:sp>
        <p:nvSpPr>
          <p:cNvPr id="152" name="Shape 12"/>
          <p:cNvSpPr/>
          <p:nvPr/>
        </p:nvSpPr>
        <p:spPr>
          <a:xfrm>
            <a:off x="848544" y="3377725"/>
            <a:ext cx="1879181" cy="584326"/>
          </a:xfrm>
          <a:prstGeom prst="roundRect">
            <a:avLst>
              <a:gd name="adj" fmla="val 32862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153" name="Text 13"/>
          <p:cNvSpPr/>
          <p:nvPr/>
        </p:nvSpPr>
        <p:spPr>
          <a:xfrm>
            <a:off x="1216762" y="3593672"/>
            <a:ext cx="1142745" cy="152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오차 분석</a:t>
            </a:r>
            <a:endParaRPr lang="en-US" sz="1200" dirty="0"/>
          </a:p>
        </p:txBody>
      </p:sp>
      <p:sp>
        <p:nvSpPr>
          <p:cNvPr id="154" name="Shape 14"/>
          <p:cNvSpPr/>
          <p:nvPr/>
        </p:nvSpPr>
        <p:spPr>
          <a:xfrm>
            <a:off x="848544" y="5004914"/>
            <a:ext cx="1879181" cy="584326"/>
          </a:xfrm>
          <a:prstGeom prst="roundRect">
            <a:avLst>
              <a:gd name="adj" fmla="val 32862"/>
            </a:avLst>
          </a:prstGeom>
          <a:solidFill>
            <a:srgbClr val="D9D9D9">
              <a:alpha val="100000"/>
            </a:srgbClr>
          </a:solidFill>
          <a:ln/>
        </p:spPr>
      </p:sp>
      <p:sp>
        <p:nvSpPr>
          <p:cNvPr id="155" name="Text 15"/>
          <p:cNvSpPr/>
          <p:nvPr/>
        </p:nvSpPr>
        <p:spPr>
          <a:xfrm>
            <a:off x="1013607" y="5167902"/>
            <a:ext cx="1536358" cy="203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생성</a:t>
            </a: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1200" dirty="0" err="1" smtClean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프로세스</a:t>
            </a:r>
            <a:endParaRPr lang="en-US" sz="1200" dirty="0" smtClean="0">
              <a:solidFill>
                <a:srgbClr val="000000">
                  <a:alpha val="100000"/>
                </a:srgbClr>
              </a:solidFill>
              <a:latin typeface="Inter Regular" pitchFamily="34" charset="0"/>
              <a:ea typeface="Inter Regular" pitchFamily="34" charset="-122"/>
              <a:cs typeface="Inter Regular" pitchFamily="34" charset="-120"/>
            </a:endParaRPr>
          </a:p>
          <a:p>
            <a:pPr marL="0" indent="0" algn="ctr">
              <a:buNone/>
            </a:pPr>
            <a:r>
              <a:rPr lang="en-US" sz="1200" dirty="0" smtClean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(</a:t>
            </a:r>
            <a:r>
              <a:rPr lang="en-US" sz="1200" dirty="0">
                <a:solidFill>
                  <a:srgbClr val="00000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일 배치)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49360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79360" y="378000"/>
            <a:ext cx="6102000" cy="27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ko-KR" altLang="ko-KR" dirty="0"/>
              <a:t>모델 </a:t>
            </a:r>
            <a:r>
              <a:rPr lang="ko-KR" altLang="ko-KR" dirty="0" err="1"/>
              <a:t>서빙</a:t>
            </a:r>
            <a:r>
              <a:rPr lang="ko-KR" altLang="ko-KR" dirty="0"/>
              <a:t> 프로세스 제안</a:t>
            </a:r>
            <a:r>
              <a:rPr lang="en-US" altLang="ko-KR" dirty="0"/>
              <a:t> </a:t>
            </a:r>
            <a:r>
              <a:rPr lang="en-US" altLang="ko-KR" dirty="0" smtClean="0"/>
              <a:t>(3/3</a:t>
            </a:r>
            <a:r>
              <a:rPr lang="en-US" altLang="ko-KR" dirty="0"/>
              <a:t>)</a:t>
            </a:r>
            <a:endParaRPr lang="en-US" sz="2000" b="0" u="none" strike="noStrike" dirty="0">
              <a:solidFill>
                <a:schemeClr val="dk1"/>
              </a:solidFill>
              <a:uFillTx/>
              <a:latin typeface="나눔고딕" panose="020D0604000000000000" pitchFamily="50" charset="-127"/>
            </a:endParaRPr>
          </a:p>
        </p:txBody>
      </p:sp>
      <p:sp>
        <p:nvSpPr>
          <p:cNvPr id="80" name="내용 개체 틀 5"/>
          <p:cNvSpPr>
            <a:spLocks noGrp="1"/>
          </p:cNvSpPr>
          <p:nvPr>
            <p:ph idx="1"/>
          </p:nvPr>
        </p:nvSpPr>
        <p:spPr>
          <a:xfrm>
            <a:off x="272480" y="764703"/>
            <a:ext cx="9360470" cy="648073"/>
          </a:xfrm>
        </p:spPr>
        <p:txBody>
          <a:bodyPr/>
          <a:lstStyle/>
          <a:p>
            <a:r>
              <a:rPr lang="en-US" altLang="ko-KR" b="0" dirty="0" smtClean="0"/>
              <a:t>// LLM </a:t>
            </a:r>
            <a:r>
              <a:rPr lang="ko-KR" altLang="en-US" b="0" dirty="0" smtClean="0"/>
              <a:t>서버 구성도</a:t>
            </a:r>
            <a:endParaRPr lang="en-US" altLang="ko-KR" b="0" dirty="0" smtClean="0"/>
          </a:p>
          <a:p>
            <a:pPr indent="0"/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process server :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데이터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전처리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,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프롬프트엔지니어링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등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프로세스를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수행하는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역할</a:t>
            </a:r>
            <a:endParaRPr lang="en-US" altLang="ko-KR" b="0" dirty="0" smtClean="0"/>
          </a:p>
          <a:p>
            <a:pPr indent="0"/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managing server :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향후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대책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생성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서비스의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프로세스를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관리하고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모니터링하는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역할</a:t>
            </a:r>
            <a:endParaRPr lang="en-US" altLang="ko-KR" b="0" dirty="0" smtClean="0"/>
          </a:p>
          <a:p>
            <a:pPr indent="0"/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LLM server : LLM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모델을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서빙하는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역할</a:t>
            </a:r>
            <a:endParaRPr lang="en-US" altLang="ko-KR" b="0" dirty="0" smtClean="0"/>
          </a:p>
          <a:p>
            <a:pPr indent="0"/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backend server :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데이터를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관리하는</a:t>
            </a:r>
            <a:r>
              <a:rPr lang="en-US" altLang="ko-KR" b="0" dirty="0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 </a:t>
            </a:r>
            <a:r>
              <a:rPr lang="en-US" altLang="ko-KR" b="0" dirty="0" err="1" smtClean="0">
                <a:solidFill>
                  <a:srgbClr val="000000">
                    <a:alpha val="100000"/>
                  </a:srgbClr>
                </a:solidFill>
                <a:cs typeface="Inter Regular" pitchFamily="34" charset="-120"/>
              </a:rPr>
              <a:t>역할</a:t>
            </a:r>
            <a:endParaRPr lang="en-US" altLang="ko-KR" b="0" dirty="0" smtClean="0"/>
          </a:p>
          <a:p>
            <a:r>
              <a:rPr lang="ko-KR" altLang="en-US" b="0" dirty="0" smtClean="0"/>
              <a:t> </a:t>
            </a:r>
            <a:endParaRPr lang="en-US" altLang="ko-KR" b="0" dirty="0" smtClean="0"/>
          </a:p>
        </p:txBody>
      </p:sp>
      <p:grpSp>
        <p:nvGrpSpPr>
          <p:cNvPr id="2" name="그룹 1"/>
          <p:cNvGrpSpPr/>
          <p:nvPr/>
        </p:nvGrpSpPr>
        <p:grpSpPr>
          <a:xfrm>
            <a:off x="920552" y="2924944"/>
            <a:ext cx="7533839" cy="2576710"/>
            <a:chOff x="419252" y="317329"/>
            <a:chExt cx="7533839" cy="2576710"/>
          </a:xfrm>
        </p:grpSpPr>
        <p:sp>
          <p:nvSpPr>
            <p:cNvPr id="81" name="Text 0"/>
            <p:cNvSpPr/>
            <p:nvPr/>
          </p:nvSpPr>
          <p:spPr>
            <a:xfrm>
              <a:off x="419252" y="990066"/>
              <a:ext cx="647936" cy="1523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Inter Regular" pitchFamily="34" charset="0"/>
                  <a:ea typeface="Inter Regular" pitchFamily="34" charset="-122"/>
                  <a:cs typeface="Inter Regular" pitchFamily="34" charset="-120"/>
                </a:rPr>
                <a:t>RDBMS</a:t>
              </a:r>
              <a:endParaRPr lang="en-US" sz="1200" dirty="0"/>
            </a:p>
          </p:txBody>
        </p:sp>
        <p:sp>
          <p:nvSpPr>
            <p:cNvPr id="82" name="Text 1"/>
            <p:cNvSpPr/>
            <p:nvPr/>
          </p:nvSpPr>
          <p:spPr>
            <a:xfrm>
              <a:off x="6580992" y="2627483"/>
              <a:ext cx="1372099" cy="266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Inter Regular" pitchFamily="34" charset="0"/>
                  <a:ea typeface="Inter Regular" pitchFamily="34" charset="-122"/>
                  <a:cs typeface="Inter Regular" pitchFamily="34" charset="-120"/>
                </a:rPr>
                <a:t>LLM server(GPU)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Inter Regular" pitchFamily="34" charset="0"/>
                  <a:ea typeface="Inter Regular" pitchFamily="34" charset="-122"/>
                  <a:cs typeface="Inter Regular" pitchFamily="34" charset="-120"/>
                </a:rPr>
                <a:t>A100(80G) x 2</a:t>
              </a:r>
              <a:endParaRPr lang="en-US" sz="1200" dirty="0"/>
            </a:p>
          </p:txBody>
        </p:sp>
        <p:pic>
          <p:nvPicPr>
            <p:cNvPr id="83" name="Image 0" descr=" 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7117" y="596578"/>
              <a:ext cx="304911" cy="304636"/>
            </a:xfrm>
            <a:prstGeom prst="rect">
              <a:avLst/>
            </a:prstGeom>
          </p:spPr>
        </p:pic>
        <p:pic>
          <p:nvPicPr>
            <p:cNvPr id="84" name="Image 1" descr=" 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622526" y="609271"/>
              <a:ext cx="254092" cy="279249"/>
            </a:xfrm>
            <a:prstGeom prst="rect">
              <a:avLst/>
            </a:prstGeom>
          </p:spPr>
        </p:pic>
        <p:pic>
          <p:nvPicPr>
            <p:cNvPr id="85" name="Image 2" descr=" 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14586" y="2208609"/>
              <a:ext cx="304911" cy="304636"/>
            </a:xfrm>
            <a:prstGeom prst="rect">
              <a:avLst/>
            </a:prstGeom>
          </p:spPr>
        </p:pic>
        <p:pic>
          <p:nvPicPr>
            <p:cNvPr id="86" name="Image 3" descr=" 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7127291" y="2221302"/>
              <a:ext cx="279502" cy="279249"/>
            </a:xfrm>
            <a:prstGeom prst="rect">
              <a:avLst/>
            </a:prstGeom>
          </p:spPr>
        </p:pic>
        <p:sp>
          <p:nvSpPr>
            <p:cNvPr id="87" name="Text 2"/>
            <p:cNvSpPr/>
            <p:nvPr/>
          </p:nvSpPr>
          <p:spPr>
            <a:xfrm>
              <a:off x="2312241" y="926600"/>
              <a:ext cx="1346690" cy="266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Inter Regular" pitchFamily="34" charset="0"/>
                  <a:ea typeface="Inter Regular" pitchFamily="34" charset="-122"/>
                  <a:cs typeface="Inter Regular" pitchFamily="34" charset="-120"/>
                </a:rPr>
                <a:t>backend server</a:t>
              </a:r>
              <a:endParaRPr lang="en-US" sz="1200" dirty="0"/>
            </a:p>
          </p:txBody>
        </p:sp>
        <p:pic>
          <p:nvPicPr>
            <p:cNvPr id="88" name="Image 4" descr=" 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20425" y="609271"/>
              <a:ext cx="304911" cy="304636"/>
            </a:xfrm>
            <a:prstGeom prst="rect">
              <a:avLst/>
            </a:prstGeom>
          </p:spPr>
        </p:pic>
        <p:pic>
          <p:nvPicPr>
            <p:cNvPr id="89" name="Image 5" descr=" 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2833130" y="621965"/>
              <a:ext cx="279502" cy="279249"/>
            </a:xfrm>
            <a:prstGeom prst="rect">
              <a:avLst/>
            </a:prstGeom>
          </p:spPr>
        </p:pic>
        <p:sp>
          <p:nvSpPr>
            <p:cNvPr id="90" name="Text 3"/>
            <p:cNvSpPr/>
            <p:nvPr/>
          </p:nvSpPr>
          <p:spPr>
            <a:xfrm>
              <a:off x="4268752" y="2525938"/>
              <a:ext cx="1346690" cy="266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Inter Regular" pitchFamily="34" charset="0"/>
                  <a:ea typeface="Inter Regular" pitchFamily="34" charset="-122"/>
                  <a:cs typeface="Inter Regular" pitchFamily="34" charset="-120"/>
                </a:rPr>
                <a:t>managing server</a:t>
              </a:r>
              <a:endParaRPr lang="en-US" sz="1200" dirty="0"/>
            </a:p>
          </p:txBody>
        </p:sp>
        <p:pic>
          <p:nvPicPr>
            <p:cNvPr id="91" name="Image 6" descr=" 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76936" y="2208609"/>
              <a:ext cx="304911" cy="304636"/>
            </a:xfrm>
            <a:prstGeom prst="rect">
              <a:avLst/>
            </a:prstGeom>
          </p:spPr>
        </p:pic>
        <p:pic>
          <p:nvPicPr>
            <p:cNvPr id="92" name="Image 7" descr=" 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4789641" y="2221302"/>
              <a:ext cx="279502" cy="279249"/>
            </a:xfrm>
            <a:prstGeom prst="rect">
              <a:avLst/>
            </a:prstGeom>
          </p:spPr>
        </p:pic>
        <p:sp>
          <p:nvSpPr>
            <p:cNvPr id="93" name="Text 4"/>
            <p:cNvSpPr/>
            <p:nvPr/>
          </p:nvSpPr>
          <p:spPr>
            <a:xfrm>
              <a:off x="4179819" y="926600"/>
              <a:ext cx="1524554" cy="266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Inter Regular" pitchFamily="34" charset="0"/>
                  <a:ea typeface="Inter Regular" pitchFamily="34" charset="-122"/>
                  <a:cs typeface="Inter Regular" pitchFamily="34" charset="-120"/>
                </a:rPr>
                <a:t>process server</a:t>
              </a:r>
              <a:endParaRPr lang="en-US" sz="1200" dirty="0"/>
            </a:p>
          </p:txBody>
        </p:sp>
        <p:sp>
          <p:nvSpPr>
            <p:cNvPr id="94" name="Text 5"/>
            <p:cNvSpPr/>
            <p:nvPr/>
          </p:nvSpPr>
          <p:spPr>
            <a:xfrm>
              <a:off x="5272417" y="2068984"/>
              <a:ext cx="1524554" cy="266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Inter Regular" pitchFamily="34" charset="0"/>
                  <a:ea typeface="Inter Regular" pitchFamily="34" charset="-122"/>
                  <a:cs typeface="Inter Regular" pitchFamily="34" charset="-120"/>
                </a:rPr>
                <a:t>on/off</a:t>
              </a:r>
              <a:endParaRPr lang="en-US" sz="1200" dirty="0"/>
            </a:p>
          </p:txBody>
        </p:sp>
        <p:sp>
          <p:nvSpPr>
            <p:cNvPr id="95" name="Text 6"/>
            <p:cNvSpPr/>
            <p:nvPr/>
          </p:nvSpPr>
          <p:spPr>
            <a:xfrm>
              <a:off x="4586367" y="1561258"/>
              <a:ext cx="1524554" cy="266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Inter Regular" pitchFamily="34" charset="0"/>
                  <a:ea typeface="Inter Regular" pitchFamily="34" charset="-122"/>
                  <a:cs typeface="Inter Regular" pitchFamily="34" charset="-120"/>
                </a:rPr>
                <a:t>schedule</a:t>
              </a:r>
              <a:endParaRPr lang="en-US" sz="1200" dirty="0"/>
            </a:p>
          </p:txBody>
        </p:sp>
        <p:sp>
          <p:nvSpPr>
            <p:cNvPr id="96" name="Text 7"/>
            <p:cNvSpPr/>
            <p:nvPr/>
          </p:nvSpPr>
          <p:spPr>
            <a:xfrm rot="2340000">
              <a:off x="3001996" y="1672622"/>
              <a:ext cx="1524554" cy="266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Inter Regular" pitchFamily="34" charset="0"/>
                  <a:ea typeface="Inter Regular" pitchFamily="34" charset="-122"/>
                  <a:cs typeface="Inter Regular" pitchFamily="34" charset="-120"/>
                </a:rPr>
                <a:t>meta data</a:t>
              </a:r>
              <a:endParaRPr lang="en-US" sz="1200" dirty="0"/>
            </a:p>
          </p:txBody>
        </p:sp>
        <p:sp>
          <p:nvSpPr>
            <p:cNvPr id="97" name="Text 8"/>
            <p:cNvSpPr/>
            <p:nvPr/>
          </p:nvSpPr>
          <p:spPr>
            <a:xfrm>
              <a:off x="1067188" y="317329"/>
              <a:ext cx="1448326" cy="266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Inter Regular" pitchFamily="34" charset="0"/>
                  <a:ea typeface="Inter Regular" pitchFamily="34" charset="-122"/>
                  <a:cs typeface="Inter Regular" pitchFamily="34" charset="-120"/>
                </a:rPr>
                <a:t>이전사례 데이터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Inter Regular" pitchFamily="34" charset="0"/>
                  <a:ea typeface="Inter Regular" pitchFamily="34" charset="-122"/>
                  <a:cs typeface="Inter Regular" pitchFamily="34" charset="-120"/>
                </a:rPr>
                <a:t>사고 키워드</a:t>
              </a:r>
              <a:endParaRPr lang="en-US" sz="1200" dirty="0"/>
            </a:p>
          </p:txBody>
        </p:sp>
        <p:sp>
          <p:nvSpPr>
            <p:cNvPr id="98" name="Text 9"/>
            <p:cNvSpPr/>
            <p:nvPr/>
          </p:nvSpPr>
          <p:spPr>
            <a:xfrm>
              <a:off x="3442952" y="406181"/>
              <a:ext cx="978256" cy="266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Inter Regular" pitchFamily="34" charset="0"/>
                  <a:ea typeface="Inter Regular" pitchFamily="34" charset="-122"/>
                  <a:cs typeface="Inter Regular" pitchFamily="34" charset="-120"/>
                </a:rPr>
                <a:t>데이터 API</a:t>
              </a:r>
              <a:endParaRPr lang="en-US" sz="1200" dirty="0"/>
            </a:p>
          </p:txBody>
        </p:sp>
        <p:sp>
          <p:nvSpPr>
            <p:cNvPr id="99" name="Text 10"/>
            <p:cNvSpPr/>
            <p:nvPr/>
          </p:nvSpPr>
          <p:spPr>
            <a:xfrm rot="2280000">
              <a:off x="6029845" y="1343184"/>
              <a:ext cx="927437" cy="266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Inter Regular" pitchFamily="34" charset="0"/>
                  <a:ea typeface="Inter Regular" pitchFamily="34" charset="-122"/>
                  <a:cs typeface="Inter Regular" pitchFamily="34" charset="-120"/>
                </a:rPr>
                <a:t>LLM QA API</a:t>
              </a:r>
              <a:endParaRPr lang="en-US" sz="1200" dirty="0"/>
            </a:p>
          </p:txBody>
        </p:sp>
        <p:pic>
          <p:nvPicPr>
            <p:cNvPr id="100" name="Image 8" descr=" 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9641" y="609271"/>
              <a:ext cx="304911" cy="304636"/>
            </a:xfrm>
            <a:prstGeom prst="rect">
              <a:avLst/>
            </a:prstGeom>
          </p:spPr>
        </p:pic>
        <p:pic>
          <p:nvPicPr>
            <p:cNvPr id="101" name="Image 9" descr=" 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4802346" y="621965"/>
              <a:ext cx="279502" cy="279249"/>
            </a:xfrm>
            <a:prstGeom prst="rect">
              <a:avLst/>
            </a:prstGeom>
          </p:spPr>
        </p:pic>
        <p:pic>
          <p:nvPicPr>
            <p:cNvPr id="102" name="Image 10" descr=" 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130711" y="675612"/>
              <a:ext cx="1308576" cy="146568"/>
            </a:xfrm>
            <a:prstGeom prst="rect">
              <a:avLst/>
            </a:prstGeom>
          </p:spPr>
        </p:pic>
        <p:pic>
          <p:nvPicPr>
            <p:cNvPr id="103" name="Image 11" descr=" 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p:blipFill>
          <p:spPr>
            <a:xfrm>
              <a:off x="3404838" y="688305"/>
              <a:ext cx="1054483" cy="146568"/>
            </a:xfrm>
            <a:prstGeom prst="rect">
              <a:avLst/>
            </a:prstGeom>
          </p:spPr>
        </p:pic>
        <p:pic>
          <p:nvPicPr>
            <p:cNvPr id="104" name="Image 12" descr=" 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3404838" y="1269315"/>
              <a:ext cx="1105302" cy="939293"/>
            </a:xfrm>
            <a:prstGeom prst="rect">
              <a:avLst/>
            </a:prstGeom>
          </p:spPr>
        </p:pic>
        <p:pic>
          <p:nvPicPr>
            <p:cNvPr id="105" name="Image 13" descr=" 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p:blipFill>
          <p:spPr>
            <a:xfrm>
              <a:off x="5539214" y="951987"/>
              <a:ext cx="1443427" cy="1127012"/>
            </a:xfrm>
            <a:prstGeom prst="rect">
              <a:avLst/>
            </a:prstGeom>
          </p:spPr>
        </p:pic>
        <p:pic>
          <p:nvPicPr>
            <p:cNvPr id="106" name="Image 14" descr=" 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p:blipFill>
          <p:spPr>
            <a:xfrm>
              <a:off x="4868746" y="1320088"/>
              <a:ext cx="146702" cy="748896"/>
            </a:xfrm>
            <a:prstGeom prst="rect">
              <a:avLst/>
            </a:prstGeom>
          </p:spPr>
        </p:pic>
        <p:pic>
          <p:nvPicPr>
            <p:cNvPr id="107" name="Image 15" descr=" 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p:blipFill>
          <p:spPr>
            <a:xfrm>
              <a:off x="5335940" y="2287643"/>
              <a:ext cx="1499145" cy="146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082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flipV="1">
            <a:off x="3512840" y="3416806"/>
            <a:ext cx="2736304" cy="121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84848" y="2636912"/>
            <a:ext cx="28969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감사합니다</a:t>
            </a:r>
            <a:r>
              <a:rPr lang="en-US" altLang="ko-KR" sz="40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endParaRPr lang="ko-KR" altLang="en-US" sz="4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01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T_PMO_제안템플릿(가로)_20150501_v0.93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0_Cov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_Cov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0_Cov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02_간지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2_간지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_간지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2_간지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03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05_마지막장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05_마지막장">
      <a:majorFont>
        <a:latin typeface="-2002"/>
        <a:ea typeface="-2002"/>
        <a:cs typeface=""/>
      </a:majorFont>
      <a:minorFont>
        <a:latin typeface="-윤고딕320"/>
        <a:ea typeface="-윤고딕32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5_마지막장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5_마지막장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5_마지막장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컨텐츠영역">
  <a:themeElements>
    <a:clrScheme name="블루계열_농협">
      <a:dk1>
        <a:srgbClr val="000000"/>
      </a:dk1>
      <a:lt1>
        <a:sysClr val="window" lastClr="FFFFFF"/>
      </a:lt1>
      <a:dk2>
        <a:srgbClr val="767676"/>
      </a:dk2>
      <a:lt2>
        <a:srgbClr val="F5F5F5"/>
      </a:lt2>
      <a:accent1>
        <a:srgbClr val="969696"/>
      </a:accent1>
      <a:accent2>
        <a:srgbClr val="C8C8C8"/>
      </a:accent2>
      <a:accent3>
        <a:srgbClr val="EBEBEB"/>
      </a:accent3>
      <a:accent4>
        <a:srgbClr val="006DBB"/>
      </a:accent4>
      <a:accent5>
        <a:srgbClr val="75AAD0"/>
      </a:accent5>
      <a:accent6>
        <a:srgbClr val="C4D9E8"/>
      </a:accent6>
      <a:hlink>
        <a:srgbClr val="442C9E"/>
      </a:hlink>
      <a:folHlink>
        <a:srgbClr val="FF6700"/>
      </a:folHlink>
    </a:clrScheme>
    <a:fontScheme name="투이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_컨텐츠영역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_컨텐츠영역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_컨텐츠영역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22072</TotalTime>
  <Words>1207</Words>
  <Application>Microsoft Office PowerPoint</Application>
  <PresentationFormat>A4 용지(210x297mm)</PresentationFormat>
  <Paragraphs>438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26</vt:i4>
      </vt:variant>
    </vt:vector>
  </HeadingPairs>
  <TitlesOfParts>
    <vt:vector size="45" baseType="lpstr">
      <vt:lpstr>-2002</vt:lpstr>
      <vt:lpstr>HY중고딕</vt:lpstr>
      <vt:lpstr>Inter Regular</vt:lpstr>
      <vt:lpstr>굴림</vt:lpstr>
      <vt:lpstr>나눔고딕</vt:lpstr>
      <vt:lpstr>나눔고딕 ExtraBold</vt:lpstr>
      <vt:lpstr>나눔스퀘어</vt:lpstr>
      <vt:lpstr>맑은 고딕</vt:lpstr>
      <vt:lpstr>-윤고딕320</vt:lpstr>
      <vt:lpstr>Arial</vt:lpstr>
      <vt:lpstr>Tahoma</vt:lpstr>
      <vt:lpstr>Verdana</vt:lpstr>
      <vt:lpstr>Wingdings</vt:lpstr>
      <vt:lpstr>KT_PMO_제안템플릿(가로)_20150501_v0.93</vt:lpstr>
      <vt:lpstr>02_간지</vt:lpstr>
      <vt:lpstr>03_컨텐츠영역</vt:lpstr>
      <vt:lpstr>05_마지막장</vt:lpstr>
      <vt:lpstr>4_컨텐츠영역</vt:lpstr>
      <vt:lpstr>5_컨텐츠영역</vt:lpstr>
      <vt:lpstr>건설공사 사고 예방 및 대응책 생성 :  한솔데코 시즌3 AI 경진대회</vt:lpstr>
      <vt:lpstr>팀 소개 </vt:lpstr>
      <vt:lpstr>목차</vt:lpstr>
      <vt:lpstr>모델 검증 방법 (1/3)</vt:lpstr>
      <vt:lpstr>모델 검증 방법 (2/3)</vt:lpstr>
      <vt:lpstr>모델 검증 방법 (3/3)</vt:lpstr>
      <vt:lpstr>목차</vt:lpstr>
      <vt:lpstr>데이터 활용 (1/6) </vt:lpstr>
      <vt:lpstr>데이터 활용 (2/6) </vt:lpstr>
      <vt:lpstr>데이터 활용 (3/6) </vt:lpstr>
      <vt:lpstr>데이터 활용 (4/6) </vt:lpstr>
      <vt:lpstr>데이터 활용 (5/6) </vt:lpstr>
      <vt:lpstr>데이터 활용 (6/6) </vt:lpstr>
      <vt:lpstr>목차</vt:lpstr>
      <vt:lpstr>알고리즘 (1/7)</vt:lpstr>
      <vt:lpstr>알고리즘 (2/7)</vt:lpstr>
      <vt:lpstr>알고리즘 (3/7)</vt:lpstr>
      <vt:lpstr>알고리즘 (4/7)</vt:lpstr>
      <vt:lpstr>알고리즘 (5/7)</vt:lpstr>
      <vt:lpstr>알고리즘 (6/7)</vt:lpstr>
      <vt:lpstr>알고리즘 (7/7)</vt:lpstr>
      <vt:lpstr>목차</vt:lpstr>
      <vt:lpstr>모델 서빙 프로세스 제안 (1/3)</vt:lpstr>
      <vt:lpstr>모델 서빙 프로세스 제안 (2/3)</vt:lpstr>
      <vt:lpstr>모델 서빙 프로세스 제안 (3/3)</vt:lpstr>
      <vt:lpstr>PowerPoint 프레젠테이션</vt:lpstr>
    </vt:vector>
  </TitlesOfParts>
  <Company>2e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Charles</dc:creator>
  <cp:lastModifiedBy>현종열</cp:lastModifiedBy>
  <cp:revision>1019</cp:revision>
  <dcterms:created xsi:type="dcterms:W3CDTF">2007-08-16T05:20:03Z</dcterms:created>
  <dcterms:modified xsi:type="dcterms:W3CDTF">2025-03-27T14:33:53Z</dcterms:modified>
</cp:coreProperties>
</file>