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26"/>
  </p:notesMasterIdLst>
  <p:handoutMasterIdLst>
    <p:handoutMasterId r:id="rId27"/>
  </p:handoutMasterIdLst>
  <p:sldIdLst>
    <p:sldId id="301" r:id="rId7"/>
    <p:sldId id="379" r:id="rId8"/>
    <p:sldId id="337" r:id="rId9"/>
    <p:sldId id="374" r:id="rId10"/>
    <p:sldId id="375" r:id="rId11"/>
    <p:sldId id="377" r:id="rId12"/>
    <p:sldId id="376" r:id="rId13"/>
    <p:sldId id="378" r:id="rId14"/>
    <p:sldId id="384" r:id="rId15"/>
    <p:sldId id="380" r:id="rId16"/>
    <p:sldId id="373" r:id="rId17"/>
    <p:sldId id="385" r:id="rId18"/>
    <p:sldId id="372" r:id="rId19"/>
    <p:sldId id="381" r:id="rId20"/>
    <p:sldId id="366" r:id="rId21"/>
    <p:sldId id="368" r:id="rId22"/>
    <p:sldId id="369" r:id="rId23"/>
    <p:sldId id="370" r:id="rId24"/>
    <p:sldId id="382" r:id="rId25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1026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172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ACE6"/>
    <a:srgbClr val="FF7C80"/>
    <a:srgbClr val="FF0066"/>
    <a:srgbClr val="FF5050"/>
    <a:srgbClr val="FFCCCC"/>
    <a:srgbClr val="FFFFFF"/>
    <a:srgbClr val="FF9999"/>
    <a:srgbClr val="FF66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9157" autoAdjust="0"/>
  </p:normalViewPr>
  <p:slideViewPr>
    <p:cSldViewPr showGuides="1">
      <p:cViewPr>
        <p:scale>
          <a:sx n="75" d="100"/>
          <a:sy n="75" d="100"/>
        </p:scale>
        <p:origin x="3048" y="780"/>
      </p:cViewPr>
      <p:guideLst>
        <p:guide orient="horz" pos="2115"/>
        <p:guide orient="horz" pos="73"/>
        <p:guide orient="horz" pos="3974"/>
        <p:guide orient="horz" pos="1026"/>
        <p:guide orient="horz" pos="346"/>
        <p:guide orient="horz" pos="1162"/>
        <p:guide pos="3120"/>
        <p:guide pos="172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355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80" r:id="rId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>
              <a:lnSpc>
                <a:spcPct val="120000"/>
              </a:lnSpc>
            </a:pPr>
            <a:r>
              <a:rPr lang="ko-KR" altLang="en-US" dirty="0" smtClean="0"/>
              <a:t>데이터 탐색</a:t>
            </a:r>
            <a:r>
              <a:rPr lang="en-US" altLang="ko-KR" dirty="0" smtClean="0"/>
              <a:t>2</a:t>
            </a:r>
            <a:endParaRPr lang="ko-KR" alt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488215" y="4170566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2025.02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016896" y="2165945"/>
            <a:ext cx="5040560" cy="2768551"/>
          </a:xfrm>
        </p:spPr>
        <p:txBody>
          <a:bodyPr/>
          <a:lstStyle/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예측모델 성능 </a:t>
            </a:r>
            <a:r>
              <a:rPr lang="ko-KR" altLang="en-US" sz="1600" dirty="0"/>
              <a:t>진단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err="1"/>
              <a:t>케이스별</a:t>
            </a:r>
            <a:r>
              <a:rPr lang="ko-KR" altLang="en-US" sz="1600" dirty="0"/>
              <a:t> 유사도 점수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err="1" smtClean="0"/>
              <a:t>정답지의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길이가 점수 영향도 </a:t>
            </a:r>
            <a:r>
              <a:rPr lang="ko-KR" altLang="en-US" sz="1600" dirty="0" smtClean="0"/>
              <a:t>테스트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 err="1"/>
              <a:t>맺은말</a:t>
            </a:r>
            <a:r>
              <a:rPr lang="en-US" altLang="ko-KR" sz="1600" dirty="0"/>
              <a:t>/</a:t>
            </a:r>
            <a:r>
              <a:rPr lang="ko-KR" altLang="en-US" sz="1600" dirty="0"/>
              <a:t>어투 영향도 테스트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관련 없는 </a:t>
            </a:r>
            <a:r>
              <a:rPr lang="ko-KR" altLang="en-US" sz="1600" dirty="0"/>
              <a:t>단어가 들어가는 경우 </a:t>
            </a:r>
            <a:r>
              <a:rPr lang="ko-KR" altLang="en-US" sz="1600" dirty="0" smtClean="0"/>
              <a:t>영향도 </a:t>
            </a:r>
            <a:r>
              <a:rPr lang="ko-KR" altLang="en-US" sz="1600" dirty="0"/>
              <a:t>테스트</a:t>
            </a:r>
            <a:r>
              <a:rPr lang="ko-KR" altLang="en-US" sz="1600" dirty="0" smtClean="0"/>
              <a:t>  </a:t>
            </a:r>
            <a:endParaRPr lang="ko-KR" altLang="en-US" sz="1600" dirty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사고원인</a:t>
            </a:r>
            <a:r>
              <a:rPr lang="en-US" altLang="ko-KR" sz="1600" dirty="0"/>
              <a:t>(</a:t>
            </a:r>
            <a:r>
              <a:rPr lang="ko-KR" altLang="en-US" sz="1600" dirty="0"/>
              <a:t>보정</a:t>
            </a:r>
            <a:r>
              <a:rPr lang="en-US" altLang="ko-KR" sz="1600" dirty="0"/>
              <a:t>)</a:t>
            </a:r>
            <a:r>
              <a:rPr lang="ko-KR" altLang="en-US" sz="1600" dirty="0"/>
              <a:t>별 가장 높은 점수의 재발방지대책 스크립트 찾기 </a:t>
            </a:r>
            <a:endParaRPr lang="ko-KR" altLang="en-US" sz="1600" dirty="0" smtClean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944888" y="1628800"/>
            <a:ext cx="4032448" cy="274638"/>
          </a:xfrm>
        </p:spPr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939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예측모델</a:t>
            </a:r>
            <a:r>
              <a:rPr lang="en-US" altLang="ko-KR" dirty="0" smtClean="0"/>
              <a:t>(</a:t>
            </a:r>
            <a:r>
              <a:rPr lang="ko-KR" altLang="en-US" dirty="0" smtClean="0"/>
              <a:t>평균점수</a:t>
            </a:r>
            <a:r>
              <a:rPr lang="en-US" altLang="ko-KR" dirty="0" smtClean="0"/>
              <a:t>0.448)</a:t>
            </a:r>
            <a:r>
              <a:rPr lang="ko-KR" altLang="en-US" dirty="0" smtClean="0"/>
              <a:t> </a:t>
            </a:r>
            <a:r>
              <a:rPr lang="ko-KR" altLang="en-US" dirty="0" smtClean="0"/>
              <a:t>성능 진단 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pPr indent="0"/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[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안전교육 실시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], [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안전 점검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]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[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재발 방지 대책 마련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]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이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가지 일반적인 답변 반복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0"/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몇몇 케이스에서 이동통로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이중 결속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보호구 착용 등의 단어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특수한 케이스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를 언급하고 있지만 대부분 오답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0"/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특별한 단어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돌풍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절단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미흡 등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가 나오면 어떻게 대답하라라는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*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지시사항이 필요해 보임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ko-KR" b="0" dirty="0" smtClean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919258"/>
            <a:ext cx="7245382" cy="4389354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/>
        </p:nvSpPr>
        <p:spPr>
          <a:xfrm>
            <a:off x="6177136" y="2924944"/>
            <a:ext cx="2952328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점수가 낮기 때문에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성능 개선 여지 높음 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케이스별</a:t>
            </a:r>
            <a:r>
              <a:rPr lang="ko-KR" altLang="en-US" dirty="0" smtClean="0"/>
              <a:t> 유사도 점수 분석 </a:t>
            </a:r>
            <a:r>
              <a:rPr lang="en-US" altLang="ko-KR" dirty="0" smtClean="0"/>
              <a:t>(1/)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유사도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36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점은 두 문장이 의미상 서로 완전히 다른 의미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예측 전혀 하지 못한 케이스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rgbClr val="FF0000"/>
                </a:solidFill>
              </a:rPr>
              <a:t>고속절단기</a:t>
            </a:r>
            <a:r>
              <a:rPr lang="ko-KR" altLang="en-US" sz="1200" dirty="0">
                <a:solidFill>
                  <a:schemeClr val="tx1"/>
                </a:solidFill>
              </a:rPr>
              <a:t> 날의 회전이 완전히 멈춘 후 </a:t>
            </a:r>
            <a:r>
              <a:rPr lang="ko-KR" altLang="en-US" sz="1200" dirty="0">
                <a:solidFill>
                  <a:srgbClr val="FF0000"/>
                </a:solidFill>
              </a:rPr>
              <a:t>목재</a:t>
            </a:r>
            <a:r>
              <a:rPr lang="ko-KR" altLang="en-US" sz="1200" dirty="0">
                <a:solidFill>
                  <a:schemeClr val="tx1"/>
                </a:solidFill>
              </a:rPr>
              <a:t>를 제거할 수 있도록 하는 </a:t>
            </a:r>
            <a:r>
              <a:rPr lang="ko-KR" altLang="en-US" sz="1200" dirty="0">
                <a:solidFill>
                  <a:srgbClr val="00B050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이동통로</a:t>
            </a:r>
            <a:r>
              <a:rPr lang="ko-KR" altLang="en-US" sz="1200" dirty="0">
                <a:solidFill>
                  <a:schemeClr val="tx1"/>
                </a:solidFill>
              </a:rPr>
              <a:t> 확보 관리와 작업 전 </a:t>
            </a:r>
            <a:r>
              <a:rPr lang="ko-KR" altLang="en-US" sz="1200" dirty="0">
                <a:solidFill>
                  <a:srgbClr val="00B050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철저 및 정기적 근로자 </a:t>
            </a:r>
            <a:r>
              <a:rPr lang="ko-KR" altLang="en-US" sz="1200" dirty="0">
                <a:solidFill>
                  <a:srgbClr val="00B050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시행을 통한 재발 방지 대책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6465168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5457056" y="4149080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꺾인 연결선 12"/>
          <p:cNvCxnSpPr>
            <a:endCxn id="10" idx="4"/>
          </p:cNvCxnSpPr>
          <p:nvPr/>
        </p:nvCxnSpPr>
        <p:spPr>
          <a:xfrm rot="5400000" flipH="1" flipV="1">
            <a:off x="5601072" y="2924944"/>
            <a:ext cx="1440160" cy="100811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36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466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케이스별</a:t>
            </a:r>
            <a:r>
              <a:rPr lang="ko-KR" altLang="en-US" dirty="0"/>
              <a:t> 유사도 점수 분석 </a:t>
            </a:r>
            <a:r>
              <a:rPr lang="en-US" altLang="ko-KR" dirty="0" smtClean="0"/>
              <a:t>(2/)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너무 많은 정보를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추가로 제공해도 마이너스 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작업전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철저와 작업중 위험요인 파악 및 제거를 통한 재발 방지 대책 및 향후 조치 계획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4232635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꺾인 연결선 12"/>
          <p:cNvCxnSpPr>
            <a:stCxn id="12" idx="0"/>
            <a:endCxn id="10" idx="4"/>
          </p:cNvCxnSpPr>
          <p:nvPr/>
        </p:nvCxnSpPr>
        <p:spPr>
          <a:xfrm rot="5400000" flipH="1" flipV="1">
            <a:off x="2828621" y="2385027"/>
            <a:ext cx="1440160" cy="208794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2144688" y="4149080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53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176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케이스별</a:t>
            </a:r>
            <a:r>
              <a:rPr lang="ko-KR" altLang="en-US" dirty="0"/>
              <a:t> 유사도 점수 분석 </a:t>
            </a:r>
            <a:r>
              <a:rPr lang="en-US" altLang="ko-KR" dirty="0" smtClean="0"/>
              <a:t>(3/)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dirty="0" smtClean="0">
                <a:solidFill>
                  <a:srgbClr val="7030A0"/>
                </a:solidFill>
              </a:rPr>
              <a:t>필수 단어만 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예측값에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포함되어 있어도 고득점 가능 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작업자 근로자 </a:t>
            </a:r>
            <a:r>
              <a:rPr lang="ko-KR" altLang="en-US" sz="1200" dirty="0" smtClean="0">
                <a:solidFill>
                  <a:srgbClr val="FF0000"/>
                </a:solidFill>
              </a:rPr>
              <a:t>이동통로</a:t>
            </a:r>
            <a:r>
              <a:rPr lang="ko-KR" altLang="en-US" sz="1200" dirty="0" smtClean="0">
                <a:solidFill>
                  <a:schemeClr val="tx1"/>
                </a:solidFill>
              </a:rPr>
              <a:t> 에서 </a:t>
            </a:r>
            <a:r>
              <a:rPr lang="ko-KR" altLang="en-US" sz="1200" dirty="0" err="1">
                <a:solidFill>
                  <a:schemeClr val="tx1"/>
                </a:solidFill>
              </a:rPr>
              <a:t>이동방법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accent4"/>
                </a:solidFill>
              </a:rPr>
              <a:t>교육</a:t>
            </a:r>
            <a:r>
              <a:rPr lang="ko-KR" altLang="en-US" sz="1200" dirty="0">
                <a:solidFill>
                  <a:schemeClr val="tx1"/>
                </a:solidFill>
              </a:rPr>
              <a:t>과 </a:t>
            </a:r>
            <a:r>
              <a:rPr lang="ko-KR" altLang="en-US" sz="1200" dirty="0">
                <a:solidFill>
                  <a:schemeClr val="accent4"/>
                </a:solidFill>
              </a:rPr>
              <a:t>안전</a:t>
            </a:r>
            <a:r>
              <a:rPr lang="ko-KR" altLang="en-US" sz="1200" dirty="0">
                <a:solidFill>
                  <a:schemeClr val="tx1"/>
                </a:solidFill>
              </a:rPr>
              <a:t>관리 철저 지시를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 마련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작업전</a:t>
            </a:r>
            <a:r>
              <a:rPr lang="ko-KR" altLang="en-US" sz="1200" dirty="0">
                <a:solidFill>
                  <a:schemeClr val="tx1"/>
                </a:solidFill>
              </a:rPr>
              <a:t> 작업자 </a:t>
            </a:r>
            <a:r>
              <a:rPr lang="ko-KR" altLang="en-US" sz="1200" dirty="0">
                <a:solidFill>
                  <a:schemeClr val="accent4"/>
                </a:solidFill>
              </a:rPr>
              <a:t>안전교육 </a:t>
            </a:r>
            <a:r>
              <a:rPr lang="ko-KR" altLang="en-US" sz="1200" dirty="0">
                <a:solidFill>
                  <a:schemeClr val="tx1"/>
                </a:solidFill>
              </a:rPr>
              <a:t>강화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안전수칙 준수 특별안전교육 실시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</a:rPr>
              <a:t>작업지휘자</a:t>
            </a:r>
            <a:r>
              <a:rPr lang="ko-KR" altLang="en-US" sz="1200" dirty="0">
                <a:solidFill>
                  <a:schemeClr val="tx1"/>
                </a:solidFill>
              </a:rPr>
              <a:t> 관리감독 철저에 대한</a:t>
            </a:r>
            <a:r>
              <a:rPr lang="ko-KR" altLang="en-US" sz="1200" dirty="0">
                <a:solidFill>
                  <a:schemeClr val="accent4"/>
                </a:solidFill>
              </a:rPr>
              <a:t> 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대책과 향후 조치 계획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77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이등변 삼각형 3"/>
          <p:cNvSpPr/>
          <p:nvPr/>
        </p:nvSpPr>
        <p:spPr>
          <a:xfrm>
            <a:off x="4056952" y="1852280"/>
            <a:ext cx="1184080" cy="100065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이등변 삼각형 15"/>
          <p:cNvSpPr/>
          <p:nvPr/>
        </p:nvSpPr>
        <p:spPr>
          <a:xfrm>
            <a:off x="1394395" y="3504736"/>
            <a:ext cx="1184080" cy="100065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구부러진 연결선 14"/>
          <p:cNvCxnSpPr>
            <a:stCxn id="16" idx="5"/>
            <a:endCxn id="2" idx="2"/>
          </p:cNvCxnSpPr>
          <p:nvPr/>
        </p:nvCxnSpPr>
        <p:spPr>
          <a:xfrm flipV="1">
            <a:off x="2282455" y="2852936"/>
            <a:ext cx="2490525" cy="1152128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87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케이스별</a:t>
            </a:r>
            <a:r>
              <a:rPr lang="ko-KR" altLang="en-US" dirty="0"/>
              <a:t> 유사도 점수 분석 </a:t>
            </a:r>
            <a:r>
              <a:rPr lang="en-US" altLang="ko-KR" dirty="0" smtClean="0"/>
              <a:t>(4/)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일반적인 케이스의 재발방지대책 스크립트는 유사도 점수가 높음 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실시와 현장 내 작업지시사항 철저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안전관리 교육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안전위험요소 제거 점검 및 대책 강구를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4412940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674315" y="40770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83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8121352" y="40770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5529064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1458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정답지의</a:t>
            </a:r>
            <a:r>
              <a:rPr lang="ko-KR" altLang="en-US" dirty="0"/>
              <a:t> 길이가 점수 영향도 테스트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err="1"/>
              <a:t>핵심단어는</a:t>
            </a:r>
            <a:r>
              <a:rPr lang="ko-KR" altLang="en-US" b="0" dirty="0"/>
              <a:t> 모두 들어가 있는데 </a:t>
            </a:r>
            <a:r>
              <a:rPr lang="ko-KR" altLang="en-US" b="0" dirty="0" err="1"/>
              <a:t>문장길이에</a:t>
            </a:r>
            <a:r>
              <a:rPr lang="ko-KR" altLang="en-US" b="0" dirty="0"/>
              <a:t> 따라서 </a:t>
            </a:r>
            <a:r>
              <a:rPr lang="ko-KR" altLang="en-US" b="0" dirty="0" smtClean="0"/>
              <a:t>점수가 </a:t>
            </a:r>
            <a:r>
              <a:rPr lang="ko-KR" altLang="en-US" b="0" dirty="0"/>
              <a:t>달라지는지 </a:t>
            </a:r>
            <a:r>
              <a:rPr lang="ko-KR" altLang="en-US" b="0" dirty="0" smtClean="0"/>
              <a:t>확인하기 </a:t>
            </a:r>
            <a:r>
              <a:rPr lang="en-US" altLang="ko-KR" b="0" dirty="0" smtClean="0"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olidFill>
                  <a:srgbClr val="FF0000"/>
                </a:solidFill>
                <a:sym typeface="Wingdings" panose="05000000000000000000" pitchFamily="2" charset="2"/>
              </a:rPr>
              <a:t>영향도 있음 </a:t>
            </a:r>
            <a:r>
              <a:rPr lang="ko-KR" altLang="en-US" b="0" dirty="0" smtClean="0">
                <a:solidFill>
                  <a:srgbClr val="FF0000"/>
                </a:solidFill>
              </a:rPr>
              <a:t> </a:t>
            </a:r>
            <a:endParaRPr lang="en-US" altLang="ko-KR" b="0" dirty="0" smtClean="0">
              <a:solidFill>
                <a:srgbClr val="FF0000"/>
              </a:solidFill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560512" y="163986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2651566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실시와 현장 내 작업지시사항 철저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안전관리 교육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안전위험요소 제거 점검 및 대책 강구를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512" y="1268760"/>
            <a:ext cx="1560042" cy="294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(26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0512" y="2271681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 (74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560512" y="3672773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으로 </a:t>
            </a:r>
            <a:r>
              <a:rPr lang="ko-KR" altLang="en-US" sz="1200" dirty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0512" y="3292888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 (30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60512" y="467809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조치와 체계적인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통해 </a:t>
            </a:r>
            <a:r>
              <a:rPr lang="ko-KR" altLang="en-US" sz="1200" dirty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0512" y="4298209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 (50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60512" y="5734942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철저한 현장 안전 조치와 실효성 있는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시행하여 사고를 예방하고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en-US" altLang="ko-KR" sz="1200" dirty="0">
                <a:solidFill>
                  <a:schemeClr val="accent4"/>
                </a:solidFill>
              </a:rPr>
              <a:t> </a:t>
            </a:r>
            <a:r>
              <a:rPr lang="ko-KR" altLang="en-US" sz="1200" dirty="0">
                <a:solidFill>
                  <a:schemeClr val="accent4"/>
                </a:solidFill>
              </a:rPr>
              <a:t>재발방지를 </a:t>
            </a:r>
            <a:r>
              <a:rPr lang="ko-KR" altLang="en-US" sz="1200" dirty="0">
                <a:solidFill>
                  <a:schemeClr val="tx1"/>
                </a:solidFill>
              </a:rPr>
              <a:t>위한 지속적인 관리 체계를 구축한다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0512" y="5337756"/>
            <a:ext cx="1838965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 (100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8193360" y="2615842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83</a:t>
            </a:r>
            <a:r>
              <a:rPr lang="ko-KR" altLang="en-US" dirty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8193360" y="3657339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95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8193360" y="4688609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94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193360" y="5719715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76.84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052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맺은말</a:t>
            </a:r>
            <a:r>
              <a:rPr lang="en-US" altLang="ko-KR" dirty="0"/>
              <a:t>/</a:t>
            </a:r>
            <a:r>
              <a:rPr lang="ko-KR" altLang="en-US" dirty="0"/>
              <a:t>어투 영향도 테스트 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/>
              <a:t>습니다</a:t>
            </a:r>
            <a:r>
              <a:rPr lang="en-US" altLang="ko-KR" b="0" dirty="0"/>
              <a:t>. </a:t>
            </a:r>
            <a:r>
              <a:rPr lang="ko-KR" altLang="en-US" b="0" dirty="0"/>
              <a:t>합니다</a:t>
            </a:r>
            <a:r>
              <a:rPr lang="en-US" altLang="ko-KR" b="0" dirty="0"/>
              <a:t>. </a:t>
            </a:r>
            <a:r>
              <a:rPr lang="ko-KR" altLang="en-US" b="0" dirty="0"/>
              <a:t>로 끝나는게 점수에 영향이 있는지 </a:t>
            </a:r>
            <a:r>
              <a:rPr lang="ko-KR" altLang="en-US" b="0" dirty="0" smtClean="0"/>
              <a:t>테스트 </a:t>
            </a:r>
            <a:r>
              <a:rPr lang="en-US" altLang="ko-KR" b="0" dirty="0" smtClean="0"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olidFill>
                  <a:srgbClr val="FF0000"/>
                </a:solidFill>
                <a:sym typeface="Wingdings" panose="05000000000000000000" pitchFamily="2" charset="2"/>
              </a:rPr>
              <a:t>영향도 있음</a:t>
            </a:r>
            <a:r>
              <a:rPr lang="ko-KR" altLang="en-US" b="0" dirty="0" smtClean="0">
                <a:solidFill>
                  <a:srgbClr val="FF0000"/>
                </a:solidFill>
              </a:rPr>
              <a:t> </a:t>
            </a:r>
            <a:endParaRPr lang="en-US" altLang="ko-KR" b="0" dirty="0" smtClean="0">
              <a:solidFill>
                <a:srgbClr val="FF0000"/>
              </a:solidFill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60512" y="163986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0512" y="1268760"/>
            <a:ext cx="1560042" cy="294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(26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560512" y="2872781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으로 </a:t>
            </a:r>
            <a:r>
              <a:rPr lang="ko-KR" altLang="en-US" sz="1200" dirty="0" err="1" smtClean="0">
                <a:solidFill>
                  <a:schemeClr val="accent4"/>
                </a:solidFill>
              </a:rPr>
              <a:t>재발방지합니다</a:t>
            </a:r>
            <a:r>
              <a:rPr lang="en-US" altLang="ko-KR" sz="1200" dirty="0" smtClean="0">
                <a:solidFill>
                  <a:schemeClr val="accent4"/>
                </a:solidFill>
              </a:rPr>
              <a:t>. 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0512" y="2492896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 (30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560512" y="4150766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조치와 체계적인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통해 </a:t>
            </a:r>
            <a:r>
              <a:rPr lang="ko-KR" altLang="en-US" sz="1200" dirty="0" err="1" smtClean="0">
                <a:solidFill>
                  <a:schemeClr val="accent4"/>
                </a:solidFill>
              </a:rPr>
              <a:t>재발방지</a:t>
            </a:r>
            <a:r>
              <a:rPr lang="ko-KR" altLang="en-US" sz="1200" dirty="0" err="1">
                <a:solidFill>
                  <a:schemeClr val="accent4"/>
                </a:solidFill>
              </a:rPr>
              <a:t>합니다</a:t>
            </a:r>
            <a:r>
              <a:rPr lang="en-US" altLang="ko-KR" sz="1200" dirty="0" smtClean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0512" y="3770881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 (50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193360" y="2857347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95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 smtClean="0">
                <a:solidFill>
                  <a:schemeClr val="tx1"/>
                </a:solidFill>
              </a:rPr>
              <a:t>93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8193360" y="4161281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94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 smtClean="0">
                <a:solidFill>
                  <a:schemeClr val="tx1"/>
                </a:solidFill>
              </a:rPr>
              <a:t>92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566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관련 없는 단어가 들어가는 경우 </a:t>
            </a:r>
            <a:r>
              <a:rPr lang="ko-KR" altLang="en-US" dirty="0" smtClean="0"/>
              <a:t>영향도 테스트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/>
              <a:t>습니다</a:t>
            </a:r>
            <a:r>
              <a:rPr lang="en-US" altLang="ko-KR" b="0" dirty="0"/>
              <a:t>. </a:t>
            </a:r>
            <a:r>
              <a:rPr lang="ko-KR" altLang="en-US" b="0" dirty="0"/>
              <a:t>합니다</a:t>
            </a:r>
            <a:r>
              <a:rPr lang="en-US" altLang="ko-KR" b="0" dirty="0"/>
              <a:t>. </a:t>
            </a:r>
            <a:r>
              <a:rPr lang="ko-KR" altLang="en-US" b="0" dirty="0"/>
              <a:t>로 끝나는게 점수에 영향이 있는지 </a:t>
            </a:r>
            <a:r>
              <a:rPr lang="ko-KR" altLang="en-US" b="0" dirty="0" smtClean="0"/>
              <a:t>테스트 </a:t>
            </a:r>
            <a:r>
              <a:rPr lang="en-US" altLang="ko-KR" b="0" dirty="0" smtClean="0"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olidFill>
                  <a:srgbClr val="FF0000"/>
                </a:solidFill>
                <a:sym typeface="Wingdings" panose="05000000000000000000" pitchFamily="2" charset="2"/>
              </a:rPr>
              <a:t>영향도 있음</a:t>
            </a:r>
            <a:r>
              <a:rPr lang="ko-KR" altLang="en-US" b="0" dirty="0" smtClean="0">
                <a:solidFill>
                  <a:srgbClr val="FF0000"/>
                </a:solidFill>
              </a:rPr>
              <a:t> </a:t>
            </a:r>
            <a:endParaRPr lang="en-US" altLang="ko-KR" b="0" dirty="0" smtClean="0">
              <a:solidFill>
                <a:srgbClr val="FF0000"/>
              </a:solidFill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60512" y="163986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0512" y="1268760"/>
            <a:ext cx="1560042" cy="294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(26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560512" y="2872781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rgbClr val="FF0000"/>
                </a:solidFill>
              </a:rPr>
              <a:t>돌풍으로 사고발생</a:t>
            </a:r>
            <a:r>
              <a:rPr lang="en-US" altLang="ko-KR" sz="1200" dirty="0" smtClean="0">
                <a:solidFill>
                  <a:srgbClr val="FF0000"/>
                </a:solidFill>
              </a:rPr>
              <a:t>,</a:t>
            </a:r>
            <a:r>
              <a:rPr lang="ko-KR" altLang="en-US" sz="1200" dirty="0" smtClean="0">
                <a:solidFill>
                  <a:schemeClr val="tx1"/>
                </a:solidFill>
              </a:rPr>
              <a:t> 현장 </a:t>
            </a:r>
            <a:r>
              <a:rPr lang="ko-KR" altLang="en-US" sz="1200" dirty="0">
                <a:solidFill>
                  <a:schemeClr val="tx1"/>
                </a:solidFill>
              </a:rPr>
              <a:t>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으로 </a:t>
            </a:r>
            <a:r>
              <a:rPr lang="ko-KR" altLang="en-US" sz="1200" dirty="0" smtClean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 smtClean="0">
                <a:solidFill>
                  <a:schemeClr val="accent4"/>
                </a:solidFill>
              </a:rPr>
              <a:t>. 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0512" y="2492896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 (30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560512" y="4150766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rgbClr val="FF0000"/>
                </a:solidFill>
              </a:rPr>
              <a:t>작업자 미숙으로 사고발생</a:t>
            </a:r>
            <a:r>
              <a:rPr lang="en-US" altLang="ko-KR" sz="1200" dirty="0" smtClean="0">
                <a:solidFill>
                  <a:srgbClr val="FF0000"/>
                </a:solidFill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</a:rPr>
              <a:t>현장 </a:t>
            </a:r>
            <a:r>
              <a:rPr lang="ko-KR" altLang="en-US" sz="1200" dirty="0">
                <a:solidFill>
                  <a:schemeClr val="tx1"/>
                </a:solidFill>
              </a:rPr>
              <a:t>안전 조치와 체계적인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통해 </a:t>
            </a:r>
            <a:r>
              <a:rPr lang="ko-KR" altLang="en-US" sz="1200" dirty="0" smtClean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 smtClean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0512" y="3770881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 (50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193360" y="2857347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95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71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8193360" y="4161281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94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 smtClean="0">
                <a:solidFill>
                  <a:schemeClr val="tx1"/>
                </a:solidFill>
              </a:rPr>
              <a:t>81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646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129984" cy="242863"/>
          </a:xfrm>
        </p:spPr>
        <p:txBody>
          <a:bodyPr/>
          <a:lstStyle/>
          <a:p>
            <a:r>
              <a:rPr lang="ko-KR" altLang="en-US" dirty="0"/>
              <a:t>사고원인</a:t>
            </a:r>
            <a:r>
              <a:rPr lang="en-US" altLang="ko-KR" dirty="0"/>
              <a:t>(</a:t>
            </a:r>
            <a:r>
              <a:rPr lang="ko-KR" altLang="en-US" dirty="0"/>
              <a:t>보정</a:t>
            </a:r>
            <a:r>
              <a:rPr lang="en-US" altLang="ko-KR" dirty="0"/>
              <a:t>)</a:t>
            </a:r>
            <a:r>
              <a:rPr lang="ko-KR" altLang="en-US" dirty="0"/>
              <a:t>별 가장 높은 점수의 재발방지대책 스크립트 찾기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## [</a:t>
            </a:r>
            <a:r>
              <a:rPr lang="ko-KR" altLang="en-US" b="0" dirty="0"/>
              <a:t>예시</a:t>
            </a:r>
            <a:r>
              <a:rPr lang="en-US" altLang="ko-KR" b="0" dirty="0"/>
              <a:t>1] </a:t>
            </a:r>
            <a:r>
              <a:rPr lang="ko-KR" altLang="en-US" b="0" dirty="0"/>
              <a:t>사고원인</a:t>
            </a:r>
            <a:r>
              <a:rPr lang="en-US" altLang="ko-KR" b="0" dirty="0"/>
              <a:t>+</a:t>
            </a:r>
            <a:r>
              <a:rPr lang="ko-KR" altLang="en-US" b="0" dirty="0"/>
              <a:t>날씨</a:t>
            </a:r>
            <a:r>
              <a:rPr lang="en-US" altLang="ko-KR" b="0" dirty="0"/>
              <a:t>(</a:t>
            </a:r>
            <a:r>
              <a:rPr lang="ko-KR" altLang="en-US" b="0" dirty="0"/>
              <a:t>결빙</a:t>
            </a:r>
            <a:r>
              <a:rPr lang="en-US" altLang="ko-KR" b="0" dirty="0"/>
              <a:t>) </a:t>
            </a:r>
            <a:r>
              <a:rPr lang="ko-KR" altLang="en-US" b="0" dirty="0"/>
              <a:t>조건에 가장 </a:t>
            </a:r>
            <a:r>
              <a:rPr lang="ko-KR" altLang="en-US" b="0" dirty="0" err="1"/>
              <a:t>높은점수의</a:t>
            </a:r>
            <a:r>
              <a:rPr lang="ko-KR" altLang="en-US" b="0" dirty="0"/>
              <a:t> 재발방지대책 스크립트</a:t>
            </a:r>
            <a:endParaRPr lang="en-US" altLang="ko-KR" b="0" dirty="0" smtClean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484784"/>
            <a:ext cx="9110207" cy="4735074"/>
          </a:xfrm>
          <a:prstGeom prst="rect">
            <a:avLst/>
          </a:prstGeom>
        </p:spPr>
      </p:pic>
      <p:sp>
        <p:nvSpPr>
          <p:cNvPr id="22" name="타원 21"/>
          <p:cNvSpPr/>
          <p:nvPr/>
        </p:nvSpPr>
        <p:spPr>
          <a:xfrm>
            <a:off x="8121352" y="377825"/>
            <a:ext cx="1296144" cy="1296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작업 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0338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129984" cy="242863"/>
          </a:xfrm>
        </p:spPr>
        <p:txBody>
          <a:bodyPr/>
          <a:lstStyle/>
          <a:p>
            <a:r>
              <a:rPr lang="ko-KR" altLang="en-US" dirty="0" smtClean="0"/>
              <a:t>종합</a:t>
            </a:r>
            <a:endParaRPr lang="ko-KR" altLang="en-US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272480" y="1124744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사고원인으로만 예측 불가능한 케이스 존재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72480" y="2708920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TRAIN, TEST </a:t>
            </a:r>
            <a:r>
              <a:rPr lang="ko-KR" altLang="en-US" dirty="0" smtClean="0">
                <a:solidFill>
                  <a:schemeClr val="tx1"/>
                </a:solidFill>
              </a:rPr>
              <a:t>데이터 분포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카테고리 변수 빈도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r>
              <a:rPr lang="ko-KR" altLang="en-US" dirty="0" smtClean="0">
                <a:solidFill>
                  <a:schemeClr val="tx1"/>
                </a:solidFill>
              </a:rPr>
              <a:t> 다름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272480" y="3501008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TEST</a:t>
            </a:r>
            <a:r>
              <a:rPr lang="ko-KR" altLang="en-US" dirty="0" smtClean="0">
                <a:solidFill>
                  <a:schemeClr val="tx1"/>
                </a:solidFill>
              </a:rPr>
              <a:t>는 랜덤 </a:t>
            </a:r>
            <a:r>
              <a:rPr lang="ko-KR" altLang="en-US" dirty="0" err="1" smtClean="0">
                <a:solidFill>
                  <a:schemeClr val="tx1"/>
                </a:solidFill>
              </a:rPr>
              <a:t>층화</a:t>
            </a:r>
            <a:r>
              <a:rPr lang="ko-KR" altLang="en-US" dirty="0" smtClean="0">
                <a:solidFill>
                  <a:schemeClr val="tx1"/>
                </a:solidFill>
              </a:rPr>
              <a:t> 샘플링으로 추출된 </a:t>
            </a:r>
            <a:r>
              <a:rPr lang="ko-KR" altLang="en-US" dirty="0" err="1" smtClean="0">
                <a:solidFill>
                  <a:schemeClr val="tx1"/>
                </a:solidFill>
              </a:rPr>
              <a:t>데이터셋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272480" y="4293096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답변 길이 점수에 영향도 있음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272480" y="5080096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습니다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합니다</a:t>
            </a:r>
            <a:r>
              <a:rPr lang="en-US" altLang="ko-KR" dirty="0" smtClean="0">
                <a:solidFill>
                  <a:schemeClr val="tx1"/>
                </a:solidFill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</a:rPr>
              <a:t>로 </a:t>
            </a:r>
            <a:r>
              <a:rPr lang="ko-KR" altLang="en-US" dirty="0" err="1" smtClean="0">
                <a:solidFill>
                  <a:schemeClr val="tx1"/>
                </a:solidFill>
              </a:rPr>
              <a:t>맺은말은</a:t>
            </a:r>
            <a:r>
              <a:rPr lang="ko-KR" altLang="en-US" dirty="0" smtClean="0">
                <a:solidFill>
                  <a:schemeClr val="tx1"/>
                </a:solidFill>
              </a:rPr>
              <a:t> 점수에 마이너스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272480" y="1906656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데이터가 이상해서 예측이 불가능한 케이스도 존재 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최빈값으로</a:t>
            </a:r>
            <a:r>
              <a:rPr lang="ko-KR" altLang="en-US" dirty="0" smtClean="0">
                <a:solidFill>
                  <a:schemeClr val="tx1"/>
                </a:solidFill>
                <a:sym typeface="Wingdings" panose="05000000000000000000" pitchFamily="2" charset="2"/>
              </a:rPr>
              <a:t> 대체 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831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3152800" y="3356992"/>
            <a:ext cx="374441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40893" y="2628201"/>
            <a:ext cx="3368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탐색</a:t>
            </a:r>
            <a:r>
              <a:rPr lang="en-US" altLang="ko-KR" sz="3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 </a:t>
            </a:r>
            <a:r>
              <a:rPr lang="ko-KR" altLang="en-US" sz="3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자료</a:t>
            </a:r>
            <a:endParaRPr lang="ko-KR" altLang="en-US" sz="3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2805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(1/5)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재발방지대책에 수립되면서 과거 사고유형은 </a:t>
            </a:r>
            <a:r>
              <a:rPr lang="ko-KR" altLang="en-US" dirty="0" smtClean="0">
                <a:solidFill>
                  <a:srgbClr val="7030A0"/>
                </a:solidFill>
              </a:rPr>
              <a:t>시간이 지나면서 감소하는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경향을 보일 수 있습니다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또는 과거에는 발생 빈도가 낮았던 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사고유형이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dirty="0" smtClean="0">
                <a:solidFill>
                  <a:srgbClr val="7030A0"/>
                </a:solidFill>
              </a:rPr>
              <a:t>최근에 새롭게 증가할 </a:t>
            </a:r>
            <a:r>
              <a:rPr lang="ko-KR" altLang="en-US" dirty="0">
                <a:solidFill>
                  <a:srgbClr val="7030A0"/>
                </a:solidFill>
              </a:rPr>
              <a:t>수</a:t>
            </a:r>
            <a:r>
              <a:rPr lang="ko-KR" altLang="en-US" dirty="0" smtClean="0">
                <a:solidFill>
                  <a:srgbClr val="7030A0"/>
                </a:solidFill>
              </a:rPr>
              <a:t>도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있습니다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  <a:p>
            <a:r>
              <a:rPr lang="ko-KR" altLang="en-US" b="0" dirty="0" smtClean="0">
                <a:sym typeface="Wingdings" panose="05000000000000000000" pitchFamily="2" charset="2"/>
              </a:rPr>
              <a:t>본 데이터탐색을 통해</a:t>
            </a:r>
            <a:r>
              <a:rPr lang="en-US" altLang="ko-KR" b="0" dirty="0" smtClean="0">
                <a:sym typeface="Wingdings" panose="05000000000000000000" pitchFamily="2" charset="2"/>
              </a:rPr>
              <a:t> </a:t>
            </a:r>
            <a:r>
              <a:rPr lang="ko-KR" altLang="en-US" b="0" dirty="0" smtClean="0"/>
              <a:t>사고유형별 </a:t>
            </a:r>
            <a:r>
              <a:rPr lang="ko-KR" altLang="en-US" b="0" dirty="0" err="1" smtClean="0"/>
              <a:t>시계열</a:t>
            </a:r>
            <a:r>
              <a:rPr lang="ko-KR" altLang="en-US" b="0" dirty="0" smtClean="0"/>
              <a:t> 분석을 통해서 </a:t>
            </a:r>
            <a:r>
              <a:rPr lang="ko-KR" altLang="en-US" dirty="0" smtClean="0">
                <a:solidFill>
                  <a:srgbClr val="7030A0"/>
                </a:solidFill>
              </a:rPr>
              <a:t>최신 사고유형 </a:t>
            </a:r>
            <a:r>
              <a:rPr lang="ko-KR" altLang="en-US" dirty="0" err="1" smtClean="0">
                <a:solidFill>
                  <a:srgbClr val="7030A0"/>
                </a:solidFill>
              </a:rPr>
              <a:t>트랜드</a:t>
            </a:r>
            <a:r>
              <a:rPr lang="ko-KR" altLang="en-US" b="0" dirty="0" err="1" smtClean="0"/>
              <a:t>를</a:t>
            </a:r>
            <a:r>
              <a:rPr lang="ko-KR" altLang="en-US" b="0" dirty="0" smtClean="0"/>
              <a:t> 파악합니다</a:t>
            </a:r>
            <a:r>
              <a:rPr lang="en-US" altLang="ko-KR" b="0" dirty="0" smtClean="0"/>
              <a:t>. 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인적사고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유형별 건수</a:t>
              </a:r>
              <a:endParaRPr lang="ko-KR" altLang="en-US" sz="1600" b="1" spc="-1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미끄러짐</a:t>
              </a:r>
              <a:r>
                <a:rPr lang="en-US" altLang="ko-KR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 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4940330" y="1950414"/>
              <a:ext cx="4481310" cy="42868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Ins="72000" rtlCol="0" anchor="t"/>
            <a:lstStyle/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r>
                <a:rPr lang="ko-KR" altLang="en-US" sz="1200" spc="-5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인적사고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유형 중 가장 발생빈도가 높은 사고유형은 </a:t>
              </a: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r>
                <a:rPr lang="en-US" altLang="ko-KR" sz="1200" b="1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200" b="1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  [</a:t>
              </a:r>
              <a:r>
                <a:rPr lang="ko-KR" altLang="en-US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</a:rPr>
                <a:t>물체에 맞음</a:t>
              </a:r>
              <a:r>
                <a:rPr lang="en-US" altLang="ko-KR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endParaRPr lang="en-US" altLang="ko-KR" sz="1200" spc="-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미끄러짐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기타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물체에 걸림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미끄러져서 넘어지는 유형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물체에 걸림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기타로 넘어지는 유형을 </a:t>
              </a: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  </a:t>
              </a:r>
              <a:r>
                <a:rPr lang="ko-KR" altLang="en-US" sz="1200" b="1" spc="-50" dirty="0" smtClean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분리해서 </a:t>
              </a:r>
              <a:r>
                <a:rPr lang="ko-KR" altLang="en-US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데이터 </a:t>
              </a:r>
              <a:r>
                <a:rPr lang="ko-KR" altLang="en-US" sz="1200" b="1" spc="-50" dirty="0" smtClean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관리 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중 </a:t>
              </a: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넘어짐 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[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미끄러짐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], [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물체에 걸림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], [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기타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]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유형을 모두 합치면 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   </a:t>
              </a:r>
              <a:r>
                <a:rPr lang="ko-KR" altLang="en-US" sz="1200" b="1" spc="-50" dirty="0" smtClean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발생빈도가 </a:t>
              </a:r>
              <a:r>
                <a:rPr lang="ko-KR" altLang="en-US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가장 많은 </a:t>
              </a:r>
              <a:r>
                <a:rPr lang="ko-KR" altLang="en-US" sz="1200" b="1" spc="-50" dirty="0" err="1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인적사고</a:t>
              </a:r>
              <a:r>
                <a:rPr lang="ko-KR" altLang="en-US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유형이 됨  </a:t>
              </a:r>
              <a:endParaRPr lang="en-US" altLang="ko-KR" sz="1200" spc="-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1026" name="Picture 2" descr="https://www.kaggleusercontent.com/kf/224074685/eyJhbGciOiJkaXIiLCJlbmMiOiJBMTI4Q0JDLUhTMjU2In0..mQUVHzi1Hs-Qfp7QaFn6tw.q9ZFeiU105EdpyImd0M4Kr-EWBoNFUMiC9q9M54OytpbzNC-K0pARuajLJIn76ZjDHKHLTh1kslVa3Hnx5sTvHCONTX_6-cod8lidPiX2k9PrHJUVxXcz4sexdMPtVJgAc88eCEwiY6kCI3usrie0St8VqgIuv57N22K82JqdUK6hv43KTMynJ8oC8KFYnZImvUvuQG4tdyNnG5I3RzlOE6uB3ZakrmHl5qa0xB4BdKQOpWZJxZkYCyWjX2V1yjkrV3q2-4kEc5SXr3e6YbRhQSS1TOHTb0QoaOvO3cBTPMeN4wPw1e1HjqfLyltMrDViLZHYhXHCiHm5CMB2SVGo8MYOULdfJw782tcR_Wo7HsSVh5oqsj0eUSEx0O_ZAo6CfyWQ7rIiZi4RA3ik3EWQ8n8GvtTxrOUH6sEbILroD3x_UvsOK3EYVNaKdSPQ2HvsICXClbwYeVJUFU-DAoVeuZj77DpFugFeyh7I9wyV_RHjf5SSEXRHFSr2V5kkzrtLVzO3kRZtnyhTNFwhpNb8UCmHwRg1tEVnimGzvCS1O8mYjjZVeRdYzF3Ht_Ksgmy51x3C8HM_jbdnGFc3m4uasHcvvizFixNh3J50hlZJNzIE2s26-3XHgcDHnSxPNnu.MPsL3yqMlfAroCOCAsLLGg/__results___files/__results___62_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05" y="2341282"/>
            <a:ext cx="4242808" cy="397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280592" y="4869160"/>
            <a:ext cx="144016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417666" y="4869160"/>
            <a:ext cx="144016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2190502" y="4869160"/>
            <a:ext cx="144016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944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(2/5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넘어짐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미끄러짐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사고유형은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2019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년 과거에는 사고 발생빈도가 </a:t>
            </a:r>
            <a:r>
              <a:rPr lang="ko-KR" altLang="en-US" dirty="0" smtClean="0">
                <a:solidFill>
                  <a:srgbClr val="7030A0"/>
                </a:solidFill>
              </a:rPr>
              <a:t>월 </a:t>
            </a:r>
            <a:r>
              <a:rPr lang="en-US" altLang="ko-KR" dirty="0" smtClean="0">
                <a:solidFill>
                  <a:srgbClr val="7030A0"/>
                </a:solidFill>
              </a:rPr>
              <a:t>100</a:t>
            </a:r>
            <a:r>
              <a:rPr lang="ko-KR" altLang="en-US" dirty="0" smtClean="0">
                <a:solidFill>
                  <a:srgbClr val="7030A0"/>
                </a:solidFill>
              </a:rPr>
              <a:t>건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정도 발생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전체 사고유형 중 </a:t>
            </a:r>
            <a:r>
              <a:rPr lang="ko-KR" altLang="en-US" dirty="0" smtClean="0">
                <a:solidFill>
                  <a:srgbClr val="7030A0"/>
                </a:solidFill>
              </a:rPr>
              <a:t>순위</a:t>
            </a:r>
            <a:r>
              <a:rPr lang="en-US" altLang="ko-KR" dirty="0" smtClean="0">
                <a:solidFill>
                  <a:srgbClr val="7030A0"/>
                </a:solidFill>
              </a:rPr>
              <a:t>3</a:t>
            </a:r>
            <a:r>
              <a:rPr lang="ko-KR" altLang="en-US" dirty="0" smtClean="0">
                <a:solidFill>
                  <a:srgbClr val="7030A0"/>
                </a:solidFill>
              </a:rPr>
              <a:t>번째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2020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년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08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월을 이후로는 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사고빈도가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월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300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건인 </a:t>
            </a:r>
            <a:r>
              <a:rPr lang="ko-KR" altLang="en-US" dirty="0" smtClean="0">
                <a:solidFill>
                  <a:srgbClr val="7030A0"/>
                </a:solidFill>
              </a:rPr>
              <a:t>기존 </a:t>
            </a:r>
            <a:r>
              <a:rPr lang="en-US" altLang="ko-KR" dirty="0" smtClean="0">
                <a:solidFill>
                  <a:srgbClr val="7030A0"/>
                </a:solidFill>
              </a:rPr>
              <a:t>’19</a:t>
            </a:r>
            <a:r>
              <a:rPr lang="ko-KR" altLang="en-US" dirty="0" smtClean="0">
                <a:solidFill>
                  <a:srgbClr val="7030A0"/>
                </a:solidFill>
              </a:rPr>
              <a:t>년 </a:t>
            </a:r>
            <a:r>
              <a:rPr lang="en-US" altLang="ko-KR" dirty="0" smtClean="0">
                <a:solidFill>
                  <a:srgbClr val="7030A0"/>
                </a:solidFill>
              </a:rPr>
              <a:t>7</a:t>
            </a:r>
            <a:r>
              <a:rPr lang="ko-KR" altLang="en-US" dirty="0" smtClean="0">
                <a:solidFill>
                  <a:srgbClr val="7030A0"/>
                </a:solidFill>
              </a:rPr>
              <a:t>월 대비 </a:t>
            </a:r>
            <a:r>
              <a:rPr lang="en-US" altLang="ko-KR" dirty="0" smtClean="0">
                <a:solidFill>
                  <a:srgbClr val="7030A0"/>
                </a:solidFill>
              </a:rPr>
              <a:t>3</a:t>
            </a:r>
            <a:r>
              <a:rPr lang="ko-KR" altLang="en-US" dirty="0" smtClean="0">
                <a:solidFill>
                  <a:srgbClr val="7030A0"/>
                </a:solidFill>
              </a:rPr>
              <a:t>배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이상 증가하였음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최근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2023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년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12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월에는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700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건으로 </a:t>
            </a:r>
            <a:r>
              <a:rPr lang="ko-KR" altLang="en-US" dirty="0" smtClean="0">
                <a:solidFill>
                  <a:srgbClr val="7030A0"/>
                </a:solidFill>
              </a:rPr>
              <a:t>월 최고 건수를 갱신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함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altLang="ko-KR" b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미끄러짐</a:t>
              </a:r>
              <a:r>
                <a:rPr lang="en-US" altLang="ko-KR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 </a:t>
              </a:r>
              <a:endParaRPr lang="ko-KR" altLang="en-US" sz="1600" b="1" spc="-1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기타</a:t>
              </a:r>
              <a:r>
                <a:rPr lang="en-US" altLang="ko-KR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050" name="Picture 2" descr="https://www.kaggleusercontent.com/kf/224074685/eyJhbGciOiJkaXIiLCJlbmMiOiJBMTI4Q0JDLUhTMjU2In0..mQUVHzi1Hs-Qfp7QaFn6tw.q9ZFeiU105EdpyImd0M4Kr-EWBoNFUMiC9q9M54OytpbzNC-K0pARuajLJIn76ZjDHKHLTh1kslVa3Hnx5sTvHCONTX_6-cod8lidPiX2k9PrHJUVxXcz4sexdMPtVJgAc88eCEwiY6kCI3usrie0St8VqgIuv57N22K82JqdUK6hv43KTMynJ8oC8KFYnZImvUvuQG4tdyNnG5I3RzlOE6uB3ZakrmHl5qa0xB4BdKQOpWZJxZkYCyWjX2V1yjkrV3q2-4kEc5SXr3e6YbRhQSS1TOHTb0QoaOvO3cBTPMeN4wPw1e1HjqfLyltMrDViLZHYhXHCiHm5CMB2SVGo8MYOULdfJw782tcR_Wo7HsSVh5oqsj0eUSEx0O_ZAo6CfyWQ7rIiZi4RA3ik3EWQ8n8GvtTxrOUH6sEbILroD3x_UvsOK3EYVNaKdSPQ2HvsICXClbwYeVJUFU-DAoVeuZj77DpFugFeyh7I9wyV_RHjf5SSEXRHFSr2V5kkzrtLVzO3kRZtnyhTNFwhpNb8UCmHwRg1tEVnimGzvCS1O8mYjjZVeRdYzF3Ht_Ksgmy51x3C8HM_jbdnGFc3m4uasHcvvizFixNh3J50hlZJNzIE2s26-3XHgcDHnSxPNnu.MPsL3yqMlfAroCOCAsLLGg/__results___files/__results___64_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2379864"/>
            <a:ext cx="8674729" cy="387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직선 연결선 7"/>
          <p:cNvCxnSpPr/>
          <p:nvPr/>
        </p:nvCxnSpPr>
        <p:spPr>
          <a:xfrm>
            <a:off x="2360712" y="2636912"/>
            <a:ext cx="0" cy="302433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5313040" y="2564904"/>
            <a:ext cx="576064" cy="432048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360712" y="2852936"/>
            <a:ext cx="1553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‘20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년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9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월 이후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1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년 전 대비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3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배 증가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41190" y="2996952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월 </a:t>
            </a:r>
            <a:r>
              <a:rPr lang="ko-KR" altLang="en-US" sz="1200" b="1" dirty="0" err="1" smtClean="0">
                <a:solidFill>
                  <a:srgbClr val="7030A0"/>
                </a:solidFill>
                <a:latin typeface="+mn-ea"/>
                <a:ea typeface="+mn-ea"/>
              </a:rPr>
              <a:t>최고건수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 갱신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2360712" y="3429000"/>
            <a:ext cx="5760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H="1" flipV="1">
            <a:off x="5889104" y="2852936"/>
            <a:ext cx="216024" cy="230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20618" y="5085184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TRAIN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데이터와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TEST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데이터의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넘어짐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미끄러짐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발생빈도 분포가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상이함 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 flipH="1">
            <a:off x="6753200" y="5301208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647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(3/5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넘어짐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물체에 걸림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미끄러짐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과 </a:t>
            </a:r>
            <a:r>
              <a:rPr lang="ko-KR" altLang="en-US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다른 패턴 보임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기타</a:t>
              </a:r>
              <a:r>
                <a:rPr lang="en-US" altLang="ko-KR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 </a:t>
              </a:r>
              <a:endParaRPr lang="ko-KR" altLang="en-US" sz="1600" b="1" spc="-1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물체에 걸림</a:t>
              </a:r>
              <a:r>
                <a:rPr lang="en-US" altLang="ko-KR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1026" name="Picture 2" descr="https://www.kaggleusercontent.com/kf/224074685/eyJhbGciOiJkaXIiLCJlbmMiOiJBMTI4Q0JDLUhTMjU2In0..9gONLpq4VIQJXhUqFgfFiQ.pAkZpvauqF6aw3yHLUuIAzBdeEUGmD6EVV1_7b5f-LvZHEqs4HupYdW0myZLkaJBUKulpl98Yn46KqfCADq8zPgcNZcqWYSMsEcvTpnejNZcbLkW04_xtZFWHc1bOsQr6nZ7fPpDA83BC-83n0S5-lQ4uL2-uB_SvS1KhPr__tCR4XGH4ouk1FaHN4kpAOegICD9IDjggUZDKJVJhM5u5FC6VU0r0SJiDxaSS9MaTyS_Kn6FCYPDxNTb98zTETAE2iFO9Ak_1uz-RtfJ2r2nV4GdQn15EL0adJ1-NzdehhU57kgbSyLx-sOVGUoWZc3UrIltnCvATISXDXztwC1ngJ8krNjF9GL6aTZ7WZnbjqMJgoosk-A2gFCzfyYRF-q27s6hLVyLfDejklL3AhnTHAGTNeqoVZzki1xwVaRhIXA31DK5E1FaVl3ba-ExWungvejDu4q7e-XUoSQ5s2uxMEHvs182gtDBr3sl9y2V0xzg80y2Ohk6xXEXpkudt_A_lNpVPDVNUSQlzPdiNIXqHFNUd_nvISdiFrsLh9r-joopgqRvhTHo6mV85aSANzCY9pyJT2jfAhlGPGxfiHF6rRcppdaNboZdFyfdgETpcAkzn62druithdmu9Wr08LZN.d9jgUBaa05fE_J9zR7ljDA/__results___files/__results___64_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12" y="2396237"/>
            <a:ext cx="8546174" cy="3913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화살표 연결선 9"/>
          <p:cNvCxnSpPr/>
          <p:nvPr/>
        </p:nvCxnSpPr>
        <p:spPr>
          <a:xfrm>
            <a:off x="2295037" y="2850749"/>
            <a:ext cx="648072" cy="16561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20618" y="5085184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TRAIN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데이터와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TEST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데이터의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넘어짐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미끄러짐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발생빈도 분포가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상이함 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6753200" y="5301208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162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(4/5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넘어짐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기타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와 다른 패턴 보임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넘어짐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미끄러림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과 동일한 패턴 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17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물체에 걸림</a:t>
              </a: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</a:t>
              </a: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물체에 맞음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050" name="Picture 2" descr="https://www.kaggleusercontent.com/kf/224074685/eyJhbGciOiJkaXIiLCJlbmMiOiJBMTI4Q0JDLUhTMjU2In0..9gONLpq4VIQJXhUqFgfFiQ.pAkZpvauqF6aw3yHLUuIAzBdeEUGmD6EVV1_7b5f-LvZHEqs4HupYdW0myZLkaJBUKulpl98Yn46KqfCADq8zPgcNZcqWYSMsEcvTpnejNZcbLkW04_xtZFWHc1bOsQr6nZ7fPpDA83BC-83n0S5-lQ4uL2-uB_SvS1KhPr__tCR4XGH4ouk1FaHN4kpAOegICD9IDjggUZDKJVJhM5u5FC6VU0r0SJiDxaSS9MaTyS_Kn6FCYPDxNTb98zTETAE2iFO9Ak_1uz-RtfJ2r2nV4GdQn15EL0adJ1-NzdehhU57kgbSyLx-sOVGUoWZc3UrIltnCvATISXDXztwC1ngJ8krNjF9GL6aTZ7WZnbjqMJgoosk-A2gFCzfyYRF-q27s6hLVyLfDejklL3AhnTHAGTNeqoVZzki1xwVaRhIXA31DK5E1FaVl3ba-ExWungvejDu4q7e-XUoSQ5s2uxMEHvs182gtDBr3sl9y2V0xzg80y2Ohk6xXEXpkudt_A_lNpVPDVNUSQlzPdiNIXqHFNUd_nvISdiFrsLh9r-joopgqRvhTHo6mV85aSANzCY9pyJT2jfAhlGPGxfiHF6rRcppdaNboZdFyfdgETpcAkzn62druithdmu9Wr08LZN.d9jgUBaa05fE_J9zR7ljDA/__results___files/__results___64_1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88" y="2344122"/>
            <a:ext cx="9001000" cy="396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화살표 연결선 12"/>
          <p:cNvCxnSpPr/>
          <p:nvPr/>
        </p:nvCxnSpPr>
        <p:spPr>
          <a:xfrm flipV="1">
            <a:off x="1784648" y="3140968"/>
            <a:ext cx="2880320" cy="13681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20618" y="5085184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TRAIN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데이터와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TEST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데이터의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넘어짐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미끄러짐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발생빈도 분포가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상이함 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 flipH="1">
            <a:off x="6753200" y="5301208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568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(5/5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패턴 변화 없이 꾸준하게 사고 발생 중 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18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물체에 맞음</a:t>
              </a: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끼임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3074" name="Picture 2" descr="https://www.kaggleusercontent.com/kf/224074685/eyJhbGciOiJkaXIiLCJlbmMiOiJBMTI4Q0JDLUhTMjU2In0..9gONLpq4VIQJXhUqFgfFiQ.pAkZpvauqF6aw3yHLUuIAzBdeEUGmD6EVV1_7b5f-LvZHEqs4HupYdW0myZLkaJBUKulpl98Yn46KqfCADq8zPgcNZcqWYSMsEcvTpnejNZcbLkW04_xtZFWHc1bOsQr6nZ7fPpDA83BC-83n0S5-lQ4uL2-uB_SvS1KhPr__tCR4XGH4ouk1FaHN4kpAOegICD9IDjggUZDKJVJhM5u5FC6VU0r0SJiDxaSS9MaTyS_Kn6FCYPDxNTb98zTETAE2iFO9Ak_1uz-RtfJ2r2nV4GdQn15EL0adJ1-NzdehhU57kgbSyLx-sOVGUoWZc3UrIltnCvATISXDXztwC1ngJ8krNjF9GL6aTZ7WZnbjqMJgoosk-A2gFCzfyYRF-q27s6hLVyLfDejklL3AhnTHAGTNeqoVZzki1xwVaRhIXA31DK5E1FaVl3ba-ExWungvejDu4q7e-XUoSQ5s2uxMEHvs182gtDBr3sl9y2V0xzg80y2Ohk6xXEXpkudt_A_lNpVPDVNUSQlzPdiNIXqHFNUd_nvISdiFrsLh9r-joopgqRvhTHo6mV85aSANzCY9pyJT2jfAhlGPGxfiHF6rRcppdaNboZdFyfdgETpcAkzn62druithdmu9Wr08LZN.d9jgUBaa05fE_J9zR7ljDA/__results___files/__results___64_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15" y="2324230"/>
            <a:ext cx="8732565" cy="401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화살표 연결선 12"/>
          <p:cNvCxnSpPr/>
          <p:nvPr/>
        </p:nvCxnSpPr>
        <p:spPr>
          <a:xfrm flipV="1">
            <a:off x="1640632" y="3212976"/>
            <a:ext cx="3672408" cy="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20618" y="5085184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TRAIN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데이터와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TEST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데이터의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넘어짐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미끄러짐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발생빈도 분포가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상이함 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 flipH="1">
            <a:off x="6753200" y="5301208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481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카테고리 변수 중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TRAIN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에만 있는 속성값이 존재 </a:t>
            </a:r>
            <a:endParaRPr lang="en-US" altLang="ko-KR" b="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78" y="1412776"/>
            <a:ext cx="9054874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490347"/>
      </p:ext>
    </p:extLst>
  </p:cSld>
  <p:clrMapOvr>
    <a:masterClrMapping/>
  </p:clrMapOvr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19773</TotalTime>
  <Words>996</Words>
  <Application>Microsoft Office PowerPoint</Application>
  <PresentationFormat>A4 용지(210x297mm)</PresentationFormat>
  <Paragraphs>149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19</vt:i4>
      </vt:variant>
    </vt:vector>
  </HeadingPairs>
  <TitlesOfParts>
    <vt:vector size="36" baseType="lpstr">
      <vt:lpstr>-2002</vt:lpstr>
      <vt:lpstr>HY중고딕</vt:lpstr>
      <vt:lpstr>굴림</vt:lpstr>
      <vt:lpstr>나눔고딕</vt:lpstr>
      <vt:lpstr>나눔고딕 ExtraBold</vt:lpstr>
      <vt:lpstr>맑은 고딕</vt:lpstr>
      <vt:lpstr>-윤고딕320</vt:lpstr>
      <vt:lpstr>Arial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데이터 탐색2</vt:lpstr>
      <vt:lpstr>목차</vt:lpstr>
      <vt:lpstr>예측모델(평균점수0.448) 성능 진단  </vt:lpstr>
      <vt:lpstr>케이스별 유사도 점수 분석 (1/)</vt:lpstr>
      <vt:lpstr>케이스별 유사도 점수 분석 (2/)</vt:lpstr>
      <vt:lpstr>케이스별 유사도 점수 분석 (3/)</vt:lpstr>
      <vt:lpstr>케이스별 유사도 점수 분석 (4/)</vt:lpstr>
      <vt:lpstr>정답지의 길이가 점수 영향도 테스트</vt:lpstr>
      <vt:lpstr>맺은말/어투 영향도 테스트 </vt:lpstr>
      <vt:lpstr>관련 없는 단어가 들어가는 경우 영향도 테스트 </vt:lpstr>
      <vt:lpstr>사고원인(보정)별 가장 높은 점수의 재발방지대책 스크립트 찾기</vt:lpstr>
      <vt:lpstr>종합</vt:lpstr>
      <vt:lpstr>PowerPoint 프레젠테이션</vt:lpstr>
      <vt:lpstr>데이터 탐색 및 인사이트 도출 (1/5)</vt:lpstr>
      <vt:lpstr>데이터 탐색 및 인사이트 도출 (2/5)</vt:lpstr>
      <vt:lpstr>데이터 탐색 및 인사이트 도출 (3/5)</vt:lpstr>
      <vt:lpstr>데이터 탐색 및 인사이트 도출 (4/5)</vt:lpstr>
      <vt:lpstr>데이터 탐색 및 인사이트 도출 (5/5)</vt:lpstr>
      <vt:lpstr>데이터 탐색 및 인사이트 도출 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909</cp:revision>
  <dcterms:created xsi:type="dcterms:W3CDTF">2007-08-16T05:20:03Z</dcterms:created>
  <dcterms:modified xsi:type="dcterms:W3CDTF">2025-02-28T06:35:12Z</dcterms:modified>
</cp:coreProperties>
</file>