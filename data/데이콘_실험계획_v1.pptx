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  <p:sldMasterId id="2147483764" r:id="rId2"/>
    <p:sldMasterId id="2147483650" r:id="rId3"/>
    <p:sldMasterId id="2147483654" r:id="rId4"/>
    <p:sldMasterId id="2147483776" r:id="rId5"/>
    <p:sldMasterId id="2147483778" r:id="rId6"/>
  </p:sldMasterIdLst>
  <p:notesMasterIdLst>
    <p:notesMasterId r:id="rId19"/>
  </p:notesMasterIdLst>
  <p:handoutMasterIdLst>
    <p:handoutMasterId r:id="rId20"/>
  </p:handoutMasterIdLst>
  <p:sldIdLst>
    <p:sldId id="301" r:id="rId7"/>
    <p:sldId id="379" r:id="rId8"/>
    <p:sldId id="337" r:id="rId9"/>
    <p:sldId id="388" r:id="rId10"/>
    <p:sldId id="387" r:id="rId11"/>
    <p:sldId id="377" r:id="rId12"/>
    <p:sldId id="376" r:id="rId13"/>
    <p:sldId id="378" r:id="rId14"/>
    <p:sldId id="384" r:id="rId15"/>
    <p:sldId id="380" r:id="rId16"/>
    <p:sldId id="373" r:id="rId17"/>
    <p:sldId id="385" r:id="rId18"/>
  </p:sldIdLst>
  <p:sldSz cx="9906000" cy="6858000" type="A4"/>
  <p:notesSz cx="9866313" cy="67357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orient="horz" pos="73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orient="horz" pos="1026">
          <p15:clr>
            <a:srgbClr val="A4A3A4"/>
          </p15:clr>
        </p15:guide>
        <p15:guide id="5" orient="horz" pos="346">
          <p15:clr>
            <a:srgbClr val="A4A3A4"/>
          </p15:clr>
        </p15:guide>
        <p15:guide id="6" orient="horz" pos="1162">
          <p15:clr>
            <a:srgbClr val="A4A3A4"/>
          </p15:clr>
        </p15:guide>
        <p15:guide id="7" pos="3120">
          <p15:clr>
            <a:srgbClr val="A4A3A4"/>
          </p15:clr>
        </p15:guide>
        <p15:guide id="8" pos="172">
          <p15:clr>
            <a:srgbClr val="A4A3A4"/>
          </p15:clr>
        </p15:guide>
        <p15:guide id="9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>
          <p15:clr>
            <a:srgbClr val="A4A3A4"/>
          </p15:clr>
        </p15:guide>
        <p15:guide id="2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ACE6"/>
    <a:srgbClr val="FF7C80"/>
    <a:srgbClr val="FF0066"/>
    <a:srgbClr val="FF5050"/>
    <a:srgbClr val="FFCCCC"/>
    <a:srgbClr val="FFFFFF"/>
    <a:srgbClr val="FF9999"/>
    <a:srgbClr val="FF6600"/>
    <a:srgbClr val="FF99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18" autoAdjust="0"/>
    <p:restoredTop sz="99157" autoAdjust="0"/>
  </p:normalViewPr>
  <p:slideViewPr>
    <p:cSldViewPr showGuides="1">
      <p:cViewPr varScale="1">
        <p:scale>
          <a:sx n="107" d="100"/>
          <a:sy n="107" d="100"/>
        </p:scale>
        <p:origin x="2070" y="96"/>
      </p:cViewPr>
      <p:guideLst>
        <p:guide orient="horz" pos="2115"/>
        <p:guide orient="horz" pos="73"/>
        <p:guide orient="horz" pos="3974"/>
        <p:guide orient="horz" pos="1026"/>
        <p:guide orient="horz" pos="346"/>
        <p:guide orient="horz" pos="1162"/>
        <p:guide pos="3120"/>
        <p:guide pos="172"/>
        <p:guide pos="60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5" d="100"/>
          <a:sy n="95" d="100"/>
        </p:scale>
        <p:origin x="-1584" y="-96"/>
      </p:cViewPr>
      <p:guideLst>
        <p:guide orient="horz" pos="212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027DDD-4B85-49AE-9189-BA37F2EFF3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5121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08325" y="504825"/>
            <a:ext cx="3648075" cy="2525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59" y="3199567"/>
            <a:ext cx="7893996" cy="303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C089FE8-A1A6-49F2-B317-3775AAE829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94190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_표지(타이틀수정가능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656856" y="2903173"/>
            <a:ext cx="4839060" cy="1143000"/>
          </a:xfrm>
          <a:prstGeom prst="rect">
            <a:avLst/>
          </a:prstGeo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355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80" r:id="rId2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72880" y="1570038"/>
            <a:ext cx="34496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3076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72880" y="2172617"/>
            <a:ext cx="3887788" cy="312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30000"/>
        </a:lnSpc>
        <a:spcBef>
          <a:spcPct val="20000"/>
        </a:spcBef>
        <a:spcAft>
          <a:spcPct val="0"/>
        </a:spcAft>
        <a:buClrTx/>
        <a:buFont typeface="+mj-lt"/>
        <a:buAutoNum type="arabicPeriod"/>
        <a:defRPr kumimoji="1" sz="14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4">
            <a:lumMod val="75000"/>
          </a:schemeClr>
        </a:buClr>
        <a:buFont typeface="Wingdings" pitchFamily="2" charset="2"/>
        <a:buChar char="l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D35345"/>
        </a:buClr>
        <a:buFont typeface="Wingdings" pitchFamily="2" charset="2"/>
        <a:buChar char="§"/>
        <a:defRPr kumimoji="1" sz="1100" b="1">
          <a:solidFill>
            <a:srgbClr val="333333"/>
          </a:solidFill>
          <a:latin typeface="Verdana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HY중고딕" pitchFamily="18" charset="-127"/>
          <a:ea typeface="HY중고딕" pitchFamily="18" charset="-127"/>
        </a:defRPr>
      </a:lvl4pPr>
      <a:lvl5pPr marL="2209800" indent="-3810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6670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1242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5814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0386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그림 14" descr="tag.jpg"/>
          <p:cNvPicPr>
            <a:picLocks noChangeAspect="1"/>
          </p:cNvPicPr>
          <p:nvPr userDrawn="1"/>
        </p:nvPicPr>
        <p:blipFill>
          <a:blip r:embed="rId3" cstate="print"/>
          <a:srcRect l="28920"/>
          <a:stretch>
            <a:fillRect/>
          </a:stretch>
        </p:blipFill>
        <p:spPr bwMode="auto">
          <a:xfrm>
            <a:off x="0" y="6583363"/>
            <a:ext cx="9906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SzPct val="140000"/>
        <a:buChar char="•"/>
        <a:defRPr kumimoji="1" sz="1200">
          <a:solidFill>
            <a:srgbClr val="080808"/>
          </a:solidFill>
          <a:latin typeface="+mn-lt"/>
          <a:ea typeface="+mn-ea"/>
          <a:cs typeface="+mn-cs"/>
        </a:defRPr>
      </a:lvl1pPr>
      <a:lvl2pPr marL="1208088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1100">
          <a:solidFill>
            <a:srgbClr val="080808"/>
          </a:solidFill>
          <a:latin typeface="+mn-lt"/>
          <a:ea typeface="+mn-ea"/>
        </a:defRPr>
      </a:lvl2pPr>
      <a:lvl3pPr marL="1616075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1000">
          <a:solidFill>
            <a:srgbClr val="080808"/>
          </a:solidFill>
          <a:latin typeface="+mn-lt"/>
          <a:ea typeface="+mn-ea"/>
        </a:defRPr>
      </a:lvl3pPr>
      <a:lvl4pPr marL="202406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43205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8892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3464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8036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2608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>
              <a:lnSpc>
                <a:spcPct val="120000"/>
              </a:lnSpc>
            </a:pPr>
            <a:r>
              <a:rPr lang="ko-KR" altLang="en-US" dirty="0" smtClean="0"/>
              <a:t>실험 계획 </a:t>
            </a:r>
            <a:endParaRPr lang="ko-KR" altLang="en-US" sz="2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488215" y="4170566"/>
            <a:ext cx="99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dirty="0" smtClean="0">
                <a:latin typeface="나눔고딕" pitchFamily="50" charset="-127"/>
                <a:ea typeface="나눔고딕" pitchFamily="50" charset="-127"/>
              </a:rPr>
              <a:t>2025.02</a:t>
            </a:r>
            <a:endParaRPr lang="ko-KR" altLang="en-US" sz="1600" dirty="0"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776536" y="1052736"/>
            <a:ext cx="7920880" cy="5184576"/>
          </a:xfrm>
        </p:spPr>
        <p:txBody>
          <a:bodyPr/>
          <a:lstStyle/>
          <a:p>
            <a:pPr marL="400050" indent="-400050">
              <a:lnSpc>
                <a:spcPct val="150000"/>
              </a:lnSpc>
              <a:buAutoNum type="romanUcPeriod"/>
            </a:pPr>
            <a:r>
              <a:rPr lang="en-US" altLang="ko-KR" sz="1600" dirty="0" smtClean="0"/>
              <a:t>Valid1 </a:t>
            </a:r>
            <a:r>
              <a:rPr lang="ko-KR" altLang="en-US" sz="1600" dirty="0" smtClean="0"/>
              <a:t>데이터 소개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en-US" altLang="ko-KR" sz="1600" dirty="0" smtClean="0"/>
              <a:t>Valid2 </a:t>
            </a:r>
            <a:r>
              <a:rPr lang="ko-KR" altLang="en-US" sz="1600" dirty="0" smtClean="0"/>
              <a:t>데이터 소개 </a:t>
            </a:r>
            <a:r>
              <a:rPr lang="en-US" altLang="ko-KR" sz="1600" dirty="0" smtClean="0"/>
              <a:t>(</a:t>
            </a:r>
            <a:r>
              <a:rPr lang="ko-KR" altLang="en-US" sz="1600" dirty="0"/>
              <a:t>각 사고유형별 단문 중문 장문 </a:t>
            </a:r>
            <a:r>
              <a:rPr lang="ko-KR" altLang="en-US" sz="1600" dirty="0" err="1"/>
              <a:t>검증데이터</a:t>
            </a:r>
            <a:r>
              <a:rPr lang="en-US" altLang="ko-KR" sz="1600" dirty="0" smtClean="0"/>
              <a:t>2)</a:t>
            </a:r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en-US" altLang="ko-KR" sz="1600" dirty="0"/>
              <a:t>GROUP BY </a:t>
            </a:r>
            <a:r>
              <a:rPr lang="ko-KR" altLang="en-US" sz="1600" dirty="0" err="1"/>
              <a:t>사고원인별</a:t>
            </a:r>
            <a:r>
              <a:rPr lang="ko-KR" altLang="en-US" sz="1600" dirty="0"/>
              <a:t>  교집합</a:t>
            </a:r>
            <a:r>
              <a:rPr lang="en-US" altLang="ko-KR" sz="1600" dirty="0"/>
              <a:t>(</a:t>
            </a:r>
            <a:r>
              <a:rPr lang="ko-KR" altLang="en-US" sz="1600" dirty="0"/>
              <a:t>사고원인 </a:t>
            </a:r>
            <a:r>
              <a:rPr lang="ko-KR" altLang="en-US" sz="1600" dirty="0" err="1"/>
              <a:t>중요단어</a:t>
            </a:r>
            <a:r>
              <a:rPr lang="ko-KR" altLang="en-US" sz="1600" dirty="0"/>
              <a:t> </a:t>
            </a:r>
            <a:r>
              <a:rPr lang="en-US" altLang="ko-KR" sz="1600" dirty="0"/>
              <a:t>= </a:t>
            </a:r>
            <a:r>
              <a:rPr lang="ko-KR" altLang="en-US" sz="1600" dirty="0"/>
              <a:t>재발방지대책 </a:t>
            </a:r>
            <a:r>
              <a:rPr lang="ko-KR" altLang="en-US" sz="1600" dirty="0" err="1"/>
              <a:t>중요단어</a:t>
            </a:r>
            <a:r>
              <a:rPr lang="en-US" altLang="ko-KR" sz="1600" dirty="0"/>
              <a:t>)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/>
              <a:t>형용사 특수기호 사고사유에서 다 제거해보고 테스트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en-US" altLang="ko-KR" sz="1600" dirty="0" smtClean="0"/>
              <a:t>PDF </a:t>
            </a:r>
            <a:r>
              <a:rPr lang="ko-KR" altLang="en-US" sz="1600" dirty="0" smtClean="0"/>
              <a:t>파일로 </a:t>
            </a:r>
            <a:r>
              <a:rPr lang="ko-KR" altLang="en-US" sz="1600" dirty="0" err="1" smtClean="0"/>
              <a:t>파인튜닝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/>
              <a:t>도움이 되는 단어 사전도 </a:t>
            </a:r>
            <a:r>
              <a:rPr lang="ko-KR" altLang="en-US" sz="1600" dirty="0" smtClean="0"/>
              <a:t>만들기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/>
              <a:t>도움이 안되는 </a:t>
            </a:r>
            <a:r>
              <a:rPr lang="ko-KR" altLang="en-US" sz="1600" dirty="0" err="1"/>
              <a:t>단어모음</a:t>
            </a:r>
            <a:r>
              <a:rPr lang="ko-KR" altLang="en-US" sz="1600" dirty="0"/>
              <a:t> 사전 하나 </a:t>
            </a:r>
            <a:r>
              <a:rPr lang="ko-KR" altLang="en-US" sz="1600" dirty="0" smtClean="0"/>
              <a:t>만들기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프롬프트 개수 조절이 필요한가</a:t>
            </a:r>
            <a:r>
              <a:rPr lang="en-US" altLang="ko-KR" sz="1600" dirty="0" smtClean="0"/>
              <a:t>? </a:t>
            </a:r>
            <a:r>
              <a:rPr lang="ko-KR" altLang="en-US" sz="1600" dirty="0" smtClean="0"/>
              <a:t> </a:t>
            </a: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704528" y="332656"/>
            <a:ext cx="4032448" cy="648072"/>
          </a:xfrm>
        </p:spPr>
        <p:txBody>
          <a:bodyPr anchor="ctr"/>
          <a:lstStyle/>
          <a:p>
            <a:r>
              <a:rPr lang="ko-KR" altLang="en-US" sz="2400" dirty="0" smtClean="0"/>
              <a:t>목차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8939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9570144" cy="274638"/>
          </a:xfrm>
        </p:spPr>
        <p:txBody>
          <a:bodyPr/>
          <a:lstStyle/>
          <a:p>
            <a:r>
              <a:rPr lang="en-US" altLang="ko-KR" dirty="0"/>
              <a:t>GROUP BY </a:t>
            </a:r>
            <a:r>
              <a:rPr lang="ko-KR" altLang="en-US" dirty="0" err="1"/>
              <a:t>사고원인별</a:t>
            </a:r>
            <a:r>
              <a:rPr lang="ko-KR" altLang="en-US" dirty="0"/>
              <a:t>  교집합</a:t>
            </a:r>
            <a:r>
              <a:rPr lang="en-US" altLang="ko-KR" dirty="0"/>
              <a:t>(</a:t>
            </a:r>
            <a:r>
              <a:rPr lang="ko-KR" altLang="en-US" dirty="0"/>
              <a:t>사고원인 </a:t>
            </a:r>
            <a:r>
              <a:rPr lang="ko-KR" altLang="en-US" dirty="0" err="1"/>
              <a:t>중요단어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재발방지대책 </a:t>
            </a:r>
            <a:r>
              <a:rPr lang="ko-KR" altLang="en-US" dirty="0" err="1"/>
              <a:t>중요단어</a:t>
            </a:r>
            <a:r>
              <a:rPr lang="en-US" altLang="ko-KR" dirty="0"/>
              <a:t>) 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648073"/>
          </a:xfrm>
        </p:spPr>
        <p:txBody>
          <a:bodyPr/>
          <a:lstStyle/>
          <a:p>
            <a:r>
              <a:rPr lang="ko-KR" altLang="en-US" b="0" dirty="0" err="1"/>
              <a:t>실험명</a:t>
            </a:r>
            <a:r>
              <a:rPr lang="ko-KR" altLang="en-US" b="0" dirty="0"/>
              <a:t> </a:t>
            </a:r>
            <a:r>
              <a:rPr lang="en-US" altLang="ko-KR" b="0" dirty="0"/>
              <a:t>: OOO</a:t>
            </a:r>
          </a:p>
          <a:p>
            <a:r>
              <a:rPr lang="ko-KR" altLang="en-US" b="0" dirty="0" smtClean="0"/>
              <a:t>방법 </a:t>
            </a:r>
            <a:r>
              <a:rPr lang="en-US" altLang="ko-KR" b="0" dirty="0"/>
              <a:t>: </a:t>
            </a:r>
            <a:r>
              <a:rPr lang="en-US" altLang="ko-KR" b="0" dirty="0" smtClean="0"/>
              <a:t>OOO</a:t>
            </a:r>
            <a:endParaRPr lang="en-US" altLang="ko-KR" b="0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971932"/>
              </p:ext>
            </p:extLst>
          </p:nvPr>
        </p:nvGraphicFramePr>
        <p:xfrm>
          <a:off x="-2103784" y="1628800"/>
          <a:ext cx="6120680" cy="2592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15764">
                  <a:extLst>
                    <a:ext uri="{9D8B030D-6E8A-4147-A177-3AD203B41FA5}">
                      <a16:colId xmlns:a16="http://schemas.microsoft.com/office/drawing/2014/main" val="3672947605"/>
                    </a:ext>
                  </a:extLst>
                </a:gridCol>
                <a:gridCol w="423899">
                  <a:extLst>
                    <a:ext uri="{9D8B030D-6E8A-4147-A177-3AD203B41FA5}">
                      <a16:colId xmlns:a16="http://schemas.microsoft.com/office/drawing/2014/main" val="3296770614"/>
                    </a:ext>
                  </a:extLst>
                </a:gridCol>
                <a:gridCol w="3081017">
                  <a:extLst>
                    <a:ext uri="{9D8B030D-6E8A-4147-A177-3AD203B41FA5}">
                      <a16:colId xmlns:a16="http://schemas.microsoft.com/office/drawing/2014/main" val="4140659884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u="none" strike="noStrike">
                          <a:effectLst/>
                        </a:rPr>
                        <a:t>사고원인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count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u="none" strike="noStrike" dirty="0">
                          <a:effectLst/>
                        </a:rPr>
                        <a:t>사고원인</a:t>
                      </a:r>
                      <a:r>
                        <a:rPr lang="en-US" altLang="ko-KR" sz="1000" u="none" strike="noStrike">
                          <a:effectLst/>
                        </a:rPr>
                        <a:t>_</a:t>
                      </a:r>
                      <a:r>
                        <a:rPr lang="ko-KR" altLang="en-US" sz="1000" u="none" strike="noStrike">
                          <a:effectLst/>
                        </a:rPr>
                        <a:t>중요단어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558595716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 부주의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15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부주의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59457948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작업자의 부주의로 인한 사고발생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작업자의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부주의로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인한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사고발생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79754401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작업자의 불안전한 행동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작업자의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불안전한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행동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289322898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근로자 부주의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근로자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부주의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4104863644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근로자의 불안전한 행동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근로자의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불안전한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행동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3214632719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작업자의 부주의로 발생한 사고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작업자의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부주의로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발생한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사고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902667894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장기간 근로로 인한 주관절 피로 누적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장기간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근로로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인한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주관절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피로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누적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58580270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근로자가 작업 중 이동가능한 통로 확보 미흡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 dirty="0">
                          <a:effectLst/>
                        </a:rPr>
                        <a:t>근로자가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작업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중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이동가능한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통로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확보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미흡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3910443437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719513"/>
              </p:ext>
            </p:extLst>
          </p:nvPr>
        </p:nvGraphicFramePr>
        <p:xfrm>
          <a:off x="5673080" y="1628800"/>
          <a:ext cx="6120680" cy="2592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15764">
                  <a:extLst>
                    <a:ext uri="{9D8B030D-6E8A-4147-A177-3AD203B41FA5}">
                      <a16:colId xmlns:a16="http://schemas.microsoft.com/office/drawing/2014/main" val="3672947605"/>
                    </a:ext>
                  </a:extLst>
                </a:gridCol>
                <a:gridCol w="423899">
                  <a:extLst>
                    <a:ext uri="{9D8B030D-6E8A-4147-A177-3AD203B41FA5}">
                      <a16:colId xmlns:a16="http://schemas.microsoft.com/office/drawing/2014/main" val="3296770614"/>
                    </a:ext>
                  </a:extLst>
                </a:gridCol>
                <a:gridCol w="3081017">
                  <a:extLst>
                    <a:ext uri="{9D8B030D-6E8A-4147-A177-3AD203B41FA5}">
                      <a16:colId xmlns:a16="http://schemas.microsoft.com/office/drawing/2014/main" val="4140659884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재발방지대책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</a:rPr>
                        <a:t>count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재발방지대책</a:t>
                      </a:r>
                      <a:r>
                        <a:rPr lang="en-US" altLang="ko-KR" sz="1000" u="none" strike="noStrike" smtClean="0">
                          <a:effectLst/>
                        </a:rPr>
                        <a:t>_</a:t>
                      </a:r>
                      <a:r>
                        <a:rPr lang="ko-KR" altLang="en-US" sz="1000" u="none" strike="noStrike">
                          <a:effectLst/>
                        </a:rPr>
                        <a:t>중요단어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558595716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 부주의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15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 dirty="0">
                          <a:effectLst/>
                        </a:rPr>
                        <a:t>작업자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부주의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59457948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작업자의 부주의로 인한 사고발생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 dirty="0">
                          <a:effectLst/>
                        </a:rPr>
                        <a:t>작업자의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부주의로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인한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사고발생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79754401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작업자의 불안전한 행동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작업자의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불안전한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행동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289322898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근로자 부주의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 dirty="0">
                          <a:effectLst/>
                        </a:rPr>
                        <a:t>근로자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부주의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4104863644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근로자의 불안전한 행동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 dirty="0">
                          <a:effectLst/>
                        </a:rPr>
                        <a:t>근로자의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불안전한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행동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3214632719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작업자의 부주의로 발생한 사고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 dirty="0">
                          <a:effectLst/>
                        </a:rPr>
                        <a:t>작업자의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부주의로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발생한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사고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902667894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장기간 근로로 인한 주관절 피로 누적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장기간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근로로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인한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주관절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피로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누적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58580270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</a:rPr>
                        <a:t>근로자가 작업 중 이동가능한 통로 확보 미흡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u="none" strike="noStrike">
                          <a:effectLst/>
                        </a:rPr>
                        <a:t>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 dirty="0">
                          <a:effectLst/>
                        </a:rPr>
                        <a:t>근로자가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작업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중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이동가능한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통로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확보 </a:t>
                      </a:r>
                      <a:r>
                        <a:rPr lang="en-US" altLang="ko-KR" sz="1000" u="none" strike="noStrike">
                          <a:effectLst/>
                        </a:rPr>
                        <a:t>| </a:t>
                      </a:r>
                      <a:r>
                        <a:rPr lang="ko-KR" altLang="en-US" sz="1000" u="none" strike="noStrike">
                          <a:effectLst/>
                        </a:rPr>
                        <a:t>미흡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271" marR="3271" marT="3271" marB="0" anchor="ctr"/>
                </a:tc>
                <a:extLst>
                  <a:ext uri="{0D108BD9-81ED-4DB2-BD59-A6C34878D82A}">
                    <a16:rowId xmlns:a16="http://schemas.microsoft.com/office/drawing/2014/main" val="3910443437"/>
                  </a:ext>
                </a:extLst>
              </a:tr>
            </a:tbl>
          </a:graphicData>
        </a:graphic>
      </p:graphicFrame>
      <p:sp>
        <p:nvSpPr>
          <p:cNvPr id="4" name="모서리가 둥근 직사각형 3"/>
          <p:cNvSpPr/>
          <p:nvPr/>
        </p:nvSpPr>
        <p:spPr>
          <a:xfrm>
            <a:off x="7041232" y="4765376"/>
            <a:ext cx="1455712" cy="432049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필수포함단어</a:t>
            </a:r>
            <a:endParaRPr lang="ko-KR" altLang="en-US" sz="1400" dirty="0"/>
          </a:p>
        </p:txBody>
      </p:sp>
      <p:sp>
        <p:nvSpPr>
          <p:cNvPr id="7" name="직사각형 6"/>
          <p:cNvSpPr/>
          <p:nvPr/>
        </p:nvSpPr>
        <p:spPr>
          <a:xfrm>
            <a:off x="8733420" y="1628800"/>
            <a:ext cx="3060340" cy="25922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꺾인 연결선 10"/>
          <p:cNvCxnSpPr>
            <a:stCxn id="7" idx="2"/>
            <a:endCxn id="4" idx="3"/>
          </p:cNvCxnSpPr>
          <p:nvPr/>
        </p:nvCxnSpPr>
        <p:spPr>
          <a:xfrm rot="5400000">
            <a:off x="9000111" y="3717921"/>
            <a:ext cx="760313" cy="17666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956556" y="1628800"/>
            <a:ext cx="3060340" cy="25922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1031014" y="4765376"/>
            <a:ext cx="1455712" cy="432049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PK</a:t>
            </a:r>
            <a:endParaRPr lang="ko-KR" altLang="en-US" sz="1400" dirty="0"/>
          </a:p>
        </p:txBody>
      </p:sp>
      <p:cxnSp>
        <p:nvCxnSpPr>
          <p:cNvPr id="18" name="꺾인 연결선 17"/>
          <p:cNvCxnSpPr>
            <a:stCxn id="14" idx="2"/>
            <a:endCxn id="16" idx="0"/>
          </p:cNvCxnSpPr>
          <p:nvPr/>
        </p:nvCxnSpPr>
        <p:spPr>
          <a:xfrm rot="5400000">
            <a:off x="1850654" y="4129304"/>
            <a:ext cx="544288" cy="7278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16" idx="2"/>
            <a:endCxn id="25" idx="1"/>
          </p:cNvCxnSpPr>
          <p:nvPr/>
        </p:nvCxnSpPr>
        <p:spPr>
          <a:xfrm rot="16200000" flipH="1">
            <a:off x="2007318" y="4948976"/>
            <a:ext cx="1475631" cy="19725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127825" y="952790"/>
            <a:ext cx="6633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사고원인 </a:t>
            </a:r>
            <a:r>
              <a:rPr lang="ko-KR" altLang="en-US" dirty="0" err="1" smtClean="0"/>
              <a:t>중요단어</a:t>
            </a:r>
            <a:r>
              <a:rPr lang="ko-KR" altLang="en-US" dirty="0" smtClean="0"/>
              <a:t> </a:t>
            </a:r>
            <a:r>
              <a:rPr lang="en-US" altLang="ko-KR" dirty="0" smtClean="0"/>
              <a:t>PK</a:t>
            </a:r>
            <a:r>
              <a:rPr lang="ko-KR" altLang="en-US" smtClean="0"/>
              <a:t>로 재발방지대책 필수포함단어 조회가기</a:t>
            </a:r>
            <a:endParaRPr lang="ko-KR" altLang="en-US"/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841998"/>
              </p:ext>
            </p:extLst>
          </p:nvPr>
        </p:nvGraphicFramePr>
        <p:xfrm>
          <a:off x="3731397" y="5733256"/>
          <a:ext cx="2077864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932">
                  <a:extLst>
                    <a:ext uri="{9D8B030D-6E8A-4147-A177-3AD203B41FA5}">
                      <a16:colId xmlns:a16="http://schemas.microsoft.com/office/drawing/2014/main" val="1791437977"/>
                    </a:ext>
                  </a:extLst>
                </a:gridCol>
                <a:gridCol w="1038932">
                  <a:extLst>
                    <a:ext uri="{9D8B030D-6E8A-4147-A177-3AD203B41FA5}">
                      <a16:colId xmlns:a16="http://schemas.microsoft.com/office/drawing/2014/main" val="2571640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u="none" strike="noStrike" dirty="0" smtClean="0">
                          <a:effectLst/>
                        </a:rPr>
                        <a:t>사고원인</a:t>
                      </a:r>
                      <a:r>
                        <a:rPr lang="en-US" altLang="ko-KR" sz="1000" u="none" strike="noStrike" smtClean="0">
                          <a:effectLst/>
                        </a:rPr>
                        <a:t>_</a:t>
                      </a:r>
                      <a:r>
                        <a:rPr lang="ko-KR" altLang="en-US" sz="1000" u="none" strike="noStrike" smtClean="0">
                          <a:effectLst/>
                        </a:rPr>
                        <a:t>중요단어</a:t>
                      </a:r>
                      <a:endParaRPr lang="ko-KR" altLang="en-US" sz="1000" b="1" i="0" u="none" strike="noStrike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필수포함단어</a:t>
                      </a:r>
                    </a:p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954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282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874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62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385028"/>
                  </a:ext>
                </a:extLst>
              </a:tr>
            </a:tbl>
          </a:graphicData>
        </a:graphic>
      </p:graphicFrame>
      <p:cxnSp>
        <p:nvCxnSpPr>
          <p:cNvPr id="31" name="꺾인 연결선 30"/>
          <p:cNvCxnSpPr>
            <a:stCxn id="4" idx="1"/>
            <a:endCxn id="25" idx="3"/>
          </p:cNvCxnSpPr>
          <p:nvPr/>
        </p:nvCxnSpPr>
        <p:spPr>
          <a:xfrm rot="10800000" flipV="1">
            <a:off x="5809262" y="4981400"/>
            <a:ext cx="1231971" cy="16916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6681192" y="5603917"/>
            <a:ext cx="3888432" cy="2138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프롬프트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사고원인이 </a:t>
            </a:r>
            <a:r>
              <a:rPr lang="ko-KR" altLang="en-US" dirty="0" err="1" smtClean="0"/>
              <a:t>뭐인경우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PK</a:t>
            </a:r>
            <a:r>
              <a:rPr lang="ko-KR" altLang="en-US" smtClean="0"/>
              <a:t>로 사고원인별 필수포함단어</a:t>
            </a:r>
            <a:r>
              <a:rPr lang="en-US" altLang="ko-KR" dirty="0" smtClean="0"/>
              <a:t>DB</a:t>
            </a:r>
            <a:r>
              <a:rPr lang="ko-KR" altLang="en-US" smtClean="0"/>
              <a:t>에서 필수포함단어 조회해가서 문장 생성하기 </a:t>
            </a:r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2897768" y="5363924"/>
            <a:ext cx="3122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사고원인별</a:t>
            </a:r>
            <a:r>
              <a:rPr lang="ko-KR" altLang="en-US" dirty="0" smtClean="0"/>
              <a:t> </a:t>
            </a:r>
            <a:r>
              <a:rPr lang="ko-KR" altLang="en-US" dirty="0" smtClean="0"/>
              <a:t>필수포함단어</a:t>
            </a:r>
            <a:r>
              <a:rPr lang="en-US" altLang="ko-KR" dirty="0" smtClean="0"/>
              <a:t>DB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96D8CE-DAFF-415D-8D34-D87C211B3B69}" type="slidenum">
              <a:rPr lang="en-US" altLang="ko-KR" smtClean="0"/>
              <a:pPr>
                <a:defRPr/>
              </a:pPr>
              <a:t>4</a:t>
            </a:fld>
            <a:endParaRPr lang="en-US" altLang="ko-KR" dirty="0"/>
          </a:p>
        </p:txBody>
      </p:sp>
      <p:sp>
        <p:nvSpPr>
          <p:cNvPr id="5" name="직사각형 4"/>
          <p:cNvSpPr/>
          <p:nvPr/>
        </p:nvSpPr>
        <p:spPr>
          <a:xfrm>
            <a:off x="848544" y="2132856"/>
            <a:ext cx="2592288" cy="17281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검색용 </a:t>
            </a:r>
            <a:r>
              <a:rPr lang="en-US" altLang="ko-KR" dirty="0" smtClean="0"/>
              <a:t>LLM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5241032" y="2132856"/>
            <a:ext cx="2592288" cy="17281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작문용</a:t>
            </a:r>
            <a:r>
              <a:rPr lang="ko-KR" altLang="en-US" dirty="0" smtClean="0"/>
              <a:t> </a:t>
            </a:r>
            <a:r>
              <a:rPr lang="en-US" altLang="ko-KR" dirty="0" smtClean="0"/>
              <a:t>LLM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848544" y="4077072"/>
            <a:ext cx="2592288" cy="17281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검색용 프롬프트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5241032" y="4077072"/>
            <a:ext cx="2592288" cy="17281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작문용</a:t>
            </a:r>
            <a:r>
              <a:rPr lang="ko-KR" altLang="en-US" dirty="0" smtClean="0"/>
              <a:t> </a:t>
            </a:r>
            <a:r>
              <a:rPr lang="ko-KR" altLang="en-US" dirty="0"/>
              <a:t>프롬프트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4892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9570144" cy="274638"/>
          </a:xfrm>
        </p:spPr>
        <p:txBody>
          <a:bodyPr/>
          <a:lstStyle/>
          <a:p>
            <a:r>
              <a:rPr lang="en-US" altLang="ko-KR" dirty="0"/>
              <a:t>GROUP BY </a:t>
            </a:r>
            <a:r>
              <a:rPr lang="ko-KR" altLang="en-US" dirty="0" err="1"/>
              <a:t>사고원인별</a:t>
            </a:r>
            <a:r>
              <a:rPr lang="ko-KR" altLang="en-US" dirty="0"/>
              <a:t>  교집합</a:t>
            </a:r>
            <a:r>
              <a:rPr lang="en-US" altLang="ko-KR" dirty="0"/>
              <a:t>(</a:t>
            </a:r>
            <a:r>
              <a:rPr lang="ko-KR" altLang="en-US" dirty="0"/>
              <a:t>사고원인 </a:t>
            </a:r>
            <a:r>
              <a:rPr lang="ko-KR" altLang="en-US" dirty="0" err="1"/>
              <a:t>중요단어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재발방지대책 </a:t>
            </a:r>
            <a:r>
              <a:rPr lang="ko-KR" altLang="en-US" dirty="0" err="1"/>
              <a:t>중요단어</a:t>
            </a:r>
            <a:r>
              <a:rPr lang="en-US" altLang="ko-KR" dirty="0"/>
              <a:t>) 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648073"/>
          </a:xfrm>
        </p:spPr>
        <p:txBody>
          <a:bodyPr/>
          <a:lstStyle/>
          <a:p>
            <a:pPr indent="0"/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!!!</a:t>
            </a:r>
            <a:endParaRPr lang="en-US" altLang="ko-KR" b="0" dirty="0" smtClean="0"/>
          </a:p>
        </p:txBody>
      </p:sp>
    </p:spTree>
    <p:extLst>
      <p:ext uri="{BB962C8B-B14F-4D97-AF65-F5344CB8AC3E}">
        <p14:creationId xmlns:p14="http://schemas.microsoft.com/office/powerpoint/2010/main" val="998658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케이스별</a:t>
            </a:r>
            <a:r>
              <a:rPr lang="ko-KR" altLang="en-US" dirty="0"/>
              <a:t> 유사도 점수 분석 </a:t>
            </a:r>
            <a:r>
              <a:rPr lang="en-US" altLang="ko-KR" dirty="0" smtClean="0"/>
              <a:t>(3/)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864097"/>
          </a:xfrm>
        </p:spPr>
        <p:txBody>
          <a:bodyPr/>
          <a:lstStyle/>
          <a:p>
            <a:r>
              <a:rPr lang="ko-KR" altLang="en-US" dirty="0" smtClean="0">
                <a:solidFill>
                  <a:srgbClr val="7030A0"/>
                </a:solidFill>
              </a:rPr>
              <a:t>필수 단어만 </a:t>
            </a:r>
            <a:r>
              <a:rPr lang="ko-KR" altLang="en-US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예측값에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포함되어 있어도 고득점 가능 </a:t>
            </a:r>
            <a:endParaRPr lang="en-US" altLang="ko-KR" b="0" dirty="0" smtClean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560512" y="2132856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작업자 근로자 </a:t>
            </a:r>
            <a:r>
              <a:rPr lang="ko-KR" altLang="en-US" sz="1200" dirty="0" smtClean="0">
                <a:solidFill>
                  <a:srgbClr val="FF0000"/>
                </a:solidFill>
              </a:rPr>
              <a:t>이동통로</a:t>
            </a:r>
            <a:r>
              <a:rPr lang="ko-KR" altLang="en-US" sz="1200" dirty="0" smtClean="0">
                <a:solidFill>
                  <a:schemeClr val="tx1"/>
                </a:solidFill>
              </a:rPr>
              <a:t> 에서 </a:t>
            </a:r>
            <a:r>
              <a:rPr lang="ko-KR" altLang="en-US" sz="1200" dirty="0" err="1">
                <a:solidFill>
                  <a:schemeClr val="tx1"/>
                </a:solidFill>
              </a:rPr>
              <a:t>이동방법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accent4"/>
                </a:solidFill>
              </a:rPr>
              <a:t>교육</a:t>
            </a:r>
            <a:r>
              <a:rPr lang="ko-KR" altLang="en-US" sz="1200" dirty="0">
                <a:solidFill>
                  <a:schemeClr val="tx1"/>
                </a:solidFill>
              </a:rPr>
              <a:t>과 </a:t>
            </a:r>
            <a:r>
              <a:rPr lang="ko-KR" altLang="en-US" sz="1200" dirty="0">
                <a:solidFill>
                  <a:schemeClr val="accent4"/>
                </a:solidFill>
              </a:rPr>
              <a:t>안전</a:t>
            </a:r>
            <a:r>
              <a:rPr lang="ko-KR" altLang="en-US" sz="1200" dirty="0">
                <a:solidFill>
                  <a:schemeClr val="tx1"/>
                </a:solidFill>
              </a:rPr>
              <a:t>관리 철저 지시를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 </a:t>
            </a:r>
            <a:r>
              <a:rPr lang="ko-KR" altLang="en-US" sz="1200" dirty="0">
                <a:solidFill>
                  <a:schemeClr val="tx1"/>
                </a:solidFill>
              </a:rPr>
              <a:t>대책 마련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60512" y="4005064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작업전</a:t>
            </a:r>
            <a:r>
              <a:rPr lang="ko-KR" altLang="en-US" sz="1200" dirty="0">
                <a:solidFill>
                  <a:schemeClr val="tx1"/>
                </a:solidFill>
              </a:rPr>
              <a:t> 작업자 </a:t>
            </a:r>
            <a:r>
              <a:rPr lang="ko-KR" altLang="en-US" sz="1200" dirty="0">
                <a:solidFill>
                  <a:schemeClr val="accent4"/>
                </a:solidFill>
              </a:rPr>
              <a:t>안전교육 </a:t>
            </a:r>
            <a:r>
              <a:rPr lang="ko-KR" altLang="en-US" sz="1200" dirty="0">
                <a:solidFill>
                  <a:schemeClr val="tx1"/>
                </a:solidFill>
              </a:rPr>
              <a:t>강화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안전수칙 준수 특별안전교육 실시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 err="1">
                <a:solidFill>
                  <a:schemeClr val="tx1"/>
                </a:solidFill>
              </a:rPr>
              <a:t>작업지휘자</a:t>
            </a:r>
            <a:r>
              <a:rPr lang="ko-KR" altLang="en-US" sz="1200" dirty="0">
                <a:solidFill>
                  <a:schemeClr val="tx1"/>
                </a:solidFill>
              </a:rPr>
              <a:t> 관리감독 철저에 대한</a:t>
            </a:r>
            <a:r>
              <a:rPr lang="ko-KR" altLang="en-US" sz="1200" dirty="0">
                <a:solidFill>
                  <a:schemeClr val="accent4"/>
                </a:solidFill>
              </a:rPr>
              <a:t> 재발 방지 </a:t>
            </a:r>
            <a:r>
              <a:rPr lang="ko-KR" altLang="en-US" sz="1200" dirty="0">
                <a:solidFill>
                  <a:schemeClr val="tx1"/>
                </a:solidFill>
              </a:rPr>
              <a:t>대책과 향후 조치 계획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0512" y="16676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545288" y="1175464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77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0512" y="3528814"/>
            <a:ext cx="83388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이등변 삼각형 3"/>
          <p:cNvSpPr/>
          <p:nvPr/>
        </p:nvSpPr>
        <p:spPr>
          <a:xfrm>
            <a:off x="4056952" y="1852280"/>
            <a:ext cx="1184080" cy="1000656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이등변 삼각형 15"/>
          <p:cNvSpPr/>
          <p:nvPr/>
        </p:nvSpPr>
        <p:spPr>
          <a:xfrm>
            <a:off x="1394395" y="3504736"/>
            <a:ext cx="1184080" cy="1000656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구부러진 연결선 14"/>
          <p:cNvCxnSpPr>
            <a:stCxn id="16" idx="5"/>
            <a:endCxn id="2" idx="2"/>
          </p:cNvCxnSpPr>
          <p:nvPr/>
        </p:nvCxnSpPr>
        <p:spPr>
          <a:xfrm flipV="1">
            <a:off x="2282455" y="2852936"/>
            <a:ext cx="2490525" cy="1152128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87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케이스별</a:t>
            </a:r>
            <a:r>
              <a:rPr lang="ko-KR" altLang="en-US" dirty="0"/>
              <a:t> 유사도 점수 분석 </a:t>
            </a:r>
            <a:r>
              <a:rPr lang="en-US" altLang="ko-KR" dirty="0" smtClean="0"/>
              <a:t>(4/)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864097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일반적인 케이스의 재발방지대책 스크립트는 유사도 점수가 높음 </a:t>
            </a:r>
            <a:endParaRPr lang="en-US" altLang="ko-KR" b="0" dirty="0" smtClean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560512" y="2132856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</a:t>
            </a:r>
            <a:r>
              <a:rPr lang="en-US" altLang="ko-KR" sz="1200" dirty="0">
                <a:solidFill>
                  <a:schemeClr val="accent4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60512" y="4005064"/>
            <a:ext cx="8424936" cy="7200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실시와 현장 내 작업지시사항 철저 이행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안전관리 교육 이행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안전위험요소 제거 점검 및 대책 강구를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 </a:t>
            </a:r>
            <a:r>
              <a:rPr lang="ko-KR" altLang="en-US" sz="1200" dirty="0">
                <a:solidFill>
                  <a:schemeClr val="tx1"/>
                </a:solidFill>
              </a:rPr>
              <a:t>대책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0512" y="16676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4412940" y="22768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674315" y="40770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7545288" y="1175464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83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8121352" y="40770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5529064" y="2276872"/>
            <a:ext cx="720080" cy="432048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560512" y="3528814"/>
            <a:ext cx="83388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1458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정답지의</a:t>
            </a:r>
            <a:r>
              <a:rPr lang="ko-KR" altLang="en-US" dirty="0"/>
              <a:t> 길이가 점수 영향도 테스트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err="1"/>
              <a:t>핵심단어는</a:t>
            </a:r>
            <a:r>
              <a:rPr lang="ko-KR" altLang="en-US" b="0" dirty="0"/>
              <a:t> 모두 들어가 있는데 </a:t>
            </a:r>
            <a:r>
              <a:rPr lang="ko-KR" altLang="en-US" b="0" dirty="0" err="1"/>
              <a:t>문장길이에</a:t>
            </a:r>
            <a:r>
              <a:rPr lang="ko-KR" altLang="en-US" b="0" dirty="0"/>
              <a:t> 따라서 </a:t>
            </a:r>
            <a:r>
              <a:rPr lang="ko-KR" altLang="en-US" b="0" dirty="0" smtClean="0"/>
              <a:t>점수가 </a:t>
            </a:r>
            <a:r>
              <a:rPr lang="ko-KR" altLang="en-US" b="0" dirty="0"/>
              <a:t>달라지는지 </a:t>
            </a:r>
            <a:r>
              <a:rPr lang="ko-KR" altLang="en-US" b="0" dirty="0" smtClean="0"/>
              <a:t>확인하기 </a:t>
            </a:r>
            <a:r>
              <a:rPr lang="en-US" altLang="ko-KR" b="0" dirty="0" smtClean="0">
                <a:sym typeface="Wingdings" panose="05000000000000000000" pitchFamily="2" charset="2"/>
              </a:rPr>
              <a:t> </a:t>
            </a:r>
            <a:r>
              <a:rPr lang="ko-KR" altLang="en-US" b="0" dirty="0" smtClean="0">
                <a:solidFill>
                  <a:srgbClr val="FF0000"/>
                </a:solidFill>
                <a:sym typeface="Wingdings" panose="05000000000000000000" pitchFamily="2" charset="2"/>
              </a:rPr>
              <a:t>영향도 있음 </a:t>
            </a:r>
            <a:r>
              <a:rPr lang="ko-KR" altLang="en-US" b="0" dirty="0" smtClean="0">
                <a:solidFill>
                  <a:srgbClr val="FF0000"/>
                </a:solidFill>
              </a:rPr>
              <a:t> </a:t>
            </a:r>
            <a:endParaRPr lang="en-US" altLang="ko-KR" b="0" dirty="0" smtClean="0">
              <a:solidFill>
                <a:srgbClr val="FF0000"/>
              </a:solidFill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560512" y="1639864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</a:t>
            </a:r>
            <a:r>
              <a:rPr lang="en-US" altLang="ko-KR" sz="1200" dirty="0">
                <a:solidFill>
                  <a:schemeClr val="accent4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60512" y="2651566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 실시와 현장 내 작업지시사항 철저 이행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안전관리 교육 이행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안전위험요소 제거 점검 및 대책 강구를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 </a:t>
            </a:r>
            <a:r>
              <a:rPr lang="ko-KR" altLang="en-US" sz="1200" dirty="0">
                <a:solidFill>
                  <a:schemeClr val="tx1"/>
                </a:solidFill>
              </a:rPr>
              <a:t>대책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0512" y="1268760"/>
            <a:ext cx="1560042" cy="2946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(26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0512" y="2271681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 (74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560512" y="3672773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으로 </a:t>
            </a:r>
            <a:r>
              <a:rPr lang="ko-KR" altLang="en-US" sz="1200" dirty="0">
                <a:solidFill>
                  <a:schemeClr val="accent4"/>
                </a:solidFill>
              </a:rPr>
              <a:t>재발방지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0512" y="3292888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 (30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60512" y="4678094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현장 안전 조치와 체계적인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통해 </a:t>
            </a:r>
            <a:r>
              <a:rPr lang="ko-KR" altLang="en-US" sz="1200" dirty="0">
                <a:solidFill>
                  <a:schemeClr val="accent4"/>
                </a:solidFill>
              </a:rPr>
              <a:t>재발방지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0512" y="4298209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 (50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60512" y="5734942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철저한 현장 안전 조치와 실효성 있는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시행하여 사고를 예방하고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en-US" altLang="ko-KR" sz="1200" dirty="0">
                <a:solidFill>
                  <a:schemeClr val="accent4"/>
                </a:solidFill>
              </a:rPr>
              <a:t> </a:t>
            </a:r>
            <a:r>
              <a:rPr lang="ko-KR" altLang="en-US" sz="1200" dirty="0">
                <a:solidFill>
                  <a:schemeClr val="accent4"/>
                </a:solidFill>
              </a:rPr>
              <a:t>재발방지를 </a:t>
            </a:r>
            <a:r>
              <a:rPr lang="ko-KR" altLang="en-US" sz="1200" dirty="0">
                <a:solidFill>
                  <a:schemeClr val="tx1"/>
                </a:solidFill>
              </a:rPr>
              <a:t>위한 지속적인 관리 체계를 구축한다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0512" y="5337756"/>
            <a:ext cx="1838965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 (100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8193360" y="2615842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83</a:t>
            </a:r>
            <a:r>
              <a:rPr lang="ko-KR" altLang="en-US" dirty="0">
                <a:solidFill>
                  <a:schemeClr val="tx1"/>
                </a:solidFill>
              </a:rPr>
              <a:t>점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8193360" y="3657339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95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8193360" y="4688609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94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193360" y="5719715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76.84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052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맺은말</a:t>
            </a:r>
            <a:r>
              <a:rPr lang="en-US" altLang="ko-KR" dirty="0"/>
              <a:t>/</a:t>
            </a:r>
            <a:r>
              <a:rPr lang="ko-KR" altLang="en-US" dirty="0"/>
              <a:t>어투 영향도 테스트 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/>
              <a:t>습니다</a:t>
            </a:r>
            <a:r>
              <a:rPr lang="en-US" altLang="ko-KR" b="0" dirty="0"/>
              <a:t>. </a:t>
            </a:r>
            <a:r>
              <a:rPr lang="ko-KR" altLang="en-US" b="0" dirty="0"/>
              <a:t>합니다</a:t>
            </a:r>
            <a:r>
              <a:rPr lang="en-US" altLang="ko-KR" b="0" dirty="0"/>
              <a:t>. </a:t>
            </a:r>
            <a:r>
              <a:rPr lang="ko-KR" altLang="en-US" b="0" dirty="0"/>
              <a:t>로 끝나는게 점수에 영향이 있는지 </a:t>
            </a:r>
            <a:r>
              <a:rPr lang="ko-KR" altLang="en-US" b="0" dirty="0" smtClean="0"/>
              <a:t>테스트 </a:t>
            </a:r>
            <a:r>
              <a:rPr lang="en-US" altLang="ko-KR" b="0" dirty="0" smtClean="0">
                <a:sym typeface="Wingdings" panose="05000000000000000000" pitchFamily="2" charset="2"/>
              </a:rPr>
              <a:t> </a:t>
            </a:r>
            <a:r>
              <a:rPr lang="ko-KR" altLang="en-US" b="0" dirty="0" smtClean="0">
                <a:solidFill>
                  <a:srgbClr val="FF0000"/>
                </a:solidFill>
                <a:sym typeface="Wingdings" panose="05000000000000000000" pitchFamily="2" charset="2"/>
              </a:rPr>
              <a:t>영향도 있음</a:t>
            </a:r>
            <a:r>
              <a:rPr lang="ko-KR" altLang="en-US" b="0" dirty="0" smtClean="0">
                <a:solidFill>
                  <a:srgbClr val="FF0000"/>
                </a:solidFill>
              </a:rPr>
              <a:t> </a:t>
            </a:r>
            <a:endParaRPr lang="en-US" altLang="ko-KR" b="0" dirty="0" smtClean="0">
              <a:solidFill>
                <a:srgbClr val="FF0000"/>
              </a:solidFill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60512" y="1639864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</a:t>
            </a:r>
            <a:r>
              <a:rPr lang="en-US" altLang="ko-KR" sz="1200" dirty="0">
                <a:solidFill>
                  <a:schemeClr val="accent4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0512" y="1268760"/>
            <a:ext cx="1560042" cy="2946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(26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560512" y="2872781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으로 </a:t>
            </a:r>
            <a:r>
              <a:rPr lang="ko-KR" altLang="en-US" sz="1200" dirty="0" err="1" smtClean="0">
                <a:solidFill>
                  <a:schemeClr val="accent4"/>
                </a:solidFill>
              </a:rPr>
              <a:t>재발방지합니다</a:t>
            </a:r>
            <a:r>
              <a:rPr lang="en-US" altLang="ko-KR" sz="1200" dirty="0" smtClean="0">
                <a:solidFill>
                  <a:schemeClr val="accent4"/>
                </a:solidFill>
              </a:rPr>
              <a:t>.  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0512" y="2492896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 (30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560512" y="4150766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현장 안전 조치와 체계적인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통해 </a:t>
            </a:r>
            <a:r>
              <a:rPr lang="ko-KR" altLang="en-US" sz="1200" dirty="0" err="1" smtClean="0">
                <a:solidFill>
                  <a:schemeClr val="accent4"/>
                </a:solidFill>
              </a:rPr>
              <a:t>재발방지</a:t>
            </a:r>
            <a:r>
              <a:rPr lang="ko-KR" altLang="en-US" sz="1200" dirty="0" err="1">
                <a:solidFill>
                  <a:schemeClr val="accent4"/>
                </a:solidFill>
              </a:rPr>
              <a:t>합니다</a:t>
            </a:r>
            <a:r>
              <a:rPr lang="en-US" altLang="ko-KR" sz="1200" dirty="0" smtClean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0512" y="3770881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 (50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193360" y="2857347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95</a:t>
            </a:r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 smtClean="0">
                <a:solidFill>
                  <a:schemeClr val="tx1"/>
                </a:solidFill>
              </a:rPr>
              <a:t>93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8193360" y="4161281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94</a:t>
            </a:r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 smtClean="0">
                <a:solidFill>
                  <a:schemeClr val="tx1"/>
                </a:solidFill>
              </a:rPr>
              <a:t>92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566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관련 없는 단어가 들어가는 경우 </a:t>
            </a:r>
            <a:r>
              <a:rPr lang="ko-KR" altLang="en-US" dirty="0" smtClean="0"/>
              <a:t>영향도 테스트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/>
              <a:t>습니다</a:t>
            </a:r>
            <a:r>
              <a:rPr lang="en-US" altLang="ko-KR" b="0" dirty="0"/>
              <a:t>. </a:t>
            </a:r>
            <a:r>
              <a:rPr lang="ko-KR" altLang="en-US" b="0" dirty="0"/>
              <a:t>합니다</a:t>
            </a:r>
            <a:r>
              <a:rPr lang="en-US" altLang="ko-KR" b="0" dirty="0"/>
              <a:t>. </a:t>
            </a:r>
            <a:r>
              <a:rPr lang="ko-KR" altLang="en-US" b="0" dirty="0"/>
              <a:t>로 끝나는게 점수에 영향이 있는지 </a:t>
            </a:r>
            <a:r>
              <a:rPr lang="ko-KR" altLang="en-US" b="0" dirty="0" smtClean="0"/>
              <a:t>테스트 </a:t>
            </a:r>
            <a:r>
              <a:rPr lang="en-US" altLang="ko-KR" b="0" dirty="0" smtClean="0">
                <a:sym typeface="Wingdings" panose="05000000000000000000" pitchFamily="2" charset="2"/>
              </a:rPr>
              <a:t> </a:t>
            </a:r>
            <a:r>
              <a:rPr lang="ko-KR" altLang="en-US" b="0" dirty="0" smtClean="0">
                <a:solidFill>
                  <a:srgbClr val="FF0000"/>
                </a:solidFill>
                <a:sym typeface="Wingdings" panose="05000000000000000000" pitchFamily="2" charset="2"/>
              </a:rPr>
              <a:t>영향도 있음</a:t>
            </a:r>
            <a:r>
              <a:rPr lang="ko-KR" altLang="en-US" b="0" dirty="0" smtClean="0">
                <a:solidFill>
                  <a:srgbClr val="FF0000"/>
                </a:solidFill>
              </a:rPr>
              <a:t> </a:t>
            </a:r>
            <a:endParaRPr lang="en-US" altLang="ko-KR" b="0" dirty="0" smtClean="0">
              <a:solidFill>
                <a:srgbClr val="FF0000"/>
              </a:solidFill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60512" y="1639864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현장 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통한 </a:t>
            </a:r>
            <a:r>
              <a:rPr lang="ko-KR" altLang="en-US" sz="1200" dirty="0">
                <a:solidFill>
                  <a:schemeClr val="accent4"/>
                </a:solidFill>
              </a:rPr>
              <a:t>재발 방지</a:t>
            </a:r>
            <a:r>
              <a:rPr lang="en-US" altLang="ko-KR" sz="1200" dirty="0">
                <a:solidFill>
                  <a:schemeClr val="accent4"/>
                </a:solidFill>
              </a:rPr>
              <a:t>.</a:t>
            </a:r>
            <a:endParaRPr lang="ko-KR" altLang="en-US" sz="1200" dirty="0">
              <a:solidFill>
                <a:schemeClr val="accent4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0512" y="1268760"/>
            <a:ext cx="1560042" cy="2946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실제값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(26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560512" y="2872781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rgbClr val="FF0000"/>
                </a:solidFill>
              </a:rPr>
              <a:t>돌풍으로 사고발생</a:t>
            </a:r>
            <a:r>
              <a:rPr lang="en-US" altLang="ko-KR" sz="1200" dirty="0" smtClean="0">
                <a:solidFill>
                  <a:srgbClr val="FF0000"/>
                </a:solidFill>
              </a:rPr>
              <a:t>,</a:t>
            </a:r>
            <a:r>
              <a:rPr lang="ko-KR" altLang="en-US" sz="1200" dirty="0" smtClean="0">
                <a:solidFill>
                  <a:schemeClr val="tx1"/>
                </a:solidFill>
              </a:rPr>
              <a:t> 현장 </a:t>
            </a:r>
            <a:r>
              <a:rPr lang="ko-KR" altLang="en-US" sz="1200" dirty="0">
                <a:solidFill>
                  <a:schemeClr val="tx1"/>
                </a:solidFill>
              </a:rPr>
              <a:t>안전 조치 및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으로 </a:t>
            </a:r>
            <a:r>
              <a:rPr lang="ko-KR" altLang="en-US" sz="1200" dirty="0" smtClean="0">
                <a:solidFill>
                  <a:schemeClr val="accent4"/>
                </a:solidFill>
              </a:rPr>
              <a:t>재발방지</a:t>
            </a:r>
            <a:r>
              <a:rPr lang="en-US" altLang="ko-KR" sz="1200" dirty="0" smtClean="0">
                <a:solidFill>
                  <a:schemeClr val="accent4"/>
                </a:solidFill>
              </a:rPr>
              <a:t>.  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0512" y="2492896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 (30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560512" y="4150766"/>
            <a:ext cx="7344816" cy="57437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rgbClr val="FF0000"/>
                </a:solidFill>
              </a:rPr>
              <a:t>작업자 미숙으로 사고발생</a:t>
            </a:r>
            <a:r>
              <a:rPr lang="en-US" altLang="ko-KR" sz="1200" dirty="0" smtClean="0">
                <a:solidFill>
                  <a:srgbClr val="FF0000"/>
                </a:solidFill>
              </a:rPr>
              <a:t>, </a:t>
            </a:r>
            <a:r>
              <a:rPr lang="ko-KR" altLang="en-US" sz="1200" dirty="0" smtClean="0">
                <a:solidFill>
                  <a:schemeClr val="tx1"/>
                </a:solidFill>
              </a:rPr>
              <a:t>현장 </a:t>
            </a:r>
            <a:r>
              <a:rPr lang="ko-KR" altLang="en-US" sz="1200" dirty="0">
                <a:solidFill>
                  <a:schemeClr val="tx1"/>
                </a:solidFill>
              </a:rPr>
              <a:t>안전 조치와 체계적인 </a:t>
            </a:r>
            <a:r>
              <a:rPr lang="ko-KR" altLang="en-US" sz="1200" dirty="0">
                <a:solidFill>
                  <a:schemeClr val="accent4"/>
                </a:solidFill>
              </a:rPr>
              <a:t>안전교육</a:t>
            </a:r>
            <a:r>
              <a:rPr lang="ko-KR" altLang="en-US" sz="1200" dirty="0">
                <a:solidFill>
                  <a:schemeClr val="tx1"/>
                </a:solidFill>
              </a:rPr>
              <a:t>을 통해 </a:t>
            </a:r>
            <a:r>
              <a:rPr lang="ko-KR" altLang="en-US" sz="1200" dirty="0" smtClean="0">
                <a:solidFill>
                  <a:schemeClr val="accent4"/>
                </a:solidFill>
              </a:rPr>
              <a:t>재발방지</a:t>
            </a:r>
            <a:r>
              <a:rPr lang="en-US" altLang="ko-KR" sz="1200" dirty="0" smtClean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0512" y="3770881"/>
            <a:ext cx="1699504" cy="29460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예측값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 (50</a:t>
            </a:r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</a:t>
            </a:r>
            <a:r>
              <a:rPr lang="en-US" altLang="ko-KR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193360" y="2857347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95</a:t>
            </a:r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71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8193360" y="4161281"/>
            <a:ext cx="1296144" cy="542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94</a:t>
            </a:r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dirty="0" smtClean="0">
                <a:solidFill>
                  <a:schemeClr val="tx1"/>
                </a:solidFill>
              </a:rPr>
              <a:t>81</a:t>
            </a:r>
            <a:r>
              <a:rPr lang="ko-KR" altLang="en-US" dirty="0" smtClean="0">
                <a:solidFill>
                  <a:schemeClr val="tx1"/>
                </a:solidFill>
              </a:rPr>
              <a:t>점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646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129984" cy="242863"/>
          </a:xfrm>
        </p:spPr>
        <p:txBody>
          <a:bodyPr/>
          <a:lstStyle/>
          <a:p>
            <a:r>
              <a:rPr lang="ko-KR" altLang="en-US" dirty="0"/>
              <a:t>사고원인</a:t>
            </a:r>
            <a:r>
              <a:rPr lang="en-US" altLang="ko-KR" dirty="0"/>
              <a:t>(</a:t>
            </a:r>
            <a:r>
              <a:rPr lang="ko-KR" altLang="en-US" dirty="0"/>
              <a:t>보정</a:t>
            </a:r>
            <a:r>
              <a:rPr lang="en-US" altLang="ko-KR" dirty="0"/>
              <a:t>)</a:t>
            </a:r>
            <a:r>
              <a:rPr lang="ko-KR" altLang="en-US" dirty="0"/>
              <a:t>별 가장 높은 점수의 재발방지대책 스크립트 찾기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en-US" altLang="ko-KR" b="0" dirty="0"/>
              <a:t>## [</a:t>
            </a:r>
            <a:r>
              <a:rPr lang="ko-KR" altLang="en-US" b="0" dirty="0"/>
              <a:t>예시</a:t>
            </a:r>
            <a:r>
              <a:rPr lang="en-US" altLang="ko-KR" b="0" dirty="0"/>
              <a:t>1] </a:t>
            </a:r>
            <a:r>
              <a:rPr lang="ko-KR" altLang="en-US" b="0" dirty="0"/>
              <a:t>사고원인</a:t>
            </a:r>
            <a:r>
              <a:rPr lang="en-US" altLang="ko-KR" b="0" dirty="0"/>
              <a:t>+</a:t>
            </a:r>
            <a:r>
              <a:rPr lang="ko-KR" altLang="en-US" b="0" dirty="0"/>
              <a:t>날씨</a:t>
            </a:r>
            <a:r>
              <a:rPr lang="en-US" altLang="ko-KR" b="0" dirty="0"/>
              <a:t>(</a:t>
            </a:r>
            <a:r>
              <a:rPr lang="ko-KR" altLang="en-US" b="0" dirty="0"/>
              <a:t>결빙</a:t>
            </a:r>
            <a:r>
              <a:rPr lang="en-US" altLang="ko-KR" b="0" dirty="0"/>
              <a:t>) </a:t>
            </a:r>
            <a:r>
              <a:rPr lang="ko-KR" altLang="en-US" b="0" dirty="0"/>
              <a:t>조건에 가장 </a:t>
            </a:r>
            <a:r>
              <a:rPr lang="ko-KR" altLang="en-US" b="0" dirty="0" err="1"/>
              <a:t>높은점수의</a:t>
            </a:r>
            <a:r>
              <a:rPr lang="ko-KR" altLang="en-US" b="0" dirty="0"/>
              <a:t> 재발방지대책 스크립트</a:t>
            </a:r>
            <a:endParaRPr lang="en-US" altLang="ko-KR" b="0" dirty="0" smtClean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1484784"/>
            <a:ext cx="9110207" cy="4735074"/>
          </a:xfrm>
          <a:prstGeom prst="rect">
            <a:avLst/>
          </a:prstGeom>
        </p:spPr>
      </p:pic>
      <p:sp>
        <p:nvSpPr>
          <p:cNvPr id="22" name="타원 21"/>
          <p:cNvSpPr/>
          <p:nvPr/>
        </p:nvSpPr>
        <p:spPr>
          <a:xfrm>
            <a:off x="8121352" y="377825"/>
            <a:ext cx="1296144" cy="12961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작업 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0338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129984" cy="242863"/>
          </a:xfrm>
        </p:spPr>
        <p:txBody>
          <a:bodyPr/>
          <a:lstStyle/>
          <a:p>
            <a:r>
              <a:rPr lang="ko-KR" altLang="en-US" dirty="0" smtClean="0"/>
              <a:t>종합</a:t>
            </a:r>
            <a:endParaRPr lang="ko-KR" altLang="en-US" dirty="0"/>
          </a:p>
        </p:txBody>
      </p:sp>
      <p:sp>
        <p:nvSpPr>
          <p:cNvPr id="3" name="모서리가 둥근 직사각형 2"/>
          <p:cNvSpPr/>
          <p:nvPr/>
        </p:nvSpPr>
        <p:spPr>
          <a:xfrm>
            <a:off x="272480" y="1124744"/>
            <a:ext cx="9289032" cy="581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사고원인으로만 예측 불가능한 케이스 존재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72480" y="2708920"/>
            <a:ext cx="9289032" cy="581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TRAIN, TEST </a:t>
            </a:r>
            <a:r>
              <a:rPr lang="ko-KR" altLang="en-US" dirty="0" smtClean="0">
                <a:solidFill>
                  <a:schemeClr val="tx1"/>
                </a:solidFill>
              </a:rPr>
              <a:t>데이터 분포</a:t>
            </a:r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</a:rPr>
              <a:t>카테고리 변수 빈도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r>
              <a:rPr lang="ko-KR" altLang="en-US" dirty="0" smtClean="0">
                <a:solidFill>
                  <a:schemeClr val="tx1"/>
                </a:solidFill>
              </a:rPr>
              <a:t> 다름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272480" y="3501008"/>
            <a:ext cx="9289032" cy="581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TEST</a:t>
            </a:r>
            <a:r>
              <a:rPr lang="ko-KR" altLang="en-US" dirty="0" smtClean="0">
                <a:solidFill>
                  <a:schemeClr val="tx1"/>
                </a:solidFill>
              </a:rPr>
              <a:t>는 랜덤 </a:t>
            </a:r>
            <a:r>
              <a:rPr lang="ko-KR" altLang="en-US" dirty="0" err="1" smtClean="0">
                <a:solidFill>
                  <a:schemeClr val="tx1"/>
                </a:solidFill>
              </a:rPr>
              <a:t>층화</a:t>
            </a:r>
            <a:r>
              <a:rPr lang="ko-KR" altLang="en-US" dirty="0" smtClean="0">
                <a:solidFill>
                  <a:schemeClr val="tx1"/>
                </a:solidFill>
              </a:rPr>
              <a:t> 샘플링으로 추출된 </a:t>
            </a:r>
            <a:r>
              <a:rPr lang="ko-KR" altLang="en-US" dirty="0" err="1" smtClean="0">
                <a:solidFill>
                  <a:schemeClr val="tx1"/>
                </a:solidFill>
              </a:rPr>
              <a:t>데이터셋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272480" y="4293096"/>
            <a:ext cx="9289032" cy="581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답변 길이 점수에 영향도 있음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272480" y="5080096"/>
            <a:ext cx="9289032" cy="581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습니다</a:t>
            </a:r>
            <a:r>
              <a:rPr lang="en-US" altLang="ko-KR" dirty="0" smtClean="0">
                <a:solidFill>
                  <a:schemeClr val="tx1"/>
                </a:solidFill>
              </a:rPr>
              <a:t>, </a:t>
            </a:r>
            <a:r>
              <a:rPr lang="ko-KR" altLang="en-US" dirty="0" smtClean="0">
                <a:solidFill>
                  <a:schemeClr val="tx1"/>
                </a:solidFill>
              </a:rPr>
              <a:t>합니다</a:t>
            </a:r>
            <a:r>
              <a:rPr lang="en-US" altLang="ko-KR" dirty="0" smtClean="0">
                <a:solidFill>
                  <a:schemeClr val="tx1"/>
                </a:solidFill>
              </a:rPr>
              <a:t>. </a:t>
            </a:r>
            <a:r>
              <a:rPr lang="ko-KR" altLang="en-US" dirty="0" smtClean="0">
                <a:solidFill>
                  <a:schemeClr val="tx1"/>
                </a:solidFill>
              </a:rPr>
              <a:t>로 </a:t>
            </a:r>
            <a:r>
              <a:rPr lang="ko-KR" altLang="en-US" dirty="0" err="1" smtClean="0">
                <a:solidFill>
                  <a:schemeClr val="tx1"/>
                </a:solidFill>
              </a:rPr>
              <a:t>맺은말은</a:t>
            </a:r>
            <a:r>
              <a:rPr lang="ko-KR" altLang="en-US" dirty="0" smtClean="0">
                <a:solidFill>
                  <a:schemeClr val="tx1"/>
                </a:solidFill>
              </a:rPr>
              <a:t> 점수에 마이너스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272480" y="1906656"/>
            <a:ext cx="9289032" cy="581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데이터가 이상해서 예측이 불가능한 케이스도 존재 </a:t>
            </a:r>
            <a:r>
              <a:rPr lang="en-US" altLang="ko-KR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최빈값으로</a:t>
            </a:r>
            <a:r>
              <a:rPr lang="ko-KR" altLang="en-US" dirty="0" smtClean="0">
                <a:solidFill>
                  <a:schemeClr val="tx1"/>
                </a:solidFill>
                <a:sym typeface="Wingdings" panose="05000000000000000000" pitchFamily="2" charset="2"/>
              </a:rPr>
              <a:t> 대체 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831097"/>
      </p:ext>
    </p:extLst>
  </p:cSld>
  <p:clrMapOvr>
    <a:masterClrMapping/>
  </p:clrMapOvr>
</p:sld>
</file>

<file path=ppt/theme/theme1.xml><?xml version="1.0" encoding="utf-8"?>
<a:theme xmlns:a="http://schemas.openxmlformats.org/drawingml/2006/main" name="KT_PMO_제안템플릿(가로)_20150501_v0.93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0_Cov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02_간지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2_간지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03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05_마지막장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05_마지막장">
      <a:majorFont>
        <a:latin typeface="-2002"/>
        <a:ea typeface="-2002"/>
        <a:cs typeface=""/>
      </a:majorFont>
      <a:minorFont>
        <a:latin typeface="-윤고딕320"/>
        <a:ea typeface="-윤고딕32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5_마지막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20318</TotalTime>
  <Words>759</Words>
  <Application>Microsoft Office PowerPoint</Application>
  <PresentationFormat>A4 용지(210x297mm)</PresentationFormat>
  <Paragraphs>144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12</vt:i4>
      </vt:variant>
    </vt:vector>
  </HeadingPairs>
  <TitlesOfParts>
    <vt:vector size="28" baseType="lpstr">
      <vt:lpstr>-2002</vt:lpstr>
      <vt:lpstr>HY중고딕</vt:lpstr>
      <vt:lpstr>굴림</vt:lpstr>
      <vt:lpstr>나눔고딕</vt:lpstr>
      <vt:lpstr>나눔고딕 ExtraBold</vt:lpstr>
      <vt:lpstr>맑은 고딕</vt:lpstr>
      <vt:lpstr>-윤고딕320</vt:lpstr>
      <vt:lpstr>Tahoma</vt:lpstr>
      <vt:lpstr>Verdana</vt:lpstr>
      <vt:lpstr>Wingdings</vt:lpstr>
      <vt:lpstr>KT_PMO_제안템플릿(가로)_20150501_v0.93</vt:lpstr>
      <vt:lpstr>02_간지</vt:lpstr>
      <vt:lpstr>03_컨텐츠영역</vt:lpstr>
      <vt:lpstr>05_마지막장</vt:lpstr>
      <vt:lpstr>4_컨텐츠영역</vt:lpstr>
      <vt:lpstr>5_컨텐츠영역</vt:lpstr>
      <vt:lpstr>실험 계획 </vt:lpstr>
      <vt:lpstr>목차</vt:lpstr>
      <vt:lpstr>GROUP BY 사고원인별  교집합(사고원인 중요단어 = 재발방지대책 중요단어) </vt:lpstr>
      <vt:lpstr>PowerPoint 프레젠테이션</vt:lpstr>
      <vt:lpstr>GROUP BY 사고원인별  교집합(사고원인 중요단어 = 재발방지대책 중요단어) </vt:lpstr>
      <vt:lpstr>케이스별 유사도 점수 분석 (3/)</vt:lpstr>
      <vt:lpstr>케이스별 유사도 점수 분석 (4/)</vt:lpstr>
      <vt:lpstr>정답지의 길이가 점수 영향도 테스트</vt:lpstr>
      <vt:lpstr>맺은말/어투 영향도 테스트 </vt:lpstr>
      <vt:lpstr>관련 없는 단어가 들어가는 경우 영향도 테스트 </vt:lpstr>
      <vt:lpstr>사고원인(보정)별 가장 높은 점수의 재발방지대책 스크립트 찾기</vt:lpstr>
      <vt:lpstr>종합</vt:lpstr>
    </vt:vector>
  </TitlesOfParts>
  <Company>2e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Charles</dc:creator>
  <cp:lastModifiedBy>현종열</cp:lastModifiedBy>
  <cp:revision>925</cp:revision>
  <dcterms:created xsi:type="dcterms:W3CDTF">2007-08-16T05:20:03Z</dcterms:created>
  <dcterms:modified xsi:type="dcterms:W3CDTF">2025-02-28T23:39:45Z</dcterms:modified>
</cp:coreProperties>
</file>